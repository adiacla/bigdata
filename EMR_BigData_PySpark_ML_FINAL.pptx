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78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05840"/>
            <a:ext cx="4023360" cy="40233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774936" y="5202936"/>
            <a:ext cx="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774936" y="5202936"/>
            <a:ext cx="1097280" cy="73152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860536" y="5202936"/>
            <a:ext cx="914400" cy="91440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646920" y="507492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744200" y="5806440"/>
            <a:ext cx="292608" cy="292608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732520" y="5989320"/>
            <a:ext cx="292608" cy="292608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 ·  FACULTAD DE INGENIERÍA  ·  INGENIERÍA DE SISTEMAS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en la Nube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Clústeres Amazon EMR para Machine Learning con PySpark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solo computador a un clúster distribuido: </a:t>
            </a:r>
            <a:r>
              <a:rPr lang="en-US" sz="14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procesar grandes volúmenes de datos con Hadoop y Spark, entrenar modelos de Machine Learning en la nube y conectarte a todo desde tu propio computador con VS Code y JupyterHub.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Alfredo  ·  Centro de Competencias Digitales (CCD) — Smart Regions Center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un clúster EMR entrenando modelos ML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13232" y="194767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9293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del Big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solo servidor ya no alcanza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382512" y="194767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78040" y="19293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y Spark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78040" y="2350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que resuelven el procesamiento distribuido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13232" y="336499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3467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un clúster EMR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08760" y="37673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master, nodos core y task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82512" y="336499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78040" y="33467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del clúster en AWS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78040" y="37673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Instancias, seguridad y herramientas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13232" y="478231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508760" y="47640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remota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508760" y="51846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(SSH) y JupyterHub desde tu PC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382512" y="478231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178040" y="47640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 PySpark ML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78040" y="51846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precios con el dataset Peritazgo.csv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pasa cuando los datos ya no caben en un computador?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tradicional procesa datos en un solo CPU, con RAM y disco limitados: al crecer el volumen, el tiempo de procesamiento crece o simplemente el proceso falla (out of memory).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entrenamiento en Machine Learning no son solo grandes: llegan en múltiples formatos, desde muchas fuentes y a gran velocidad (logs, sensores IoT, transacciones, redes sociales).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no es "un computador más potente" (escalar verticalmente) sino repartir el trabajo entre muchos computadores que colaboran como un solo sistema: un clúster (escalar horizontalmente).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5V del Big Data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29400" y="2496312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62940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4414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 </a:t>
            </a:r>
            <a:r>
              <a:rPr lang="en-US" sz="1250" dirty="0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o petabytes de datos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29400" y="31546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309981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 </a:t>
            </a:r>
            <a:r>
              <a:rPr lang="en-US" sz="1250" dirty="0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llegan de forma continua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9400" y="38130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3813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375818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  </a:t>
            </a:r>
            <a:r>
              <a:rPr lang="en-US" sz="1250" dirty="0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Estructurados, semiestructurados y no estructurados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447141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629400" y="4471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441655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Veracidad  </a:t>
            </a:r>
            <a:r>
              <a:rPr lang="en-US" sz="1250" dirty="0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confiabilidad de los datos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29400" y="512978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629400" y="5129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50749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 </a:t>
            </a:r>
            <a:r>
              <a:rPr lang="en-US" sz="1250" dirty="0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útil para decisiones de negocio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BEA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verticalmente vs. escalar horizontalmente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BEA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vertical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servidor: más RAM, más CPU, disco más grande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límite físico y de costo: el hardware de gama alta es exponencialmente más caro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falla: si el servidor cae, todo el proceso se detiene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paralelismo real entre máquinas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E7C86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horizontal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78892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servidores “más pequeños” trabajando juntos como un clúster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(y los datos) se reparten entre nodos: procesamiento paralelo real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fallos: si un nodo falla, otros continúan el trabajo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agregan más nodos a demanda: elasticidad y control de costos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Hadoop: almacenamiento y cómputo distribuidos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(Hadoop Distributed File System)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cada archivo en bloques (128–256 MB) y los replica (normalmente 3 copias) en distintos nodos del clúster.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programación que procesa esos bloques en paralelo, cerca de donde están almacenados ("llevar el cómputo a los datos", no al revés).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clúster de máquinas comunes (commodity hardware) se comporta como un solo sistema de almacenamiento y cómputo masivo, tolerante a fallos.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dividido en bloques replicados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514600"/>
            <a:ext cx="1463040" cy="310896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62940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29718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766560" y="29718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0" y="384048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766560" y="38404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1463040" cy="310896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32104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58200" y="29718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458200" y="29718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58200" y="384048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58200" y="38404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12680" y="2514600"/>
            <a:ext cx="1463040" cy="310896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001268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49840" y="29718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0149840" y="29718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49840" y="384048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0149840" y="38404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5440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se replica en al menos 2 nodos: si uno falla, los datos siguen disponibles.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Spark: procesamiento en memoria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surge como evolución de MapReduce: en vez de escribir resultados intermedios en disco entre cada etapa, los mantiene en memoria RAM del clúster.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lo hace hasta 100 veces más rápido en cargas iterativas, como el entrenamiento de modelos de Machine Learning.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módulos integrados: Spark SQL (consultas), MLlib (Machine Learning), Spark Streaming (tiempo real) y GraphX (grafos).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es la API de Python sobre Spark: la usaremos hoy para leer, transformar y entrenar un modelo sobre datos distribuidos en el clúster.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03520" cy="400507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MapReduce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lotes, en disco entre etapas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memoria (RAM), mucho más rápido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→ Shuffle → Reduce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de transformaciones flexibles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 de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Java verboso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en Python, Scala, SQL, 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de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batch simples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ML, streaming, SQL, grafos, batch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típica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(referencia)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100x más rápido en memoria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EMR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problema resuelve EMR?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EMR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y configurar manualmente Hadoop, Spark, YARN y sus dependencias en cada servidor. Ajustar redes, versiones compatibles y seguridad. Escalar el clúster a mano.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Amazon EMR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administrado que aprovisiona en minutos un clúster completo con Hadoop, Spark, Hive, JupyterHub, etc. ya instalados, configurados y afinados para trabajar juntos sobre instancias EC2.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le quita al equipo de datos la carga operativa de administrar infraestructura distribuida, para que se concentre en el análisis y el modelo.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EMR entrega listo para usar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249631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949440" y="23957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Aprovisionamiento del clúster en minutos, no en días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29400" y="304495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949440" y="29443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(HDFS + YARN) y Spark preinstalados y afinados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359359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949440" y="34930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con S3, JupyterHub y notebooks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414223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949440" y="40416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Elasticidad: agregar o quitar nodos según la carga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469087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949440" y="45902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 automática para controlar costos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523951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949440" y="5138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integrada con IAM, VPC y grupos de seguridad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clúster EMR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617720" y="178308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800600" y="1920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MASTER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221284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el clúster: YARN ResourceManager, HDFS NameNode y el driver de Spark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V="1">
            <a:off x="1897811" y="3255264"/>
            <a:ext cx="4132053" cy="649224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 flipH="1">
            <a:off x="5615795" y="3291840"/>
            <a:ext cx="477157" cy="59436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 flipH="1" flipV="1">
            <a:off x="6162138" y="3255264"/>
            <a:ext cx="2971800" cy="59436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D9EEE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315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DataNode +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NodeManager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procesa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388620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D9EEE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343400" y="4023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4315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DataNode +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NodeManager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procesa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388620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FBEAD0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818120" y="4023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TASK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4315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YARN NodeManager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procesa (sin HDFS)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/ elástico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clúster mínimo necesita 1 nodo master + al menos 1 nodo core. Los nodos task son opcionales y añaden solo capacidad de cómputo.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responsabilidades de cada nodo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834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ejecuta?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¿Almacena datos (HDFS)?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¿Puede fallar el clúster si cae?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 ResourceManager · HDFS NameNode · Driver de Spark · JupyterHub/Livy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Metadatos, no bloques de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es el punto crítico (por eso EMR permite modo multi-master)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(Worker)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 NodeManager · HDFS DataNode · Executors de Spark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almacena bloques HDFS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otros nodos core continúan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(Worker)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 NodeManager · Executors de Spark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almacena HDFS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solo se pierde capacidad de cómputo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BEAD0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nodos core acercan el cómputo a los datos (HDFS + YARN en la misma máquina). Los nodos task solo aportan poder de cómputo adicional y se pueden agregar o quitar sin arriesgar los datos almacenados — ideales para instancias Spot más económicas.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5" name="Text 7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YARN: el gestor de recursos del clúster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= Yet Another Resource Negotiator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 que decide qué aplicación (un job de Spark, una consulta Hive) usa qué CPU y memoria, y en qué nodo, dentro del clúster.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ResourceManager (en el master)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solicitudes de recursos y decide cómo repartirlas entre los nodos disponibles.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NodeManager (en cada core/task)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cada nodo trabajador, reporta su capacidad disponible y lanza los "contenedores" donde corre el trabajo real (los executors de Spark).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una aplicación Spark en YARN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29400" y="242316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0" y="235915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driver (en el master) pide recursos al ResourceManager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0" y="31089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304495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ResourceManager negocia contenedores con los NodeManager de cada nodo core/task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29400" y="379476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373075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lanzan los executors de Spark dentro de esos contenedores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29400" y="44805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62940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441655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executors procesan las particiones de datos en paralelo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516636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62940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510235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regresan al driver, que consolida la respuesta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PASO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el clúster EMR en la consola de AWS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7556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versión de EMR release  —  </a:t>
            </a: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emr-8.x — incluye versiones probadas de Hadoop, Spark y JupyterHub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6372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2363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362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a instalar  —  </a:t>
            </a: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Marcar: Hadoop, Spark, JupyterEnterpriseGateway/JupyterHub, Livy (para conectar VS Code/Jupyter remoto)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9169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hardware  —  </a:t>
            </a: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1 nodo m5.xlarge. Core: 2 nodos m5.xlarge (large) como pide el ejercicio. Task: opcional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50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" y="35250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4975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 base  —  </a:t>
            </a: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usa Amazon Linux 2 sobre las instancias EC2 (no Ubuntu genérico); las herramientas que necesites (librerías Python, etc.) se instalan vía bootstrap actions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48640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07822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(VPC / subred)  —  </a:t>
            </a: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VPC con acceso a internet (NAT o IP pública) para poder conectarte desde tu PC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863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46863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6588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llaves EC2 (Key Pair)  —  </a:t>
            </a: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para SSH: lo necesitarás para VS Code y para el túnel de JupyterHub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6694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48640" y="5266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52395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servicio y rol de instancia (IAM)  —  </a:t>
            </a: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para que EMR administre EC2, S3 y CloudWatch en tu nombre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1005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829800" y="12344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0195560" y="131673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46920" y="20574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829800" y="22860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195560" y="236829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9646920" y="31089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9829800" y="33375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0195560" y="341985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646920" y="4160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829800" y="43891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0195560" y="447141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DEL TALLER · AWS ACADEMY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24028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del nodo Master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acceso web a Hadoop/Spark en EMR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para confirmar que los servicios del clúster están activos y para abrir YARN, HDFS, Spark History y JupyterHub desde tu computador local mediante un túnel SSH.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2801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que faltaron en la presentación original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completar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" cy="65836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puertos activos en el master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con ss/netstat que los servicios están escuchando (8088, 9870, 18080, 8443…)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17320" y="2697480"/>
            <a:ext cx="99669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658368" cy="658368"/>
          </a:xfrm>
          <a:prstGeom prst="ellipse">
            <a:avLst/>
          </a:prstGeom>
          <a:solidFill>
            <a:srgbClr val="2E40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servicios Hadoop/Spark en ejecución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172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jps -l para ver los procesos Java del NameNode, ResourceManager, History Server y Livy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417320" y="3813048"/>
            <a:ext cx="99669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658368" cy="65836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8640" y="3922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04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binarios y versiones instaladas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88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which, hadoop version, spark-submit --version, variables de entorno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417320" y="4928616"/>
            <a:ext cx="99669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48640" y="5038344"/>
            <a:ext cx="658368" cy="658368"/>
          </a:xfrm>
          <a:prstGeom prst="ellipse">
            <a:avLst/>
          </a:prstGeom>
          <a:solidFill>
            <a:srgbClr val="2E40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50383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0200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SSH y acceso desde el navegador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4041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 ssh -L para exponer los 4 servicios web en tu equipo local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qué puertos están escuchando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esto dentro del nodo master, conectado por SSH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10789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ss -tuln | grep -E ':(22|8998|8443|9443|8088|18080|9870|50070|8020)\b'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alternativa si no existe 'ss':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netstat -tuln | grep -E ':(22|8998|8443|9443|8088|18080|9870|50070|8020)\b'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7240" y="3913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el resultado?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51560" y="43708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el puerto aparece como </a:t>
            </a: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0.0.0.0:8088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:::8088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servicio está activo y disponible.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puerto no aparece en la lista, ese servicio aún no arrancó o no está expuesto — revisa el paso 2 (jps -l) antes de continuar con el túnel SSH.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los servicios de Hadoop/Spark en ejecución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nodo master, cada servicio corre como un proceso Java independiente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-l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que deberías ver: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85800" y="307238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org.apache.hadoop.hdfs.server.namenode.NameNode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307238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NameNode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61320" y="313639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561320" y="31363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9870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85800" y="384962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org.apache.hadoop.yarn.server.resourcemanager.ResourceManager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384962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— ResourceManager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561320" y="391363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61320" y="39136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85800" y="462686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org.apache.spark.deploy.history.HistoryServer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62686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History Server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561320" y="46908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0561320" y="4690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18080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85800" y="540410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org.apache.livy.server.LivyServer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540410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561320" y="54681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0561320" y="54681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8998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Comprobar aplicaciones instaladas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Spark, PySpark, HDFS y Hadoop — binarios, versiones y variables de entorno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¿Están en el PATH?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hadoop hdfs spark-submit pyspark yarn livy-server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Versiones e instalación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3438144"/>
            <a:ext cx="107899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Hadoop / HDFS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 version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-ls /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Spark / PySpark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--version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python3 -c "import pyspark; print('PySpark versión:', pyspark.__version__)"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Variables de entorno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5596128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85800" y="57607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| grep -iE 'SPARK|HADOOP|HDFS|LIVY|JAVA'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Túnel SSH: exponer los servicios web en tu PC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este comando desde la terminal de tu computador local (no dentro del master)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858000" cy="2331720"/>
          </a:xfrm>
          <a:prstGeom prst="roundRect">
            <a:avLst>
              <a:gd name="adj" fmla="val 3137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640080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"emrkeys.pem"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8088:172.31.13.216:8088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9870:172.31.13.216:9870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8443:127.0.0.1:8443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18080:127.0.0.1:18080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ec2-user@ec2-44-195-90-187.compute-1.amazonaws.com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73736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26680" y="1874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puerto_local:IP_destino:puerto_destino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2240280"/>
            <a:ext cx="3794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privada del master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172.31.13.216 (cámbiala por la tuya)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JupyterHub y Livy escuchan en el propio master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emrkeys.pem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tu llave .pem descargada de AWS Academy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ec2-user@...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DNS público del master (Instance summary)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esta terminal abierta mientras uses las interfaces web. Si la cierras, el túnel se corta y las páginas dejan de cargar.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navegador se usa siempre localhost, nunca la IP interna: el túnel redirige el tráfico de tu puerto local hacia el servidor de AWS.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abrir cada servicio en tu navegador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el túnel esté activo, ingresa estas direcciones en tu navegador local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1247120" cy="621792"/>
          </a:xfrm>
          <a:prstGeom prst="roundRect">
            <a:avLst>
              <a:gd name="adj" fmla="val 7353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en tu navegador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81160" y="18745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112471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ResourceManager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5877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81160" y="2743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281160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11247120" cy="65836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5800" y="330098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NameNode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3009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http://localhost:9870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81160" y="345643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281160" y="3456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112471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5800" y="401421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History Server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401421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http://localhost:18080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81160" y="416966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281160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27448"/>
            <a:ext cx="11247120" cy="65836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85800" y="47274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47274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https://localhost:8443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81160" y="488289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281160" y="48828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*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JupyterHub usa un certificado autofirmado: el navegador mostrará una advertencia de seguridad — puedes ignorarla y continuar ("Avanzado → Continuar a localhost").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abrir las interfaces web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-tuln | grep 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203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los puertos del clúster están en estado LISTEN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157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-l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3044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NameNode, ResourceManager, HistoryServer y Livy están corriendo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570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 version / spark-submit --version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los binarios están instalados y en el PATH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398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"emrkeys.pem" -L 8088:… -L 9870:… -L 8443:… -L 18080:… ec2-user@&lt;DNS-master&gt;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47274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túnel SSH desde tu PC (dejar la terminal abierta)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66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2395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http(s)://localhost:&lt;puerto&gt;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55686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YARN, HDFS, Spark History y JupyterHub usando siempre localhost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1005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829800" y="12344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0195560" y="131673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46920" y="20574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829800" y="22860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195560" y="236829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9646920" y="31089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9829800" y="33375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0195560" y="341985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646920" y="4160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829800" y="43891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0195560" y="447141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PARTE · TRABAJO LOCAL CON VS 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VS Code al JupyterHub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ya corre en el clúster EMR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instalar un Jupyter adicional en el master: usamos la extensión Jupyter de VS Code para conectarnos directamente al servidor individual que JupyterHub ya te asigna, con su kernel PySpark listo vía Livy.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2801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Continuación del túnel SSH y monitoreo web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JupyterHub por dentro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 conexión desde VS Code tenga sentido, hay 3 piezas clave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 primero valida tu usuario del clúster (login). No es un Jupyter abierto sin credenciales.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individual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sesión, el Hub te asigna tu propio servidor Jupyter en la ruta /user/&lt;tu-usuario&gt;/ — no es un kernel compartido.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8366760" y="2240280"/>
            <a:ext cx="640080" cy="6400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3667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6676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676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no usa tu contraseña: necesita un token de API generado desde el propio Hub para autenticar la conexión remota.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1-2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Túnel SSH e inicio de sesión en el Hub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Abre el túnel SSH desde tu PC (solo necesitas el puerto 8443 por ahora):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10789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"emrkeys.pem" \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8443:127.0.0.1:8443 \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ec2-user@ec2-44-195-90-187.compute-1.amazonaws.com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esta terminal abierta mientras trabajas.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Inicia sesión en el navegador: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58368" y="4069080"/>
            <a:ext cx="329184" cy="329184"/>
          </a:xfrm>
          <a:prstGeom prst="ellipse">
            <a:avLst/>
          </a:prstGeom>
          <a:solidFill>
            <a:srgbClr val="2E40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9593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https://localhost:8443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39593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la advertencia del certificado autofirmado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90872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58368" y="4873752"/>
            <a:ext cx="329184" cy="329184"/>
          </a:xfrm>
          <a:prstGeom prst="ellipse">
            <a:avLst/>
          </a:prstGeom>
          <a:solidFill>
            <a:srgbClr val="2E40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8368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7640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 con tu usuario del clúster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4764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usuario que usas para SSH / AWS Academy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495544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58368" y="5678424"/>
            <a:ext cx="329184" cy="329184"/>
          </a:xfrm>
          <a:prstGeom prst="ellipse">
            <a:avLst/>
          </a:prstGeom>
          <a:solidFill>
            <a:srgbClr val="2E40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58368" y="5678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5686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"Start My Server"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55686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primera vez — espera a que cargue el árbol de archivos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3-4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el token y construir la URL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 la sesión ya iniciada, ve 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https://localhost:8443/hub/token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"Request new API token" → dale un nombre (ej. vscode) → cópialo. Solo se muestra una vez.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Arma tu URL de conexión (tu servidor vive en /user/&lt;tu-usuario&gt;/):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3776472"/>
            <a:ext cx="10789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https://localhost:8443/user/&lt;tu-usuario&gt;/?token=&lt;TU_TOKEN&gt;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&lt;tu-usuario&gt;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tu nombre de usuario exacto en el Hub (el mismo con el que inicias sesión en el navegador)
</a:t>
            </a:r>
            <a:r>
              <a:rPr lang="en-US" sz="125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&lt;TU_TOKEN&gt;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el token que copiaste en el paso 3 — sensible, no lo compartas ni lo subas a un repositorio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5-6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VS Code y elegir el kernel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 VS Code: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Ctrl+Shift+P → "Jupyter: Specify Jupyter Server for Connections"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68680" y="2167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Elige "Existing"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68680" y="25511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Pega la URL con el token del paso anterior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Certificado autofirmado: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VS Code rechaza la conexión por SSL, ábrelo desde la terminal con:
</a:t>
            </a: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NODE_TLS_REJECT_UNAUTHORIZED=0 code .</a:t>
            </a:r>
            <a:r>
              <a:rPr lang="en-US" sz="1100" i="1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(solo para esta sesión — no lo dejes permanente)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Elige el kernel: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315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PySpark / PySpark3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vía Livy. La variable spark ya existe apenas ejecutas la primera celda — no necesitas crear SparkSession.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7091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9224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 (genérico)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findspark.init() antes de importar pyspark para que encuentre Spark instalado en el master.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Monitorear en paralelo mientras trabajas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los puertos de las interfaces web al mismo túnel del paso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949440" cy="2331720"/>
          </a:xfrm>
          <a:prstGeom prst="roundRect">
            <a:avLst>
              <a:gd name="adj" fmla="val 3137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649224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"emrkeys.pem"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8443:127.0.0.1:8443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8088:172.31.13.216:8088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9870:172.31.13.216:9870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18080:127.0.0.1:18080 \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ec2-user@ec2-44-195-90-187.compute-1.amazonaws.com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173736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8181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rápida: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18120" y="228600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una celda con Spark en tu notebook y observa </a:t>
            </a:r>
            <a:r>
              <a:rPr lang="en-US" sz="12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http://localhost:8088</a:t>
            </a: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(YARN) — tu aplicación debe aparecer en la lista de </a:t>
            </a:r>
            <a:r>
              <a:rPr lang="en-US" sz="1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casi de inmediato.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aparición en YARN es tu confirmación visual de que el kernel remoto, Spark y el clúster están conectados de punta a punta.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propio vs. JupyterHub existente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68580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600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propio (nohup)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09560" y="1600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 existente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47120" cy="7223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2926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extra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2377440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requerir pip3 install jupyter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9560" y="2377440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— ya está corriendo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11247120" cy="722376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2926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3154680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token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3154680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usuario + token de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223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2926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3931920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simple, sin advertencias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3931920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autofirmado → ajuste en VS Code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47120" cy="722376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85800" y="4709160"/>
            <a:ext cx="2926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4709160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(findspark)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4709160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integrado vía Livy / sparkmagic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1005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829800" y="12344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0195560" y="131673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46920" y="20574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829800" y="22860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195560" y="236829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9646920" y="31089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9829800" y="33375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0195560" y="341985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646920" y="4160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4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829800" y="43891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0195560" y="4471416"/>
            <a:ext cx="1188720" cy="0"/>
          </a:xfrm>
          <a:prstGeom prst="line">
            <a:avLst/>
          </a:prstGeom>
          <a:noFill/>
          <a:ln w="12700">
            <a:solidFill>
              <a:srgbClr val="4458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DEL TALLER · AWS ACADEMY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24028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del nodo Master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acceso web a Hadoop/Spark en EMR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para confirmar que los servicios del clúster están activos y para abrir YARN, HDFS, Spark History y JupyterHub desde tu computador local mediante un túnel SSH.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2801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que faltaron en la presentación original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completar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" cy="65836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puertos activos en el master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con ss/netstat que los servicios están escuchando (8088, 9870, 18080, 8443…)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17320" y="2697480"/>
            <a:ext cx="99669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658368" cy="658368"/>
          </a:xfrm>
          <a:prstGeom prst="ellipse">
            <a:avLst/>
          </a:prstGeom>
          <a:solidFill>
            <a:srgbClr val="2E40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servicios Hadoop/Spark en ejecución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172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jps -l para ver los procesos Java del NameNode, ResourceManager, History Server y Livy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417320" y="3813048"/>
            <a:ext cx="99669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658368" cy="65836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8640" y="3922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04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binarios y versiones instaladas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88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which, hadoop version, spark-submit --version, variables de entorno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417320" y="4928616"/>
            <a:ext cx="99669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48640" y="5038344"/>
            <a:ext cx="658368" cy="658368"/>
          </a:xfrm>
          <a:prstGeom prst="ellipse">
            <a:avLst/>
          </a:prstGeom>
          <a:solidFill>
            <a:srgbClr val="2E40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50383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0200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SSH y acceso desde el navegador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4041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 ssh -L para exponer los 4 servicios web en tu equipo local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qué puertos están escuchando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esto dentro del nodo master, conectado por SSH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10789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ss -tuln | grep -E ':(22|8998|8443|9443|8088|18080|9870|50070|8020)\b'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alternativa si no existe 'ss':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netstat -tuln | grep -E ':(22|8998|8443|9443|8088|18080|9870|50070|8020)\b'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7240" y="3913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el resultado?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51560" y="43708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el puerto aparece como </a:t>
            </a: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0.0.0.0:8088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:::8088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servicio está activo y disponible.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puerto no aparece en la lista, ese servicio aún no arrancó o no está expuesto — revisa el paso 2 (jps -l) antes de continuar con el túnel SSH.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los servicios de Hadoop/Spark en ejecución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nodo master, cada servicio corre como un proceso Java independiente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-l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que deberías ver: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85800" y="307238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org.apache.hadoop.hdfs.server.namenode.NameNode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307238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NameNode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61320" y="313639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561320" y="31363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9870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85800" y="384962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org.apache.hadoop.yarn.server.resourcemanager.ResourceManager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384962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— ResourceManager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561320" y="391363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61320" y="39136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85800" y="462686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org.apache.spark.deploy.history.HistoryServer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62686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History Server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561320" y="46908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0561320" y="4690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18080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11247120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85800" y="5404104"/>
            <a:ext cx="6949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org.apache.livy.server.LivyServer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540410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561320" y="54681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0561320" y="54681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8998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Comprobar aplicaciones instaladas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Spark, PySpark, HDFS y Hadoop — binarios, versiones y variables de entorno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¿Están en el PATH?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hadoop hdfs spark-submit pyspark yarn livy-server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Versiones e instalación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3438144"/>
            <a:ext cx="107899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Hadoop / HDFS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 version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-ls /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Spark / PySpark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--version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python3 -c "import pyspark; print('PySpark versión:', pyspark.__version__)"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Variables de entorno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5596128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85800" y="57607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| grep -iE 'SPARK|HADOOP|HDFS|LIVY|JAVA'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Túnel SSH: exponer los servicios web en tu PC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este comando desde la terminal de tu computador local (no dentro del master)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858000" cy="2331720"/>
          </a:xfrm>
          <a:prstGeom prst="roundRect">
            <a:avLst>
              <a:gd name="adj" fmla="val 3137"/>
            </a:avLst>
          </a:prstGeom>
          <a:solidFill>
            <a:srgbClr val="10151C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640080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</a:t>
            </a:r>
            <a:r>
              <a:rPr lang="en-US" sz="120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r>
              <a:rPr lang="en-US" sz="120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ermkeys.pem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-L 8088:172.31.2.199:8088 -L 9870:172.31.2.199:9870 -L 8443:172.31.2.199:8443 -L 18080:172.31.2.199:18080 ec2-user@ec2-100-52-169-83.compute-1.amazonaws.com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73736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26680" y="1874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puerto_local:IP_destino:puerto_destino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2240280"/>
            <a:ext cx="3794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privada del master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172.31.13.216 (cámbiala por la tuya)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JupyterHub y Livy escuchan en el propio master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emrkeys.pem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tu llave .pem descargada de AWS Academy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ec2-user@...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DNS público del master (Instance summary)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esta terminal abierta mientras uses las interfaces web. Si la cierras, el túnel se corta y las páginas dejan de cargar.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navegador se usa siempre localhost, nunca la IP interna: el túnel redirige el tráfico de tu puerto local hacia el servidor de AWS.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abrir cada servicio en tu navegador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el túnel esté activo, ingresa estas direcciones en tu navegador local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1247120" cy="621792"/>
          </a:xfrm>
          <a:prstGeom prst="roundRect">
            <a:avLst>
              <a:gd name="adj" fmla="val 7353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en tu navegador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81160" y="18745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112471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ResourceManager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5877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81160" y="2743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281160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11247120" cy="65836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5800" y="330098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NameNode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3009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http://localhost:9870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81160" y="345643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281160" y="3456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112471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5800" y="401421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History Server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401421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http://localhost:18080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81160" y="416966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281160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27448"/>
            <a:ext cx="11247120" cy="65836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85800" y="47274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47274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https://localhost:8443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81160" y="488289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281160" y="48828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*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JupyterHub usa un certificado autofirmado: el navegador mostrará una advertencia de seguridad — puedes ignorarla y continuar ("Avanzado → Continuar a localhost").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abrir las interfaces web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-tuln | grep 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203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los puertos del clúster están en estado LISTEN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157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-l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3044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NameNode, ResourceManager, HistoryServer y Livy están corriendo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570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 version / spark-submit --version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los binarios están instalados y en el PATH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398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"emrkeys.pem" -L 8088:… -L 9870:… -L 8443:… -L 18080:… ec2-user@&lt;DNS-master&gt;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47274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túnel SSH desde tu PC (dejar la terminal abierta)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66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3B57"/>
          </a:solidFill>
          <a:ln w="158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2395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http(s)://localhost:&lt;puerto&gt;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55686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YARN, HDFS, Spark History y JupyterHub usando siempre localhost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en AWS Academy · Complemento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PASO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acceso y herramientas necesarias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seguridad (Security Groups)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crea uno para el master y otro para los nodos core/task. Debes habilitar el puerto 22 (SSH) desde tu IP para conectarte con VS Code.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útiles para trabajo remoto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→ SSH  ·  8998 → Apache Livy (envío de jobs remotos)  ·  8443/9443 → JupyterHub  ·  8088 → YARN ResourceManager UI  ·  18080 → Spark History Server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actions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que se ejecutan al arrancar cada nodo para instalar librerías Python adicionales (pandas, scikit-learn, matplotlib) que uses en tus notebooks.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antes de lanzar el clúster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24231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0" y="23682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llaves .pem descargado y guardado de forma segura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0" y="29900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29400" y="2990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935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IP pública agregada al Security Group del master (puerto 22)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29400" y="3557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35021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S3 definido para logs y para guardar resultados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29400" y="41239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629400" y="4123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4069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action con pip install para librerías Python extra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46908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629400" y="4690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636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Auto-termination configurada (evita costos por olvido)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5257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629400" y="5257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52029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instancia large (m5.xlarge o similar) para master y core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PASO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VS Code al nodo master por SSH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la extensión Remote - SSH en VS Code (Microsoft).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la IP pública (o DNS) del nodo master desde la consola de EMR.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permisos de tu llave: chmod 400 mi-llave.pem (Linux/Mac) o restricción equivalente en Windows.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tu archivo ~/.ssh/config con el host del clúster para conectarte con un solo comando.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paleta de comandos: "Remote-SSH: Connect to Host" y selecciona el clúster.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dentro, puedes abrir una terminal, ejecutar spark-submit y editar los notebooks o scripts .py directamente en el master.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11C33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~/.ssh/config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29400" y="226771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emr-cluster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HostName ec2-XX-XX.compute.amazonaws.com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hadoop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IdentityFile ~/.ssh/mi-llave.pem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ServerAliveInterval 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Conexión SSH directa (terminal)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4005072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mi-llave.pem hadoop@&lt;IP-master&gt;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Tunel para exponer Livy/Jupyter en tu PC: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mi-llave.pem -N \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-L 8998:localhost:8998 \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-L 9443:localhost:9443 \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hadoop@&lt;IP-master&gt;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PASO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en remoto con JupyterHub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incluye JupyterHub (o JupyterEnterpriseGateway) preinstalado y conectado a Spark/Livy: cada notebook envía el trabajo al clúster, no a tu PC.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túnel SSH del paso anterior, abres https://localhost:9443 en el navegador de tu computador y accedes a JupyterHub del master.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Inicias sesión con el usuario configurado en EMR y creas un notebook con kernel "PySpark": Spark ya viene inicializado (SparkSession disponible como spark).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cómputo pesado —lectura de datos, transformaciones, entrenamiento del modelo— corre en los nodos core/task; tu laptop solo muestra los resultados.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PC  ⇄  Clúster EMR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25146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BEA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computador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Code / navegador)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2880360"/>
            <a:ext cx="9601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686800" y="258775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SSH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92640" y="25146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92640" y="2514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Master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 + Livy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61320" y="3337560"/>
            <a:ext cx="457200" cy="621792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629400" y="3977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29400" y="39776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Spark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flipV="1">
            <a:off x="7470649" y="3355848"/>
            <a:ext cx="3090666" cy="621792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366760" y="3977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366760" y="39776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Spark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V="1">
            <a:off x="9189720" y="3355848"/>
            <a:ext cx="1371594" cy="621792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10104120" y="3977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0104120" y="39776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Core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Spark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4983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notebook vive en tu navegador; la ejecución de PySpark ocurre físicamente en los nodos del clúster.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dataset: Peritazgo.csv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raw.githubusercontent.com/adiacla/bigdata/.../Peritazgo.csv — accesible directamente desde el clúster (no hace falta descargarlo a tu PC).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venta de propiedades con atributos físicos, de ubicación y de mercado — el escenario clásico de un "peritazgo" o avalúo inmobiliario.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separado por punto y coma (;), con columnas en español: Suburbio, Direccion, Precio, habitaciones, Banos, AreaCons, Distancia, Region, entre otras.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ejercicio</a:t>
            </a:r>
            <a:endParaRPr lang="en-US" sz="128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 modelo de regresión en PySpark MLlib que prediga la columna Precio a partir de las características de cada propiedad.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principales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2450592"/>
            <a:ext cx="109728" cy="109728"/>
          </a:xfrm>
          <a:prstGeom prst="round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903720" y="23500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 </a:t>
            </a: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(target) — numérica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2953512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903720" y="2852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 / Banos / Carros  </a:t>
            </a: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numéricas de la propiedad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3456432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903720" y="33558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AreaCons / AreaNoConstruida  </a:t>
            </a: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construida y de terreno (m²)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3959352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903720" y="38587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 </a:t>
            </a: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centro (km)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462272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903720" y="43616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Suburbio / Region / Codigo postal  </a:t>
            </a: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 de ubicación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4965192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903720" y="48646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/ Metodo / Vendedor  </a:t>
            </a: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 del mercado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5468112"/>
            <a:ext cx="109728" cy="109728"/>
          </a:xfrm>
          <a:prstGeom prst="round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903720" y="53675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 / Longitud  </a:t>
            </a: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geográficas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Machine Learning con PySpark MLlib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SparkSession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a Spark; ya disponible como "spark" en el kernel PySpark de JupyterHub.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0" y="185623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Carga de datos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spark.read.csv() leyendo directamente la URL de GitHub, con sep=";" y header=True, distribuido entre los nodos.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31520" y="290779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(EDA)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printSchema(), describe(), conteo de nulos por columna — todo ejecutado en paralelo sobre el clúster.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0" y="290779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Limpieza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o imputar nulos, convertir tipos de datos (precios y áreas a numérico).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31520" y="395935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Ingeniería de características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+ OneHotEncoder para variables categóricas; VectorAssembler para unir todo en una columna "features".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0" y="395935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Train / test split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25196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randomSplit([0.8, 0.2]) — 80% para entrenar, 20% para evaluar.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31520" y="501091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Modelo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30352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 o LinearRegression de pyspark.ml.regression, entrenado sobre "features" para predecir "Precio".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9377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00800" y="501091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Evaluación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530352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RegressionEvaluator con métricas RMSE y R² sobre el conjunto de prueba.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BEA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de ejemplo: de la URL al modelo entrenado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5029200"/>
          </a:xfrm>
          <a:prstGeom prst="roundRect">
            <a:avLst>
              <a:gd name="adj" fmla="val 1455"/>
            </a:avLst>
          </a:prstGeom>
          <a:solidFill>
            <a:srgbClr val="0E1A30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1560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SparkSession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 import Pipeline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pyspark.ml.feature import StringIndexer, VectorAssembler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pyspark.ml.regression import RandomForestRegressor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pyspark.ml.evaluation import RegressionEvaluator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"https://raw.githubusercontent.com/.../Peritazgo.csv"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spark.read.csv(url, sep=";", header=True, inferSchema=True)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df.dropna(subset=["Precio","habitaciones","AreaCons","Distancia"])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 = StringIndexer(inputCol="Region", outputCol="RegionIdx", handleInvalid="keep")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["habitaciones","Banos","Carros","AreaCons","Distancia","RegionIdx"]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assembler = VectorAssembler(inputCols=cols, outputCol="features")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train, test = df.randomSplit([0.8, 0.2], seed=42)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RandomForestRegressor(featuresCol="features", labelCol="Precio", numTrees=100)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Pipeline(stages=[indexer, assembler, rf])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pipeline.fit(train)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model.transform(test)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 = RegressionEvaluator(labelCol="Precio", predictionCol="prediction", metricName="rmse")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print("RMSE:", evaluator.evaluate(predictions))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ver el trabajo distribuido en acción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4040 (o vía History Server 18080)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189280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jobs, stages y tasks de tu aplicación PySpark: cuántas particiones se procesaron, en qué executor y cuánto tardó cada una.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ResourceManager UI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0" y="294436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todas las aplicaciones en el clúster, memoria y CPU asignados por nodo, y el estado de cada NodeManager.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977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Ganglia / CloudWatch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EMR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0" y="399592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CPU, memoria, red y disco de cada nodo del clúster en tiempo real — útil para detectar cuellos de botella.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296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029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NameNode UI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71600" y="5349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9870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0" y="50474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los bloques replicados, espacio usado y salud de cada DataNode.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9EEE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Costos, seguridad y buenas prácticas con EMR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los costos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auto-termination cuando el clúster queda inactivo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instancias Spot para nodos task (hasta 70-90% más baratas)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(termina) el clúster apenas termine la sesión de entrenamiento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S3 para persistir datos y resultados, no HDFS efímero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la seguridad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el Security Group del master a tu IP, no a 0.0.0.0/0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roles IAM con permisos mínimos necesarios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o protege bien tu llave .pem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datos en tránsito y en reposo (S3 + EMR security config)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36676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de forma reproducible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0" y="31546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tus notebooks y scripts en un repositorio (Git)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el bootstrap action que instala tus librerías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tipo de instancia y la versión de EMR usada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la creación del clúster con Terraform o CLI de AWS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AWS · EMR + PySpark 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Ingeniería de Sistemas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1288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241280" y="4480560"/>
            <a:ext cx="4023360" cy="40233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te llevas de esta sesión?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5564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Big Data exige procesamiento distribuido (Hadoop + Spark)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41401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un clúster EMR: master, core y task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14553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008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072384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crear, asegurar y conectarte a un clúster desde tu propio PC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73075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entrenar y evaluar un modelo de ML con PySpark sobre datos reales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9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cada estudiante crea su propio clúster EMR, ejecuta el pipeline completo con Peritazgo.csv y comparte su RMSE en el foro del curso.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Alfredo  ·  Centro de Competencias Digitales (CCD)  ·  UNAB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5985</Words>
  <Application>Microsoft Office PowerPoint</Application>
  <PresentationFormat>Panorámica</PresentationFormat>
  <Paragraphs>788</Paragraphs>
  <Slides>43</Slides>
  <Notes>43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9" baseType="lpstr">
      <vt:lpstr>Arial</vt:lpstr>
      <vt:lpstr>Calibri</vt:lpstr>
      <vt:lpstr>Cambria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Alfredo Antonio Diaz Claros</cp:lastModifiedBy>
  <cp:revision>2</cp:revision>
  <dcterms:created xsi:type="dcterms:W3CDTF">2026-08-12T18:18:54Z</dcterms:created>
  <dcterms:modified xsi:type="dcterms:W3CDTF">2026-08-12T23:41:59Z</dcterms:modified>
</cp:coreProperties>
</file>