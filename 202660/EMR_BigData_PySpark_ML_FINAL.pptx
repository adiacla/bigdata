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41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84" r:id="rId16"/>
    <p:sldId id="299" r:id="rId17"/>
    <p:sldId id="300" r:id="rId18"/>
    <p:sldId id="301" r:id="rId19"/>
    <p:sldId id="302" r:id="rId20"/>
    <p:sldId id="303" r:id="rId21"/>
    <p:sldId id="286" r:id="rId22"/>
    <p:sldId id="287" r:id="rId23"/>
    <p:sldId id="288" r:id="rId24"/>
    <p:sldId id="305" r:id="rId25"/>
    <p:sldId id="306" r:id="rId26"/>
    <p:sldId id="308" r:id="rId27"/>
    <p:sldId id="289" r:id="rId28"/>
    <p:sldId id="290" r:id="rId29"/>
    <p:sldId id="292" r:id="rId30"/>
    <p:sldId id="309" r:id="rId31"/>
    <p:sldId id="293" r:id="rId32"/>
    <p:sldId id="310" r:id="rId33"/>
    <p:sldId id="269" r:id="rId34"/>
    <p:sldId id="271" r:id="rId35"/>
    <p:sldId id="270" r:id="rId36"/>
    <p:sldId id="272" r:id="rId37"/>
    <p:sldId id="273" r:id="rId38"/>
    <p:sldId id="274" r:id="rId39"/>
    <p:sldId id="275" r:id="rId4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200EE"/>
    <a:srgbClr val="FFA5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892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72" y="-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4789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55D39-1672-6C0F-E209-D97EBA585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0AEA3E-794B-1FAA-9527-A22F03F6DC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2FA646-8F5A-925B-9D34-993110E17F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0D3932-493C-B0C0-C1EE-C649C87E63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1750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preserve="1" userDrawn="1">
  <p:cSld name="Imagen con título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8193470-8208-803F-83AD-525A596192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0"/>
            <a:ext cx="12363999" cy="7001301"/>
          </a:xfrm>
          <a:prstGeom prst="rect">
            <a:avLst/>
          </a:prstGeo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EFB05F47-B86C-3A4F-11DC-4F88A0C95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2472" y="1378733"/>
            <a:ext cx="6871526" cy="2121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00000"/>
              </a:lnSpc>
              <a:buClr>
                <a:srgbClr val="000000"/>
              </a:buClr>
              <a:buSzPts val="8000"/>
              <a:buFont typeface="Arial"/>
            </a:pPr>
            <a:endParaRPr lang="es-CO" sz="8000" b="1">
              <a:solidFill>
                <a:srgbClr val="9200EE"/>
              </a:solidFill>
              <a:latin typeface="Open Sans"/>
              <a:ea typeface="Open Sans"/>
              <a:cs typeface="Open San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43622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preserve="1" userDrawn="1">
  <p:cSld name="Título y texto vertical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390957B-FA3F-6564-F375-C86531F9910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52330"/>
            <a:ext cx="12327398" cy="7039984"/>
          </a:xfrm>
          <a:prstGeom prst="rect">
            <a:avLst/>
          </a:prstGeo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D2124112-1D4A-94BD-C630-E28EAA6FF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352" y="2278331"/>
            <a:ext cx="625191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00000"/>
              </a:lnSpc>
              <a:buClr>
                <a:srgbClr val="000000"/>
              </a:buClr>
              <a:buSzPts val="8000"/>
              <a:buFont typeface="Arial"/>
            </a:pPr>
            <a:endParaRPr lang="es-CO" sz="8000" b="1">
              <a:solidFill>
                <a:srgbClr val="9200EE"/>
              </a:solidFill>
              <a:latin typeface="Open Sans"/>
              <a:ea typeface="Open Sans"/>
              <a:cs typeface="Open San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05498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preserve="1" userDrawn="1">
  <p:cSld name="1_Título y texto vertical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D2124112-1D4A-94BD-C630-E28EAA6FF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352" y="2278331"/>
            <a:ext cx="625191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00000"/>
              </a:lnSpc>
              <a:buClr>
                <a:srgbClr val="000000"/>
              </a:buClr>
              <a:buSzPts val="8000"/>
              <a:buFont typeface="Arial"/>
            </a:pPr>
            <a:endParaRPr lang="es-CO" sz="8000" b="1">
              <a:solidFill>
                <a:srgbClr val="9200EE"/>
              </a:solidFill>
              <a:latin typeface="Open Sans"/>
              <a:ea typeface="Open Sans"/>
              <a:cs typeface="Open Sans"/>
              <a:sym typeface="Arial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4BDA1E8-E8B2-CDA2-99FC-2B9F1F6AAEC0}"/>
              </a:ext>
            </a:extLst>
          </p:cNvPr>
          <p:cNvSpPr/>
          <p:nvPr userDrawn="1"/>
        </p:nvSpPr>
        <p:spPr>
          <a:xfrm>
            <a:off x="-106413" y="35047"/>
            <a:ext cx="12192000" cy="6858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5" name="Google Shape;175;p20">
            <a:extLst>
              <a:ext uri="{FF2B5EF4-FFF2-40B4-BE49-F238E27FC236}">
                <a16:creationId xmlns:a16="http://schemas.microsoft.com/office/drawing/2014/main" id="{E52AE92F-85E8-4DAD-CDB3-4A81857511EE}"/>
              </a:ext>
            </a:extLst>
          </p:cNvPr>
          <p:cNvGrpSpPr/>
          <p:nvPr userDrawn="1"/>
        </p:nvGrpSpPr>
        <p:grpSpPr>
          <a:xfrm>
            <a:off x="7417868" y="-232241"/>
            <a:ext cx="4955403" cy="1377256"/>
            <a:chOff x="0" y="0"/>
            <a:chExt cx="2176125" cy="1599059"/>
          </a:xfrm>
          <a:solidFill>
            <a:srgbClr val="9200EE"/>
          </a:solidFill>
        </p:grpSpPr>
        <p:sp>
          <p:nvSpPr>
            <p:cNvPr id="6" name="Google Shape;176;p20">
              <a:extLst>
                <a:ext uri="{FF2B5EF4-FFF2-40B4-BE49-F238E27FC236}">
                  <a16:creationId xmlns:a16="http://schemas.microsoft.com/office/drawing/2014/main" id="{A8DB2B84-181E-7E81-DBA0-9ADAFF0B9E8F}"/>
                </a:ext>
              </a:extLst>
            </p:cNvPr>
            <p:cNvSpPr/>
            <p:nvPr/>
          </p:nvSpPr>
          <p:spPr>
            <a:xfrm>
              <a:off x="0" y="0"/>
              <a:ext cx="2173205" cy="1463545"/>
            </a:xfrm>
            <a:custGeom>
              <a:avLst/>
              <a:gdLst/>
              <a:ahLst/>
              <a:cxnLst/>
              <a:rect l="l" t="t" r="r" b="b"/>
              <a:pathLst>
                <a:path w="2173205" h="1463545" extrusionOk="0">
                  <a:moveTo>
                    <a:pt x="0" y="0"/>
                  </a:moveTo>
                  <a:lnTo>
                    <a:pt x="2173205" y="0"/>
                  </a:lnTo>
                  <a:lnTo>
                    <a:pt x="2173205" y="1463545"/>
                  </a:lnTo>
                  <a:lnTo>
                    <a:pt x="0" y="146354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177;p20">
              <a:extLst>
                <a:ext uri="{FF2B5EF4-FFF2-40B4-BE49-F238E27FC236}">
                  <a16:creationId xmlns:a16="http://schemas.microsoft.com/office/drawing/2014/main" id="{F177383D-13E2-3FE6-824C-86F67DB03C6E}"/>
                </a:ext>
              </a:extLst>
            </p:cNvPr>
            <p:cNvSpPr txBox="1"/>
            <p:nvPr/>
          </p:nvSpPr>
          <p:spPr>
            <a:xfrm>
              <a:off x="2920" y="68839"/>
              <a:ext cx="2173205" cy="153022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" name="Google Shape;178;p20">
            <a:extLst>
              <a:ext uri="{FF2B5EF4-FFF2-40B4-BE49-F238E27FC236}">
                <a16:creationId xmlns:a16="http://schemas.microsoft.com/office/drawing/2014/main" id="{5D6635EA-08D9-B069-08F6-B05E928589FC}"/>
              </a:ext>
            </a:extLst>
          </p:cNvPr>
          <p:cNvGrpSpPr/>
          <p:nvPr userDrawn="1"/>
        </p:nvGrpSpPr>
        <p:grpSpPr>
          <a:xfrm>
            <a:off x="11099621" y="1334942"/>
            <a:ext cx="1682514" cy="5974483"/>
            <a:chOff x="0" y="-66675"/>
            <a:chExt cx="812800" cy="1715673"/>
          </a:xfrm>
          <a:solidFill>
            <a:srgbClr val="FFA502"/>
          </a:solidFill>
        </p:grpSpPr>
        <p:sp>
          <p:nvSpPr>
            <p:cNvPr id="9" name="Google Shape;179;p20">
              <a:extLst>
                <a:ext uri="{FF2B5EF4-FFF2-40B4-BE49-F238E27FC236}">
                  <a16:creationId xmlns:a16="http://schemas.microsoft.com/office/drawing/2014/main" id="{5C801856-5218-A5D9-D9FF-16BE7CB0749B}"/>
                </a:ext>
              </a:extLst>
            </p:cNvPr>
            <p:cNvSpPr/>
            <p:nvPr/>
          </p:nvSpPr>
          <p:spPr>
            <a:xfrm>
              <a:off x="0" y="0"/>
              <a:ext cx="812800" cy="1648998"/>
            </a:xfrm>
            <a:custGeom>
              <a:avLst/>
              <a:gdLst/>
              <a:ahLst/>
              <a:cxnLst/>
              <a:rect l="l" t="t" r="r" b="b"/>
              <a:pathLst>
                <a:path w="812800" h="1648998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1648998"/>
                  </a:lnTo>
                  <a:lnTo>
                    <a:pt x="0" y="164899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180;p20">
              <a:extLst>
                <a:ext uri="{FF2B5EF4-FFF2-40B4-BE49-F238E27FC236}">
                  <a16:creationId xmlns:a16="http://schemas.microsoft.com/office/drawing/2014/main" id="{8D5FE2F9-6C28-0C75-9A7C-ACABA8EBDCC3}"/>
                </a:ext>
              </a:extLst>
            </p:cNvPr>
            <p:cNvSpPr txBox="1"/>
            <p:nvPr/>
          </p:nvSpPr>
          <p:spPr>
            <a:xfrm>
              <a:off x="0" y="-66675"/>
              <a:ext cx="812800" cy="1715673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" name="Google Shape;181;p20">
            <a:extLst>
              <a:ext uri="{FF2B5EF4-FFF2-40B4-BE49-F238E27FC236}">
                <a16:creationId xmlns:a16="http://schemas.microsoft.com/office/drawing/2014/main" id="{D515A9B4-C7DB-DF10-D550-22271948FEDF}"/>
              </a:ext>
            </a:extLst>
          </p:cNvPr>
          <p:cNvSpPr/>
          <p:nvPr userDrawn="1"/>
        </p:nvSpPr>
        <p:spPr>
          <a:xfrm rot="16200000">
            <a:off x="6771765" y="3073573"/>
            <a:ext cx="1305505" cy="621895"/>
          </a:xfrm>
          <a:custGeom>
            <a:avLst/>
            <a:gdLst/>
            <a:ahLst/>
            <a:cxnLst/>
            <a:rect l="l" t="t" r="r" b="b"/>
            <a:pathLst>
              <a:path w="1958257" h="932843" extrusionOk="0">
                <a:moveTo>
                  <a:pt x="1958257" y="932843"/>
                </a:moveTo>
                <a:lnTo>
                  <a:pt x="0" y="932843"/>
                </a:lnTo>
                <a:lnTo>
                  <a:pt x="0" y="0"/>
                </a:lnTo>
                <a:lnTo>
                  <a:pt x="1958257" y="0"/>
                </a:lnTo>
                <a:lnTo>
                  <a:pt x="1958257" y="932843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82;p20">
            <a:extLst>
              <a:ext uri="{FF2B5EF4-FFF2-40B4-BE49-F238E27FC236}">
                <a16:creationId xmlns:a16="http://schemas.microsoft.com/office/drawing/2014/main" id="{854E4009-1498-F873-FFBD-CE08AD3FB721}"/>
              </a:ext>
            </a:extLst>
          </p:cNvPr>
          <p:cNvSpPr/>
          <p:nvPr userDrawn="1"/>
        </p:nvSpPr>
        <p:spPr>
          <a:xfrm>
            <a:off x="11256747" y="467907"/>
            <a:ext cx="554366" cy="554366"/>
          </a:xfrm>
          <a:custGeom>
            <a:avLst/>
            <a:gdLst/>
            <a:ahLst/>
            <a:cxnLst/>
            <a:rect l="l" t="t" r="r" b="b"/>
            <a:pathLst>
              <a:path w="831549" h="831549" extrusionOk="0">
                <a:moveTo>
                  <a:pt x="0" y="0"/>
                </a:moveTo>
                <a:lnTo>
                  <a:pt x="831549" y="0"/>
                </a:lnTo>
                <a:lnTo>
                  <a:pt x="831549" y="831550"/>
                </a:lnTo>
                <a:lnTo>
                  <a:pt x="0" y="83155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84;p20">
            <a:extLst>
              <a:ext uri="{FF2B5EF4-FFF2-40B4-BE49-F238E27FC236}">
                <a16:creationId xmlns:a16="http://schemas.microsoft.com/office/drawing/2014/main" id="{8614318F-D119-0DAB-78E2-E06124316CE6}"/>
              </a:ext>
            </a:extLst>
          </p:cNvPr>
          <p:cNvSpPr/>
          <p:nvPr userDrawn="1"/>
        </p:nvSpPr>
        <p:spPr>
          <a:xfrm>
            <a:off x="11516868" y="110453"/>
            <a:ext cx="568719" cy="850147"/>
          </a:xfrm>
          <a:custGeom>
            <a:avLst/>
            <a:gdLst/>
            <a:ahLst/>
            <a:cxnLst/>
            <a:rect l="l" t="t" r="r" b="b"/>
            <a:pathLst>
              <a:path w="853079" h="1275221" extrusionOk="0">
                <a:moveTo>
                  <a:pt x="0" y="0"/>
                </a:moveTo>
                <a:lnTo>
                  <a:pt x="853079" y="0"/>
                </a:lnTo>
                <a:lnTo>
                  <a:pt x="853079" y="1275221"/>
                </a:lnTo>
                <a:lnTo>
                  <a:pt x="0" y="12752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85;p20">
            <a:extLst>
              <a:ext uri="{FF2B5EF4-FFF2-40B4-BE49-F238E27FC236}">
                <a16:creationId xmlns:a16="http://schemas.microsoft.com/office/drawing/2014/main" id="{B705A9D2-6054-C1E7-44ED-6AD08CC991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494858" y="3725018"/>
            <a:ext cx="6885275" cy="831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1" i="0" u="none" strike="noStrike" cap="none">
                <a:solidFill>
                  <a:srgbClr val="9200EE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87;p20">
            <a:extLst>
              <a:ext uri="{FF2B5EF4-FFF2-40B4-BE49-F238E27FC236}">
                <a16:creationId xmlns:a16="http://schemas.microsoft.com/office/drawing/2014/main" id="{96FA608A-E2A1-E435-F138-DD8EDDF091CC}"/>
              </a:ext>
            </a:extLst>
          </p:cNvPr>
          <p:cNvSpPr/>
          <p:nvPr userDrawn="1"/>
        </p:nvSpPr>
        <p:spPr>
          <a:xfrm rot="5400000">
            <a:off x="11323182" y="1807608"/>
            <a:ext cx="975860" cy="711491"/>
          </a:xfrm>
          <a:custGeom>
            <a:avLst/>
            <a:gdLst/>
            <a:ahLst/>
            <a:cxnLst/>
            <a:rect l="l" t="t" r="r" b="b"/>
            <a:pathLst>
              <a:path w="1463790" h="1067236" extrusionOk="0">
                <a:moveTo>
                  <a:pt x="0" y="0"/>
                </a:moveTo>
                <a:lnTo>
                  <a:pt x="1463790" y="0"/>
                </a:lnTo>
                <a:lnTo>
                  <a:pt x="1463790" y="1067236"/>
                </a:lnTo>
                <a:lnTo>
                  <a:pt x="0" y="10672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07757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preserve="1" userDrawn="1">
  <p:cSld name="Título vertical y texto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062DF2C-BA0C-6216-EBB1-E7555E41183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425396" cy="7053063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E4C5C6CA-671E-8F3C-1B60-A6F0CA17E7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lnSpc>
                <a:spcPct val="100000"/>
              </a:lnSpc>
              <a:buClr>
                <a:srgbClr val="000000"/>
              </a:buClr>
              <a:buSzPts val="7300"/>
              <a:buFont typeface="Arial"/>
            </a:pPr>
            <a:endParaRPr lang="es-CO" sz="7300" b="1">
              <a:solidFill>
                <a:srgbClr val="9A00E1"/>
              </a:solidFill>
              <a:latin typeface="Open Sans"/>
              <a:ea typeface="Open Sans"/>
              <a:cs typeface="Open San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91418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preserve="1" userDrawn="1">
  <p:cSld name="Two Conten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113;p30">
            <a:extLst>
              <a:ext uri="{FF2B5EF4-FFF2-40B4-BE49-F238E27FC236}">
                <a16:creationId xmlns:a16="http://schemas.microsoft.com/office/drawing/2014/main" id="{F83F94DE-C46D-6218-95E1-3A278A768CBC}"/>
              </a:ext>
            </a:extLst>
          </p:cNvPr>
          <p:cNvGrpSpPr/>
          <p:nvPr userDrawn="1"/>
        </p:nvGrpSpPr>
        <p:grpSpPr>
          <a:xfrm>
            <a:off x="7356927" y="-409069"/>
            <a:ext cx="4955403" cy="1635372"/>
            <a:chOff x="0" y="0"/>
            <a:chExt cx="2176125" cy="1599059"/>
          </a:xfrm>
          <a:solidFill>
            <a:srgbClr val="9200EE"/>
          </a:solidFill>
        </p:grpSpPr>
        <p:sp>
          <p:nvSpPr>
            <p:cNvPr id="3" name="Google Shape;114;p30">
              <a:extLst>
                <a:ext uri="{FF2B5EF4-FFF2-40B4-BE49-F238E27FC236}">
                  <a16:creationId xmlns:a16="http://schemas.microsoft.com/office/drawing/2014/main" id="{EBB06D53-9D97-777B-1BC0-0FD60B0CA655}"/>
                </a:ext>
              </a:extLst>
            </p:cNvPr>
            <p:cNvSpPr/>
            <p:nvPr/>
          </p:nvSpPr>
          <p:spPr>
            <a:xfrm>
              <a:off x="0" y="0"/>
              <a:ext cx="2173205" cy="1463545"/>
            </a:xfrm>
            <a:custGeom>
              <a:avLst/>
              <a:gdLst/>
              <a:ahLst/>
              <a:cxnLst/>
              <a:rect l="l" t="t" r="r" b="b"/>
              <a:pathLst>
                <a:path w="2173205" h="1463545" extrusionOk="0">
                  <a:moveTo>
                    <a:pt x="0" y="0"/>
                  </a:moveTo>
                  <a:lnTo>
                    <a:pt x="2173205" y="0"/>
                  </a:lnTo>
                  <a:lnTo>
                    <a:pt x="2173205" y="1463545"/>
                  </a:lnTo>
                  <a:lnTo>
                    <a:pt x="0" y="146354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" name="Google Shape;115;p30">
              <a:extLst>
                <a:ext uri="{FF2B5EF4-FFF2-40B4-BE49-F238E27FC236}">
                  <a16:creationId xmlns:a16="http://schemas.microsoft.com/office/drawing/2014/main" id="{B1D87507-547E-60CC-FDD4-6D5335DB56CC}"/>
                </a:ext>
              </a:extLst>
            </p:cNvPr>
            <p:cNvSpPr txBox="1"/>
            <p:nvPr/>
          </p:nvSpPr>
          <p:spPr>
            <a:xfrm>
              <a:off x="2920" y="68839"/>
              <a:ext cx="2173205" cy="153022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" name="Google Shape;120;p30">
            <a:extLst>
              <a:ext uri="{FF2B5EF4-FFF2-40B4-BE49-F238E27FC236}">
                <a16:creationId xmlns:a16="http://schemas.microsoft.com/office/drawing/2014/main" id="{AA102500-1CB5-F7D9-B2AC-CA9AEDC02169}"/>
              </a:ext>
            </a:extLst>
          </p:cNvPr>
          <p:cNvGrpSpPr/>
          <p:nvPr userDrawn="1"/>
        </p:nvGrpSpPr>
        <p:grpSpPr>
          <a:xfrm>
            <a:off x="10541478" y="1205251"/>
            <a:ext cx="1650521" cy="5974483"/>
            <a:chOff x="0" y="-66675"/>
            <a:chExt cx="812800" cy="1715673"/>
          </a:xfrm>
          <a:solidFill>
            <a:srgbClr val="FFA502"/>
          </a:solidFill>
        </p:grpSpPr>
        <p:sp>
          <p:nvSpPr>
            <p:cNvPr id="7" name="Google Shape;121;p30">
              <a:extLst>
                <a:ext uri="{FF2B5EF4-FFF2-40B4-BE49-F238E27FC236}">
                  <a16:creationId xmlns:a16="http://schemas.microsoft.com/office/drawing/2014/main" id="{283B8CBA-E5E0-9B1F-2455-F0D7654340AE}"/>
                </a:ext>
              </a:extLst>
            </p:cNvPr>
            <p:cNvSpPr/>
            <p:nvPr/>
          </p:nvSpPr>
          <p:spPr>
            <a:xfrm>
              <a:off x="0" y="0"/>
              <a:ext cx="812800" cy="1648998"/>
            </a:xfrm>
            <a:custGeom>
              <a:avLst/>
              <a:gdLst/>
              <a:ahLst/>
              <a:cxnLst/>
              <a:rect l="l" t="t" r="r" b="b"/>
              <a:pathLst>
                <a:path w="812800" h="1648998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1648998"/>
                  </a:lnTo>
                  <a:lnTo>
                    <a:pt x="0" y="164899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122;p30">
              <a:extLst>
                <a:ext uri="{FF2B5EF4-FFF2-40B4-BE49-F238E27FC236}">
                  <a16:creationId xmlns:a16="http://schemas.microsoft.com/office/drawing/2014/main" id="{B9A4A963-42B6-6DBC-DD5B-5F81E01D7017}"/>
                </a:ext>
              </a:extLst>
            </p:cNvPr>
            <p:cNvSpPr txBox="1"/>
            <p:nvPr/>
          </p:nvSpPr>
          <p:spPr>
            <a:xfrm>
              <a:off x="0" y="-66675"/>
              <a:ext cx="812800" cy="1715673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" name="Google Shape;126;p30">
            <a:extLst>
              <a:ext uri="{FF2B5EF4-FFF2-40B4-BE49-F238E27FC236}">
                <a16:creationId xmlns:a16="http://schemas.microsoft.com/office/drawing/2014/main" id="{4C954F35-BDE2-4D54-C0E5-AC2F2D4C4852}"/>
              </a:ext>
            </a:extLst>
          </p:cNvPr>
          <p:cNvSpPr/>
          <p:nvPr userDrawn="1"/>
        </p:nvSpPr>
        <p:spPr>
          <a:xfrm rot="-5400000">
            <a:off x="6710824" y="3014283"/>
            <a:ext cx="1305505" cy="621895"/>
          </a:xfrm>
          <a:custGeom>
            <a:avLst/>
            <a:gdLst/>
            <a:ahLst/>
            <a:cxnLst/>
            <a:rect l="l" t="t" r="r" b="b"/>
            <a:pathLst>
              <a:path w="1958257" h="932843" extrusionOk="0">
                <a:moveTo>
                  <a:pt x="1958257" y="932843"/>
                </a:moveTo>
                <a:lnTo>
                  <a:pt x="0" y="932843"/>
                </a:lnTo>
                <a:lnTo>
                  <a:pt x="0" y="0"/>
                </a:lnTo>
                <a:lnTo>
                  <a:pt x="1958257" y="0"/>
                </a:lnTo>
                <a:lnTo>
                  <a:pt x="1958257" y="932843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27;p30">
            <a:extLst>
              <a:ext uri="{FF2B5EF4-FFF2-40B4-BE49-F238E27FC236}">
                <a16:creationId xmlns:a16="http://schemas.microsoft.com/office/drawing/2014/main" id="{62DF41FD-EFF2-F948-D0D8-E63FE1F6847F}"/>
              </a:ext>
            </a:extLst>
          </p:cNvPr>
          <p:cNvSpPr/>
          <p:nvPr userDrawn="1"/>
        </p:nvSpPr>
        <p:spPr>
          <a:xfrm>
            <a:off x="11195806" y="408617"/>
            <a:ext cx="554366" cy="554366"/>
          </a:xfrm>
          <a:custGeom>
            <a:avLst/>
            <a:gdLst/>
            <a:ahLst/>
            <a:cxnLst/>
            <a:rect l="l" t="t" r="r" b="b"/>
            <a:pathLst>
              <a:path w="831549" h="831549" extrusionOk="0">
                <a:moveTo>
                  <a:pt x="0" y="0"/>
                </a:moveTo>
                <a:lnTo>
                  <a:pt x="831549" y="0"/>
                </a:lnTo>
                <a:lnTo>
                  <a:pt x="831549" y="831550"/>
                </a:lnTo>
                <a:lnTo>
                  <a:pt x="0" y="83155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Freeform 29">
            <a:extLst>
              <a:ext uri="{FF2B5EF4-FFF2-40B4-BE49-F238E27FC236}">
                <a16:creationId xmlns:a16="http://schemas.microsoft.com/office/drawing/2014/main" id="{1F57AD0E-B479-D9CA-EE5F-C91BD3B9AC12}"/>
              </a:ext>
            </a:extLst>
          </p:cNvPr>
          <p:cNvSpPr/>
          <p:nvPr userDrawn="1"/>
        </p:nvSpPr>
        <p:spPr>
          <a:xfrm rot="5400000">
            <a:off x="10906496" y="1790464"/>
            <a:ext cx="975860" cy="711491"/>
          </a:xfrm>
          <a:custGeom>
            <a:avLst/>
            <a:gdLst/>
            <a:ahLst/>
            <a:cxnLst/>
            <a:rect l="l" t="t" r="r" b="b"/>
            <a:pathLst>
              <a:path w="1463790" h="1067236">
                <a:moveTo>
                  <a:pt x="0" y="0"/>
                </a:moveTo>
                <a:lnTo>
                  <a:pt x="1463790" y="0"/>
                </a:lnTo>
                <a:lnTo>
                  <a:pt x="1463790" y="1067236"/>
                </a:lnTo>
                <a:lnTo>
                  <a:pt x="0" y="10672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5" name="Google Shape;111;p29">
            <a:extLst>
              <a:ext uri="{FF2B5EF4-FFF2-40B4-BE49-F238E27FC236}">
                <a16:creationId xmlns:a16="http://schemas.microsoft.com/office/drawing/2014/main" id="{E35E4B48-A034-345E-4146-BBF117784028}"/>
              </a:ext>
            </a:extLst>
          </p:cNvPr>
          <p:cNvSpPr/>
          <p:nvPr userDrawn="1"/>
        </p:nvSpPr>
        <p:spPr>
          <a:xfrm>
            <a:off x="11510490" y="108721"/>
            <a:ext cx="568719" cy="850147"/>
          </a:xfrm>
          <a:custGeom>
            <a:avLst/>
            <a:gdLst/>
            <a:ahLst/>
            <a:cxnLst/>
            <a:rect l="l" t="t" r="r" b="b"/>
            <a:pathLst>
              <a:path w="853079" h="1275221" extrusionOk="0">
                <a:moveTo>
                  <a:pt x="0" y="0"/>
                </a:moveTo>
                <a:lnTo>
                  <a:pt x="853079" y="0"/>
                </a:lnTo>
                <a:lnTo>
                  <a:pt x="853079" y="1275221"/>
                </a:lnTo>
                <a:lnTo>
                  <a:pt x="0" y="12752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21;p12">
            <a:extLst>
              <a:ext uri="{FF2B5EF4-FFF2-40B4-BE49-F238E27FC236}">
                <a16:creationId xmlns:a16="http://schemas.microsoft.com/office/drawing/2014/main" id="{B73B0443-B6A0-691B-391D-8BCE986DFA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046123" y="5445210"/>
            <a:ext cx="6200775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1" i="0" u="none" strike="noStrike" cap="none">
                <a:solidFill>
                  <a:srgbClr val="9200EE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22043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preserve="1">
  <p:cSld name="1_Two Content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oogle Shape;11;p12"/>
          <p:cNvGrpSpPr/>
          <p:nvPr/>
        </p:nvGrpSpPr>
        <p:grpSpPr>
          <a:xfrm>
            <a:off x="7356927" y="-291531"/>
            <a:ext cx="4955403" cy="1496782"/>
            <a:chOff x="0" y="0"/>
            <a:chExt cx="2176125" cy="1599059"/>
          </a:xfrm>
          <a:solidFill>
            <a:srgbClr val="9200EE"/>
          </a:solidFill>
        </p:grpSpPr>
        <p:sp>
          <p:nvSpPr>
            <p:cNvPr id="12" name="Google Shape;12;p12"/>
            <p:cNvSpPr/>
            <p:nvPr/>
          </p:nvSpPr>
          <p:spPr>
            <a:xfrm>
              <a:off x="0" y="0"/>
              <a:ext cx="2173205" cy="1463545"/>
            </a:xfrm>
            <a:custGeom>
              <a:avLst/>
              <a:gdLst/>
              <a:ahLst/>
              <a:cxnLst/>
              <a:rect l="l" t="t" r="r" b="b"/>
              <a:pathLst>
                <a:path w="2173205" h="1463545" extrusionOk="0">
                  <a:moveTo>
                    <a:pt x="0" y="0"/>
                  </a:moveTo>
                  <a:lnTo>
                    <a:pt x="2173205" y="0"/>
                  </a:lnTo>
                  <a:lnTo>
                    <a:pt x="2173205" y="1463545"/>
                  </a:lnTo>
                  <a:lnTo>
                    <a:pt x="0" y="146354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3;p12"/>
            <p:cNvSpPr txBox="1"/>
            <p:nvPr/>
          </p:nvSpPr>
          <p:spPr>
            <a:xfrm>
              <a:off x="2920" y="68839"/>
              <a:ext cx="2173205" cy="153022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" name="Google Shape;14;p12"/>
          <p:cNvGrpSpPr/>
          <p:nvPr/>
        </p:nvGrpSpPr>
        <p:grpSpPr>
          <a:xfrm>
            <a:off x="10481480" y="1205251"/>
            <a:ext cx="1710519" cy="5974483"/>
            <a:chOff x="0" y="-66675"/>
            <a:chExt cx="812800" cy="1715673"/>
          </a:xfrm>
          <a:solidFill>
            <a:srgbClr val="FFA502"/>
          </a:solidFill>
        </p:grpSpPr>
        <p:sp>
          <p:nvSpPr>
            <p:cNvPr id="15" name="Google Shape;15;p12"/>
            <p:cNvSpPr/>
            <p:nvPr/>
          </p:nvSpPr>
          <p:spPr>
            <a:xfrm>
              <a:off x="0" y="0"/>
              <a:ext cx="812800" cy="1648998"/>
            </a:xfrm>
            <a:custGeom>
              <a:avLst/>
              <a:gdLst/>
              <a:ahLst/>
              <a:cxnLst/>
              <a:rect l="l" t="t" r="r" b="b"/>
              <a:pathLst>
                <a:path w="812800" h="1648998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1648998"/>
                  </a:lnTo>
                  <a:lnTo>
                    <a:pt x="0" y="164899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6;p12"/>
            <p:cNvSpPr txBox="1"/>
            <p:nvPr/>
          </p:nvSpPr>
          <p:spPr>
            <a:xfrm>
              <a:off x="0" y="-66675"/>
              <a:ext cx="812800" cy="1715673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" name="Google Shape;17;p12"/>
          <p:cNvSpPr/>
          <p:nvPr/>
        </p:nvSpPr>
        <p:spPr>
          <a:xfrm rot="-5400000">
            <a:off x="6710824" y="3014283"/>
            <a:ext cx="1305505" cy="621895"/>
          </a:xfrm>
          <a:custGeom>
            <a:avLst/>
            <a:gdLst/>
            <a:ahLst/>
            <a:cxnLst/>
            <a:rect l="l" t="t" r="r" b="b"/>
            <a:pathLst>
              <a:path w="1958257" h="932843" extrusionOk="0">
                <a:moveTo>
                  <a:pt x="1958257" y="932843"/>
                </a:moveTo>
                <a:lnTo>
                  <a:pt x="0" y="932843"/>
                </a:lnTo>
                <a:lnTo>
                  <a:pt x="0" y="0"/>
                </a:lnTo>
                <a:lnTo>
                  <a:pt x="1958257" y="0"/>
                </a:lnTo>
                <a:lnTo>
                  <a:pt x="1958257" y="932843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2"/>
          <p:cNvSpPr/>
          <p:nvPr/>
        </p:nvSpPr>
        <p:spPr>
          <a:xfrm>
            <a:off x="11195806" y="408617"/>
            <a:ext cx="554366" cy="554366"/>
          </a:xfrm>
          <a:custGeom>
            <a:avLst/>
            <a:gdLst/>
            <a:ahLst/>
            <a:cxnLst/>
            <a:rect l="l" t="t" r="r" b="b"/>
            <a:pathLst>
              <a:path w="831549" h="831549" extrusionOk="0">
                <a:moveTo>
                  <a:pt x="0" y="0"/>
                </a:moveTo>
                <a:lnTo>
                  <a:pt x="831549" y="0"/>
                </a:lnTo>
                <a:lnTo>
                  <a:pt x="831549" y="831550"/>
                </a:lnTo>
                <a:lnTo>
                  <a:pt x="0" y="83155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2"/>
          <p:cNvSpPr/>
          <p:nvPr/>
        </p:nvSpPr>
        <p:spPr>
          <a:xfrm>
            <a:off x="11174848" y="187546"/>
            <a:ext cx="568719" cy="850147"/>
          </a:xfrm>
          <a:custGeom>
            <a:avLst/>
            <a:gdLst/>
            <a:ahLst/>
            <a:cxnLst/>
            <a:rect l="l" t="t" r="r" b="b"/>
            <a:pathLst>
              <a:path w="853079" h="1275221" extrusionOk="0">
                <a:moveTo>
                  <a:pt x="0" y="0"/>
                </a:moveTo>
                <a:lnTo>
                  <a:pt x="853079" y="0"/>
                </a:lnTo>
                <a:lnTo>
                  <a:pt x="853079" y="1275221"/>
                </a:lnTo>
                <a:lnTo>
                  <a:pt x="0" y="12752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2"/>
          <p:cNvSpPr txBox="1">
            <a:spLocks noGrp="1"/>
          </p:cNvSpPr>
          <p:nvPr>
            <p:ph type="body" idx="1"/>
          </p:nvPr>
        </p:nvSpPr>
        <p:spPr>
          <a:xfrm>
            <a:off x="4046123" y="5445210"/>
            <a:ext cx="6200775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1" i="0" u="none" strike="noStrike" cap="none">
                <a:solidFill>
                  <a:srgbClr val="9200EE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Google Shape;22;p12"/>
          <p:cNvSpPr/>
          <p:nvPr/>
        </p:nvSpPr>
        <p:spPr>
          <a:xfrm rot="5400000">
            <a:off x="10848809" y="5766573"/>
            <a:ext cx="975860" cy="711491"/>
          </a:xfrm>
          <a:custGeom>
            <a:avLst/>
            <a:gdLst/>
            <a:ahLst/>
            <a:cxnLst/>
            <a:rect l="l" t="t" r="r" b="b"/>
            <a:pathLst>
              <a:path w="1463790" h="1067236" extrusionOk="0">
                <a:moveTo>
                  <a:pt x="0" y="0"/>
                </a:moveTo>
                <a:lnTo>
                  <a:pt x="1463790" y="0"/>
                </a:lnTo>
                <a:lnTo>
                  <a:pt x="1463790" y="1067236"/>
                </a:lnTo>
                <a:lnTo>
                  <a:pt x="0" y="10672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15201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preserve="1">
  <p:cSld name="Section 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oogle Shape;24;p13"/>
          <p:cNvGrpSpPr/>
          <p:nvPr/>
        </p:nvGrpSpPr>
        <p:grpSpPr>
          <a:xfrm rot="-5400000">
            <a:off x="129191" y="-596922"/>
            <a:ext cx="6858000" cy="7213232"/>
            <a:chOff x="0" y="-38100"/>
            <a:chExt cx="2709333" cy="2038040"/>
          </a:xfrm>
          <a:solidFill>
            <a:srgbClr val="9200EE"/>
          </a:solidFill>
        </p:grpSpPr>
        <p:sp>
          <p:nvSpPr>
            <p:cNvPr id="25" name="Google Shape;25;p13"/>
            <p:cNvSpPr/>
            <p:nvPr/>
          </p:nvSpPr>
          <p:spPr>
            <a:xfrm>
              <a:off x="0" y="0"/>
              <a:ext cx="2709333" cy="1999940"/>
            </a:xfrm>
            <a:custGeom>
              <a:avLst/>
              <a:gdLst/>
              <a:ahLst/>
              <a:cxnLst/>
              <a:rect l="l" t="t" r="r" b="b"/>
              <a:pathLst>
                <a:path w="2709333" h="1999940" extrusionOk="0">
                  <a:moveTo>
                    <a:pt x="0" y="0"/>
                  </a:moveTo>
                  <a:lnTo>
                    <a:pt x="2709333" y="0"/>
                  </a:lnTo>
                  <a:lnTo>
                    <a:pt x="2709333" y="1999940"/>
                  </a:lnTo>
                  <a:lnTo>
                    <a:pt x="0" y="199994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6" name="Google Shape;26;p13"/>
            <p:cNvSpPr txBox="1"/>
            <p:nvPr/>
          </p:nvSpPr>
          <p:spPr>
            <a:xfrm>
              <a:off x="0" y="-38100"/>
              <a:ext cx="2709333" cy="203804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0032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5" name="Google Shape;55;p13"/>
          <p:cNvCxnSpPr/>
          <p:nvPr/>
        </p:nvCxnSpPr>
        <p:spPr>
          <a:xfrm>
            <a:off x="721166" y="3583795"/>
            <a:ext cx="972113" cy="0"/>
          </a:xfrm>
          <a:prstGeom prst="straightConnector1">
            <a:avLst/>
          </a:prstGeom>
          <a:noFill/>
          <a:ln w="476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681079" y="1600543"/>
            <a:ext cx="5754227" cy="1322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57" name="Google Shape;57;p13"/>
          <p:cNvGrpSpPr/>
          <p:nvPr/>
        </p:nvGrpSpPr>
        <p:grpSpPr>
          <a:xfrm>
            <a:off x="7345273" y="5822962"/>
            <a:ext cx="5500924" cy="1128557"/>
            <a:chOff x="0" y="-66675"/>
            <a:chExt cx="2173205" cy="304202"/>
          </a:xfrm>
        </p:grpSpPr>
        <p:sp>
          <p:nvSpPr>
            <p:cNvPr id="58" name="Google Shape;58;p13"/>
            <p:cNvSpPr/>
            <p:nvPr/>
          </p:nvSpPr>
          <p:spPr>
            <a:xfrm>
              <a:off x="0" y="0"/>
              <a:ext cx="2173205" cy="237527"/>
            </a:xfrm>
            <a:custGeom>
              <a:avLst/>
              <a:gdLst/>
              <a:ahLst/>
              <a:cxnLst/>
              <a:rect l="l" t="t" r="r" b="b"/>
              <a:pathLst>
                <a:path w="2173205" h="237527" extrusionOk="0">
                  <a:moveTo>
                    <a:pt x="0" y="0"/>
                  </a:moveTo>
                  <a:lnTo>
                    <a:pt x="2173205" y="0"/>
                  </a:lnTo>
                  <a:lnTo>
                    <a:pt x="2173205" y="237527"/>
                  </a:lnTo>
                  <a:lnTo>
                    <a:pt x="0" y="237527"/>
                  </a:lnTo>
                  <a:close/>
                </a:path>
              </a:pathLst>
            </a:custGeom>
            <a:solidFill>
              <a:srgbClr val="F8CF4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59;p13"/>
            <p:cNvSpPr txBox="1"/>
            <p:nvPr/>
          </p:nvSpPr>
          <p:spPr>
            <a:xfrm>
              <a:off x="0" y="-66675"/>
              <a:ext cx="2173205" cy="3042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0" name="Google Shape;60;p13"/>
          <p:cNvGrpSpPr/>
          <p:nvPr/>
        </p:nvGrpSpPr>
        <p:grpSpPr>
          <a:xfrm>
            <a:off x="-214251" y="5796238"/>
            <a:ext cx="9910341" cy="1155281"/>
            <a:chOff x="0" y="-66675"/>
            <a:chExt cx="3130268" cy="304202"/>
          </a:xfrm>
          <a:solidFill>
            <a:srgbClr val="FFA502"/>
          </a:solidFill>
        </p:grpSpPr>
        <p:sp>
          <p:nvSpPr>
            <p:cNvPr id="61" name="Google Shape;61;p13"/>
            <p:cNvSpPr/>
            <p:nvPr/>
          </p:nvSpPr>
          <p:spPr>
            <a:xfrm>
              <a:off x="0" y="0"/>
              <a:ext cx="3130268" cy="237527"/>
            </a:xfrm>
            <a:custGeom>
              <a:avLst/>
              <a:gdLst/>
              <a:ahLst/>
              <a:cxnLst/>
              <a:rect l="l" t="t" r="r" b="b"/>
              <a:pathLst>
                <a:path w="3130268" h="237527" extrusionOk="0">
                  <a:moveTo>
                    <a:pt x="0" y="0"/>
                  </a:moveTo>
                  <a:lnTo>
                    <a:pt x="3130268" y="0"/>
                  </a:lnTo>
                  <a:lnTo>
                    <a:pt x="3130268" y="237527"/>
                  </a:lnTo>
                  <a:lnTo>
                    <a:pt x="0" y="23752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62;p13"/>
            <p:cNvSpPr txBox="1"/>
            <p:nvPr/>
          </p:nvSpPr>
          <p:spPr>
            <a:xfrm>
              <a:off x="0" y="-66675"/>
              <a:ext cx="3130268" cy="30420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" name="Google Shape;64;p13"/>
          <p:cNvSpPr/>
          <p:nvPr userDrawn="1"/>
        </p:nvSpPr>
        <p:spPr>
          <a:xfrm>
            <a:off x="396720" y="260603"/>
            <a:ext cx="568719" cy="850147"/>
          </a:xfrm>
          <a:custGeom>
            <a:avLst/>
            <a:gdLst/>
            <a:ahLst/>
            <a:cxnLst/>
            <a:rect l="l" t="t" r="r" b="b"/>
            <a:pathLst>
              <a:path w="853079" h="1275221" extrusionOk="0">
                <a:moveTo>
                  <a:pt x="0" y="0"/>
                </a:moveTo>
                <a:lnTo>
                  <a:pt x="853079" y="0"/>
                </a:lnTo>
                <a:lnTo>
                  <a:pt x="853079" y="1275221"/>
                </a:lnTo>
                <a:lnTo>
                  <a:pt x="0" y="12752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96883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preserve="1">
  <p:cSld name="Content with Caption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oogle Shape;66;p14"/>
          <p:cNvGrpSpPr/>
          <p:nvPr/>
        </p:nvGrpSpPr>
        <p:grpSpPr>
          <a:xfrm>
            <a:off x="7345273" y="-305129"/>
            <a:ext cx="5500924" cy="1753054"/>
            <a:chOff x="0" y="-66675"/>
            <a:chExt cx="2173205" cy="1530220"/>
          </a:xfrm>
          <a:solidFill>
            <a:srgbClr val="9200EE"/>
          </a:solidFill>
        </p:grpSpPr>
        <p:sp>
          <p:nvSpPr>
            <p:cNvPr id="67" name="Google Shape;67;p14"/>
            <p:cNvSpPr/>
            <p:nvPr/>
          </p:nvSpPr>
          <p:spPr>
            <a:xfrm>
              <a:off x="0" y="0"/>
              <a:ext cx="2173205" cy="1463545"/>
            </a:xfrm>
            <a:custGeom>
              <a:avLst/>
              <a:gdLst/>
              <a:ahLst/>
              <a:cxnLst/>
              <a:rect l="l" t="t" r="r" b="b"/>
              <a:pathLst>
                <a:path w="2173205" h="1463545" extrusionOk="0">
                  <a:moveTo>
                    <a:pt x="0" y="0"/>
                  </a:moveTo>
                  <a:lnTo>
                    <a:pt x="2173205" y="0"/>
                  </a:lnTo>
                  <a:lnTo>
                    <a:pt x="2173205" y="1463545"/>
                  </a:lnTo>
                  <a:lnTo>
                    <a:pt x="0" y="146354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68;p14"/>
            <p:cNvSpPr txBox="1"/>
            <p:nvPr/>
          </p:nvSpPr>
          <p:spPr>
            <a:xfrm>
              <a:off x="0" y="-66675"/>
              <a:ext cx="2173205" cy="153022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9" name="Google Shape;69;p14"/>
          <p:cNvGrpSpPr/>
          <p:nvPr/>
        </p:nvGrpSpPr>
        <p:grpSpPr>
          <a:xfrm>
            <a:off x="-210725" y="-372106"/>
            <a:ext cx="8082365" cy="1820030"/>
            <a:chOff x="0" y="-66675"/>
            <a:chExt cx="3193033" cy="1530220"/>
          </a:xfrm>
          <a:solidFill>
            <a:srgbClr val="FFA502"/>
          </a:solidFill>
        </p:grpSpPr>
        <p:sp>
          <p:nvSpPr>
            <p:cNvPr id="70" name="Google Shape;70;p14"/>
            <p:cNvSpPr/>
            <p:nvPr/>
          </p:nvSpPr>
          <p:spPr>
            <a:xfrm>
              <a:off x="0" y="0"/>
              <a:ext cx="3193033" cy="1463545"/>
            </a:xfrm>
            <a:custGeom>
              <a:avLst/>
              <a:gdLst/>
              <a:ahLst/>
              <a:cxnLst/>
              <a:rect l="l" t="t" r="r" b="b"/>
              <a:pathLst>
                <a:path w="3193033" h="1463545" extrusionOk="0">
                  <a:moveTo>
                    <a:pt x="0" y="0"/>
                  </a:moveTo>
                  <a:lnTo>
                    <a:pt x="3193033" y="0"/>
                  </a:lnTo>
                  <a:lnTo>
                    <a:pt x="3193033" y="1463545"/>
                  </a:lnTo>
                  <a:lnTo>
                    <a:pt x="0" y="146354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FFA50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71;p14"/>
            <p:cNvSpPr txBox="1"/>
            <p:nvPr/>
          </p:nvSpPr>
          <p:spPr>
            <a:xfrm>
              <a:off x="0" y="-66675"/>
              <a:ext cx="3193033" cy="153022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FFA50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2" name="Google Shape;72;p14"/>
          <p:cNvGrpSpPr/>
          <p:nvPr/>
        </p:nvGrpSpPr>
        <p:grpSpPr>
          <a:xfrm>
            <a:off x="11354952" y="1530002"/>
            <a:ext cx="872320" cy="5898950"/>
            <a:chOff x="0" y="-66675"/>
            <a:chExt cx="812800" cy="1715673"/>
          </a:xfrm>
          <a:solidFill>
            <a:srgbClr val="FFA502"/>
          </a:solidFill>
        </p:grpSpPr>
        <p:sp>
          <p:nvSpPr>
            <p:cNvPr id="73" name="Google Shape;73;p14"/>
            <p:cNvSpPr/>
            <p:nvPr/>
          </p:nvSpPr>
          <p:spPr>
            <a:xfrm>
              <a:off x="0" y="0"/>
              <a:ext cx="812800" cy="1648998"/>
            </a:xfrm>
            <a:custGeom>
              <a:avLst/>
              <a:gdLst/>
              <a:ahLst/>
              <a:cxnLst/>
              <a:rect l="l" t="t" r="r" b="b"/>
              <a:pathLst>
                <a:path w="812800" h="1648998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1648998"/>
                  </a:lnTo>
                  <a:lnTo>
                    <a:pt x="0" y="164899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74;p14"/>
            <p:cNvSpPr txBox="1"/>
            <p:nvPr/>
          </p:nvSpPr>
          <p:spPr>
            <a:xfrm>
              <a:off x="0" y="-66675"/>
              <a:ext cx="812800" cy="1715673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5" name="Google Shape;75;p14"/>
          <p:cNvSpPr/>
          <p:nvPr/>
        </p:nvSpPr>
        <p:spPr>
          <a:xfrm rot="-5400000">
            <a:off x="6710824" y="5208501"/>
            <a:ext cx="1305505" cy="621895"/>
          </a:xfrm>
          <a:custGeom>
            <a:avLst/>
            <a:gdLst/>
            <a:ahLst/>
            <a:cxnLst/>
            <a:rect l="l" t="t" r="r" b="b"/>
            <a:pathLst>
              <a:path w="1958257" h="932843" extrusionOk="0">
                <a:moveTo>
                  <a:pt x="1958257" y="932843"/>
                </a:moveTo>
                <a:lnTo>
                  <a:pt x="0" y="932843"/>
                </a:lnTo>
                <a:lnTo>
                  <a:pt x="0" y="0"/>
                </a:lnTo>
                <a:lnTo>
                  <a:pt x="1958257" y="0"/>
                </a:lnTo>
                <a:lnTo>
                  <a:pt x="1958257" y="932843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4"/>
          <p:cNvSpPr/>
          <p:nvPr/>
        </p:nvSpPr>
        <p:spPr>
          <a:xfrm>
            <a:off x="11195806" y="408617"/>
            <a:ext cx="554366" cy="554366"/>
          </a:xfrm>
          <a:custGeom>
            <a:avLst/>
            <a:gdLst/>
            <a:ahLst/>
            <a:cxnLst/>
            <a:rect l="l" t="t" r="r" b="b"/>
            <a:pathLst>
              <a:path w="831549" h="831549" extrusionOk="0">
                <a:moveTo>
                  <a:pt x="0" y="0"/>
                </a:moveTo>
                <a:lnTo>
                  <a:pt x="831549" y="0"/>
                </a:lnTo>
                <a:lnTo>
                  <a:pt x="831549" y="831550"/>
                </a:lnTo>
                <a:lnTo>
                  <a:pt x="0" y="83155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4"/>
          <p:cNvSpPr/>
          <p:nvPr/>
        </p:nvSpPr>
        <p:spPr>
          <a:xfrm>
            <a:off x="11506753" y="112836"/>
            <a:ext cx="568719" cy="850147"/>
          </a:xfrm>
          <a:custGeom>
            <a:avLst/>
            <a:gdLst/>
            <a:ahLst/>
            <a:cxnLst/>
            <a:rect l="l" t="t" r="r" b="b"/>
            <a:pathLst>
              <a:path w="853079" h="1275221" extrusionOk="0">
                <a:moveTo>
                  <a:pt x="0" y="0"/>
                </a:moveTo>
                <a:lnTo>
                  <a:pt x="853079" y="0"/>
                </a:lnTo>
                <a:lnTo>
                  <a:pt x="853079" y="1275221"/>
                </a:lnTo>
                <a:lnTo>
                  <a:pt x="0" y="12752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4"/>
          <p:cNvSpPr txBox="1">
            <a:spLocks noGrp="1"/>
          </p:cNvSpPr>
          <p:nvPr>
            <p:ph type="body" idx="1"/>
          </p:nvPr>
        </p:nvSpPr>
        <p:spPr>
          <a:xfrm>
            <a:off x="466887" y="70063"/>
            <a:ext cx="6200775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1" i="0" u="none" strike="noStrike" cap="none">
                <a:solidFill>
                  <a:srgbClr val="9200EE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" name="Google Shape;80;p14"/>
          <p:cNvSpPr/>
          <p:nvPr/>
        </p:nvSpPr>
        <p:spPr>
          <a:xfrm rot="-5400000">
            <a:off x="11173979" y="4555748"/>
            <a:ext cx="1305505" cy="621895"/>
          </a:xfrm>
          <a:custGeom>
            <a:avLst/>
            <a:gdLst/>
            <a:ahLst/>
            <a:cxnLst/>
            <a:rect l="l" t="t" r="r" b="b"/>
            <a:pathLst>
              <a:path w="1958257" h="932843" extrusionOk="0">
                <a:moveTo>
                  <a:pt x="1958257" y="932843"/>
                </a:moveTo>
                <a:lnTo>
                  <a:pt x="0" y="932843"/>
                </a:lnTo>
                <a:lnTo>
                  <a:pt x="0" y="0"/>
                </a:lnTo>
                <a:lnTo>
                  <a:pt x="1958257" y="0"/>
                </a:lnTo>
                <a:lnTo>
                  <a:pt x="1958257" y="932843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81" name="Google Shape;81;p14"/>
          <p:cNvSpPr/>
          <p:nvPr/>
        </p:nvSpPr>
        <p:spPr>
          <a:xfrm rot="5400000">
            <a:off x="6812951" y="202248"/>
            <a:ext cx="975860" cy="711491"/>
          </a:xfrm>
          <a:custGeom>
            <a:avLst/>
            <a:gdLst/>
            <a:ahLst/>
            <a:cxnLst/>
            <a:rect l="l" t="t" r="r" b="b"/>
            <a:pathLst>
              <a:path w="1463790" h="1067236" extrusionOk="0">
                <a:moveTo>
                  <a:pt x="0" y="0"/>
                </a:moveTo>
                <a:lnTo>
                  <a:pt x="1463790" y="0"/>
                </a:lnTo>
                <a:lnTo>
                  <a:pt x="1463790" y="1067236"/>
                </a:lnTo>
                <a:lnTo>
                  <a:pt x="0" y="10672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5792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" preserve="1">
  <p:cSld name="Diseño personalizado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oogle Shape;83;p15"/>
          <p:cNvGrpSpPr/>
          <p:nvPr/>
        </p:nvGrpSpPr>
        <p:grpSpPr>
          <a:xfrm>
            <a:off x="7345273" y="5796238"/>
            <a:ext cx="5500924" cy="1128557"/>
            <a:chOff x="0" y="-66675"/>
            <a:chExt cx="2173205" cy="304202"/>
          </a:xfrm>
          <a:solidFill>
            <a:srgbClr val="FFA502"/>
          </a:solidFill>
        </p:grpSpPr>
        <p:sp>
          <p:nvSpPr>
            <p:cNvPr id="84" name="Google Shape;84;p15"/>
            <p:cNvSpPr/>
            <p:nvPr/>
          </p:nvSpPr>
          <p:spPr>
            <a:xfrm>
              <a:off x="0" y="0"/>
              <a:ext cx="2173205" cy="237527"/>
            </a:xfrm>
            <a:custGeom>
              <a:avLst/>
              <a:gdLst/>
              <a:ahLst/>
              <a:cxnLst/>
              <a:rect l="l" t="t" r="r" b="b"/>
              <a:pathLst>
                <a:path w="2173205" h="237527" extrusionOk="0">
                  <a:moveTo>
                    <a:pt x="0" y="0"/>
                  </a:moveTo>
                  <a:lnTo>
                    <a:pt x="2173205" y="0"/>
                  </a:lnTo>
                  <a:lnTo>
                    <a:pt x="2173205" y="237527"/>
                  </a:lnTo>
                  <a:lnTo>
                    <a:pt x="0" y="23752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FFA50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85;p15"/>
            <p:cNvSpPr txBox="1"/>
            <p:nvPr/>
          </p:nvSpPr>
          <p:spPr>
            <a:xfrm>
              <a:off x="0" y="-66675"/>
              <a:ext cx="2173205" cy="30420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FFA50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6" name="Google Shape;86;p15"/>
          <p:cNvGrpSpPr/>
          <p:nvPr/>
        </p:nvGrpSpPr>
        <p:grpSpPr>
          <a:xfrm>
            <a:off x="-214250" y="5769514"/>
            <a:ext cx="7923490" cy="1155281"/>
            <a:chOff x="0" y="-66675"/>
            <a:chExt cx="3130268" cy="304202"/>
          </a:xfrm>
          <a:solidFill>
            <a:srgbClr val="9200EE"/>
          </a:solidFill>
        </p:grpSpPr>
        <p:sp>
          <p:nvSpPr>
            <p:cNvPr id="87" name="Google Shape;87;p15"/>
            <p:cNvSpPr/>
            <p:nvPr/>
          </p:nvSpPr>
          <p:spPr>
            <a:xfrm>
              <a:off x="0" y="0"/>
              <a:ext cx="3130268" cy="237527"/>
            </a:xfrm>
            <a:custGeom>
              <a:avLst/>
              <a:gdLst/>
              <a:ahLst/>
              <a:cxnLst/>
              <a:rect l="l" t="t" r="r" b="b"/>
              <a:pathLst>
                <a:path w="3130268" h="237527" extrusionOk="0">
                  <a:moveTo>
                    <a:pt x="0" y="0"/>
                  </a:moveTo>
                  <a:lnTo>
                    <a:pt x="3130268" y="0"/>
                  </a:lnTo>
                  <a:lnTo>
                    <a:pt x="3130268" y="237527"/>
                  </a:lnTo>
                  <a:lnTo>
                    <a:pt x="0" y="23752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9200EE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" name="Google Shape;88;p15"/>
            <p:cNvSpPr txBox="1"/>
            <p:nvPr/>
          </p:nvSpPr>
          <p:spPr>
            <a:xfrm>
              <a:off x="0" y="-66675"/>
              <a:ext cx="3130268" cy="30420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9200EE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9" name="Google Shape;89;p15"/>
          <p:cNvGrpSpPr/>
          <p:nvPr/>
        </p:nvGrpSpPr>
        <p:grpSpPr>
          <a:xfrm>
            <a:off x="10672549" y="183036"/>
            <a:ext cx="1588356" cy="3245964"/>
            <a:chOff x="0" y="-66675"/>
            <a:chExt cx="812800" cy="1282356"/>
          </a:xfrm>
          <a:solidFill>
            <a:srgbClr val="9200EE"/>
          </a:solidFill>
        </p:grpSpPr>
        <p:sp>
          <p:nvSpPr>
            <p:cNvPr id="90" name="Google Shape;90;p15"/>
            <p:cNvSpPr/>
            <p:nvPr/>
          </p:nvSpPr>
          <p:spPr>
            <a:xfrm>
              <a:off x="0" y="0"/>
              <a:ext cx="812800" cy="1215681"/>
            </a:xfrm>
            <a:custGeom>
              <a:avLst/>
              <a:gdLst/>
              <a:ahLst/>
              <a:cxnLst/>
              <a:rect l="l" t="t" r="r" b="b"/>
              <a:pathLst>
                <a:path w="812800" h="1215681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1215681"/>
                  </a:lnTo>
                  <a:lnTo>
                    <a:pt x="0" y="121568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9200EE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15"/>
            <p:cNvSpPr txBox="1"/>
            <p:nvPr/>
          </p:nvSpPr>
          <p:spPr>
            <a:xfrm>
              <a:off x="0" y="-66675"/>
              <a:ext cx="812800" cy="1282356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9200EE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2" name="Google Shape;92;p15"/>
          <p:cNvGrpSpPr/>
          <p:nvPr/>
        </p:nvGrpSpPr>
        <p:grpSpPr>
          <a:xfrm>
            <a:off x="6409012" y="-469391"/>
            <a:ext cx="6017501" cy="928464"/>
            <a:chOff x="0" y="-66675"/>
            <a:chExt cx="2377284" cy="366801"/>
          </a:xfrm>
          <a:solidFill>
            <a:srgbClr val="FFA502"/>
          </a:solidFill>
        </p:grpSpPr>
        <p:sp>
          <p:nvSpPr>
            <p:cNvPr id="93" name="Google Shape;93;p15"/>
            <p:cNvSpPr/>
            <p:nvPr/>
          </p:nvSpPr>
          <p:spPr>
            <a:xfrm>
              <a:off x="0" y="0"/>
              <a:ext cx="2377284" cy="300126"/>
            </a:xfrm>
            <a:custGeom>
              <a:avLst/>
              <a:gdLst/>
              <a:ahLst/>
              <a:cxnLst/>
              <a:rect l="l" t="t" r="r" b="b"/>
              <a:pathLst>
                <a:path w="2377284" h="300126" extrusionOk="0">
                  <a:moveTo>
                    <a:pt x="0" y="0"/>
                  </a:moveTo>
                  <a:lnTo>
                    <a:pt x="2377284" y="0"/>
                  </a:lnTo>
                  <a:lnTo>
                    <a:pt x="2377284" y="300126"/>
                  </a:lnTo>
                  <a:lnTo>
                    <a:pt x="0" y="30012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FFA50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15"/>
            <p:cNvSpPr txBox="1"/>
            <p:nvPr/>
          </p:nvSpPr>
          <p:spPr>
            <a:xfrm>
              <a:off x="0" y="-66675"/>
              <a:ext cx="2377284" cy="366801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FFA50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5" name="Google Shape;95;p15"/>
          <p:cNvSpPr/>
          <p:nvPr/>
        </p:nvSpPr>
        <p:spPr>
          <a:xfrm>
            <a:off x="11229017" y="592812"/>
            <a:ext cx="554366" cy="554366"/>
          </a:xfrm>
          <a:custGeom>
            <a:avLst/>
            <a:gdLst/>
            <a:ahLst/>
            <a:cxnLst/>
            <a:rect l="l" t="t" r="r" b="b"/>
            <a:pathLst>
              <a:path w="831549" h="831549" extrusionOk="0">
                <a:moveTo>
                  <a:pt x="0" y="0"/>
                </a:moveTo>
                <a:lnTo>
                  <a:pt x="831550" y="0"/>
                </a:lnTo>
                <a:lnTo>
                  <a:pt x="831550" y="831549"/>
                </a:lnTo>
                <a:lnTo>
                  <a:pt x="0" y="831549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5"/>
          <p:cNvSpPr/>
          <p:nvPr/>
        </p:nvSpPr>
        <p:spPr>
          <a:xfrm>
            <a:off x="137804" y="5936207"/>
            <a:ext cx="568719" cy="850147"/>
          </a:xfrm>
          <a:custGeom>
            <a:avLst/>
            <a:gdLst/>
            <a:ahLst/>
            <a:cxnLst/>
            <a:rect l="l" t="t" r="r" b="b"/>
            <a:pathLst>
              <a:path w="853079" h="1275221" extrusionOk="0">
                <a:moveTo>
                  <a:pt x="0" y="0"/>
                </a:moveTo>
                <a:lnTo>
                  <a:pt x="853079" y="0"/>
                </a:lnTo>
                <a:lnTo>
                  <a:pt x="853079" y="1275221"/>
                </a:lnTo>
                <a:lnTo>
                  <a:pt x="0" y="12752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5"/>
          <p:cNvSpPr txBox="1">
            <a:spLocks noGrp="1"/>
          </p:cNvSpPr>
          <p:nvPr>
            <p:ph type="body" idx="1"/>
          </p:nvPr>
        </p:nvSpPr>
        <p:spPr>
          <a:xfrm>
            <a:off x="208237" y="347010"/>
            <a:ext cx="6200775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1" i="0" u="none" strike="noStrike" cap="none">
                <a:solidFill>
                  <a:srgbClr val="9200EE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9" name="Google Shape;99;p15"/>
          <p:cNvSpPr/>
          <p:nvPr/>
        </p:nvSpPr>
        <p:spPr>
          <a:xfrm rot="-5400000">
            <a:off x="10920105" y="4443434"/>
            <a:ext cx="1305505" cy="621895"/>
          </a:xfrm>
          <a:custGeom>
            <a:avLst/>
            <a:gdLst/>
            <a:ahLst/>
            <a:cxnLst/>
            <a:rect l="l" t="t" r="r" b="b"/>
            <a:pathLst>
              <a:path w="1958257" h="932843" extrusionOk="0">
                <a:moveTo>
                  <a:pt x="1958257" y="932843"/>
                </a:moveTo>
                <a:lnTo>
                  <a:pt x="0" y="932843"/>
                </a:lnTo>
                <a:lnTo>
                  <a:pt x="0" y="0"/>
                </a:lnTo>
                <a:lnTo>
                  <a:pt x="1958257" y="0"/>
                </a:lnTo>
                <a:lnTo>
                  <a:pt x="1958257" y="932843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00" name="Google Shape;100;p15"/>
          <p:cNvSpPr/>
          <p:nvPr/>
        </p:nvSpPr>
        <p:spPr>
          <a:xfrm rot="5400000">
            <a:off x="11018269" y="1763019"/>
            <a:ext cx="975860" cy="711491"/>
          </a:xfrm>
          <a:custGeom>
            <a:avLst/>
            <a:gdLst/>
            <a:ahLst/>
            <a:cxnLst/>
            <a:rect l="l" t="t" r="r" b="b"/>
            <a:pathLst>
              <a:path w="1463790" h="1067236" extrusionOk="0">
                <a:moveTo>
                  <a:pt x="0" y="0"/>
                </a:moveTo>
                <a:lnTo>
                  <a:pt x="1463790" y="0"/>
                </a:lnTo>
                <a:lnTo>
                  <a:pt x="1463790" y="1067236"/>
                </a:lnTo>
                <a:lnTo>
                  <a:pt x="0" y="10672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09270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preserve="1">
  <p:cSld name="Title and Vertical Tex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16"/>
          <p:cNvGrpSpPr/>
          <p:nvPr/>
        </p:nvGrpSpPr>
        <p:grpSpPr>
          <a:xfrm>
            <a:off x="-57256" y="-304607"/>
            <a:ext cx="1071367" cy="7911036"/>
            <a:chOff x="0" y="-66675"/>
            <a:chExt cx="812800" cy="3125347"/>
          </a:xfrm>
          <a:solidFill>
            <a:srgbClr val="FFA502"/>
          </a:solidFill>
        </p:grpSpPr>
        <p:sp>
          <p:nvSpPr>
            <p:cNvPr id="103" name="Google Shape;103;p16"/>
            <p:cNvSpPr/>
            <p:nvPr/>
          </p:nvSpPr>
          <p:spPr>
            <a:xfrm>
              <a:off x="0" y="0"/>
              <a:ext cx="812800" cy="3058672"/>
            </a:xfrm>
            <a:custGeom>
              <a:avLst/>
              <a:gdLst/>
              <a:ahLst/>
              <a:cxnLst/>
              <a:rect l="l" t="t" r="r" b="b"/>
              <a:pathLst>
                <a:path w="812800" h="3058672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3058672"/>
                  </a:lnTo>
                  <a:lnTo>
                    <a:pt x="0" y="305867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16"/>
            <p:cNvSpPr txBox="1"/>
            <p:nvPr/>
          </p:nvSpPr>
          <p:spPr>
            <a:xfrm>
              <a:off x="0" y="-66675"/>
              <a:ext cx="812800" cy="3125347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5" name="Google Shape;105;p16"/>
          <p:cNvGrpSpPr/>
          <p:nvPr/>
        </p:nvGrpSpPr>
        <p:grpSpPr>
          <a:xfrm>
            <a:off x="7345273" y="6181508"/>
            <a:ext cx="5500924" cy="770010"/>
            <a:chOff x="0" y="-66675"/>
            <a:chExt cx="2173205" cy="304202"/>
          </a:xfrm>
          <a:solidFill>
            <a:srgbClr val="9200EE"/>
          </a:solidFill>
        </p:grpSpPr>
        <p:sp>
          <p:nvSpPr>
            <p:cNvPr id="106" name="Google Shape;106;p16"/>
            <p:cNvSpPr/>
            <p:nvPr/>
          </p:nvSpPr>
          <p:spPr>
            <a:xfrm>
              <a:off x="0" y="0"/>
              <a:ext cx="2173205" cy="237527"/>
            </a:xfrm>
            <a:custGeom>
              <a:avLst/>
              <a:gdLst/>
              <a:ahLst/>
              <a:cxnLst/>
              <a:rect l="l" t="t" r="r" b="b"/>
              <a:pathLst>
                <a:path w="2173205" h="237527" extrusionOk="0">
                  <a:moveTo>
                    <a:pt x="0" y="0"/>
                  </a:moveTo>
                  <a:lnTo>
                    <a:pt x="2173205" y="0"/>
                  </a:lnTo>
                  <a:lnTo>
                    <a:pt x="2173205" y="237527"/>
                  </a:lnTo>
                  <a:lnTo>
                    <a:pt x="0" y="23752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16"/>
            <p:cNvSpPr txBox="1"/>
            <p:nvPr/>
          </p:nvSpPr>
          <p:spPr>
            <a:xfrm>
              <a:off x="0" y="-66675"/>
              <a:ext cx="2173205" cy="30420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8" name="Google Shape;108;p16"/>
          <p:cNvGrpSpPr/>
          <p:nvPr/>
        </p:nvGrpSpPr>
        <p:grpSpPr>
          <a:xfrm>
            <a:off x="-214250" y="6181508"/>
            <a:ext cx="7923490" cy="770010"/>
            <a:chOff x="0" y="-66675"/>
            <a:chExt cx="3130268" cy="304202"/>
          </a:xfrm>
          <a:solidFill>
            <a:srgbClr val="FFA502"/>
          </a:solidFill>
        </p:grpSpPr>
        <p:sp>
          <p:nvSpPr>
            <p:cNvPr id="109" name="Google Shape;109;p16"/>
            <p:cNvSpPr/>
            <p:nvPr/>
          </p:nvSpPr>
          <p:spPr>
            <a:xfrm>
              <a:off x="0" y="0"/>
              <a:ext cx="3130268" cy="237527"/>
            </a:xfrm>
            <a:custGeom>
              <a:avLst/>
              <a:gdLst/>
              <a:ahLst/>
              <a:cxnLst/>
              <a:rect l="l" t="t" r="r" b="b"/>
              <a:pathLst>
                <a:path w="3130268" h="237527" extrusionOk="0">
                  <a:moveTo>
                    <a:pt x="0" y="0"/>
                  </a:moveTo>
                  <a:lnTo>
                    <a:pt x="3130268" y="0"/>
                  </a:lnTo>
                  <a:lnTo>
                    <a:pt x="3130268" y="237527"/>
                  </a:lnTo>
                  <a:lnTo>
                    <a:pt x="0" y="23752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16"/>
            <p:cNvSpPr txBox="1"/>
            <p:nvPr/>
          </p:nvSpPr>
          <p:spPr>
            <a:xfrm>
              <a:off x="0" y="-66675"/>
              <a:ext cx="3130268" cy="30420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1" name="Google Shape;111;p16"/>
          <p:cNvGrpSpPr/>
          <p:nvPr/>
        </p:nvGrpSpPr>
        <p:grpSpPr>
          <a:xfrm>
            <a:off x="-1945948" y="-386487"/>
            <a:ext cx="6017501" cy="1305587"/>
            <a:chOff x="0" y="-66675"/>
            <a:chExt cx="2377284" cy="366801"/>
          </a:xfrm>
          <a:solidFill>
            <a:srgbClr val="9200EE"/>
          </a:solidFill>
        </p:grpSpPr>
        <p:sp>
          <p:nvSpPr>
            <p:cNvPr id="112" name="Google Shape;112;p16"/>
            <p:cNvSpPr/>
            <p:nvPr/>
          </p:nvSpPr>
          <p:spPr>
            <a:xfrm>
              <a:off x="0" y="0"/>
              <a:ext cx="2377284" cy="300126"/>
            </a:xfrm>
            <a:custGeom>
              <a:avLst/>
              <a:gdLst/>
              <a:ahLst/>
              <a:cxnLst/>
              <a:rect l="l" t="t" r="r" b="b"/>
              <a:pathLst>
                <a:path w="2377284" h="300126" extrusionOk="0">
                  <a:moveTo>
                    <a:pt x="0" y="0"/>
                  </a:moveTo>
                  <a:lnTo>
                    <a:pt x="2377284" y="0"/>
                  </a:lnTo>
                  <a:lnTo>
                    <a:pt x="2377284" y="300126"/>
                  </a:lnTo>
                  <a:lnTo>
                    <a:pt x="0" y="30012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16"/>
            <p:cNvSpPr txBox="1"/>
            <p:nvPr/>
          </p:nvSpPr>
          <p:spPr>
            <a:xfrm>
              <a:off x="0" y="-66675"/>
              <a:ext cx="2377284" cy="366801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4" name="Google Shape;114;p16"/>
          <p:cNvGrpSpPr/>
          <p:nvPr/>
        </p:nvGrpSpPr>
        <p:grpSpPr>
          <a:xfrm>
            <a:off x="7580418" y="954523"/>
            <a:ext cx="3327879" cy="4862580"/>
            <a:chOff x="0" y="-66675"/>
            <a:chExt cx="1151733" cy="1682872"/>
          </a:xfrm>
        </p:grpSpPr>
        <p:sp>
          <p:nvSpPr>
            <p:cNvPr id="115" name="Google Shape;115;p16"/>
            <p:cNvSpPr/>
            <p:nvPr/>
          </p:nvSpPr>
          <p:spPr>
            <a:xfrm>
              <a:off x="0" y="0"/>
              <a:ext cx="1151733" cy="1616197"/>
            </a:xfrm>
            <a:custGeom>
              <a:avLst/>
              <a:gdLst/>
              <a:ahLst/>
              <a:cxnLst/>
              <a:rect l="l" t="t" r="r" b="b"/>
              <a:pathLst>
                <a:path w="1151733" h="1616197" extrusionOk="0">
                  <a:moveTo>
                    <a:pt x="0" y="0"/>
                  </a:moveTo>
                  <a:lnTo>
                    <a:pt x="1151733" y="0"/>
                  </a:lnTo>
                  <a:lnTo>
                    <a:pt x="1151733" y="1616197"/>
                  </a:lnTo>
                  <a:lnTo>
                    <a:pt x="0" y="161619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16"/>
            <p:cNvSpPr txBox="1"/>
            <p:nvPr/>
          </p:nvSpPr>
          <p:spPr>
            <a:xfrm>
              <a:off x="0" y="-66675"/>
              <a:ext cx="1151733" cy="16828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16"/>
          <p:cNvSpPr/>
          <p:nvPr/>
        </p:nvSpPr>
        <p:spPr>
          <a:xfrm>
            <a:off x="11229017" y="592812"/>
            <a:ext cx="554366" cy="554366"/>
          </a:xfrm>
          <a:custGeom>
            <a:avLst/>
            <a:gdLst/>
            <a:ahLst/>
            <a:cxnLst/>
            <a:rect l="l" t="t" r="r" b="b"/>
            <a:pathLst>
              <a:path w="831549" h="831549" extrusionOk="0">
                <a:moveTo>
                  <a:pt x="0" y="0"/>
                </a:moveTo>
                <a:lnTo>
                  <a:pt x="831550" y="0"/>
                </a:lnTo>
                <a:lnTo>
                  <a:pt x="831550" y="831549"/>
                </a:lnTo>
                <a:lnTo>
                  <a:pt x="0" y="831549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/>
          <p:nvPr/>
        </p:nvSpPr>
        <p:spPr>
          <a:xfrm>
            <a:off x="141359" y="-40107"/>
            <a:ext cx="568719" cy="850147"/>
          </a:xfrm>
          <a:custGeom>
            <a:avLst/>
            <a:gdLst/>
            <a:ahLst/>
            <a:cxnLst/>
            <a:rect l="l" t="t" r="r" b="b"/>
            <a:pathLst>
              <a:path w="853079" h="1275221" extrusionOk="0">
                <a:moveTo>
                  <a:pt x="0" y="0"/>
                </a:moveTo>
                <a:lnTo>
                  <a:pt x="853079" y="0"/>
                </a:lnTo>
                <a:lnTo>
                  <a:pt x="853079" y="1275221"/>
                </a:lnTo>
                <a:lnTo>
                  <a:pt x="0" y="12752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6"/>
          <p:cNvSpPr txBox="1">
            <a:spLocks noGrp="1"/>
          </p:cNvSpPr>
          <p:nvPr>
            <p:ph type="body" idx="1"/>
          </p:nvPr>
        </p:nvSpPr>
        <p:spPr>
          <a:xfrm>
            <a:off x="4307835" y="181088"/>
            <a:ext cx="7119414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1" i="0" u="none" strike="noStrike" cap="none">
                <a:solidFill>
                  <a:srgbClr val="9200EE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2" name="Google Shape;122;p16"/>
          <p:cNvSpPr/>
          <p:nvPr/>
        </p:nvSpPr>
        <p:spPr>
          <a:xfrm rot="5400000">
            <a:off x="11062218" y="5219172"/>
            <a:ext cx="975860" cy="711491"/>
          </a:xfrm>
          <a:custGeom>
            <a:avLst/>
            <a:gdLst/>
            <a:ahLst/>
            <a:cxnLst/>
            <a:rect l="l" t="t" r="r" b="b"/>
            <a:pathLst>
              <a:path w="1463790" h="1067236" extrusionOk="0">
                <a:moveTo>
                  <a:pt x="0" y="0"/>
                </a:moveTo>
                <a:lnTo>
                  <a:pt x="1463790" y="0"/>
                </a:lnTo>
                <a:lnTo>
                  <a:pt x="1463790" y="1067236"/>
                </a:lnTo>
                <a:lnTo>
                  <a:pt x="0" y="10672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289247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preserve="1">
  <p:cSld name="1_Title and Vertical Tex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Google Shape;105;p16"/>
          <p:cNvGrpSpPr/>
          <p:nvPr/>
        </p:nvGrpSpPr>
        <p:grpSpPr>
          <a:xfrm>
            <a:off x="7345273" y="6181508"/>
            <a:ext cx="5500924" cy="770010"/>
            <a:chOff x="0" y="-66675"/>
            <a:chExt cx="2173205" cy="304202"/>
          </a:xfrm>
          <a:solidFill>
            <a:srgbClr val="9200EE"/>
          </a:solidFill>
        </p:grpSpPr>
        <p:sp>
          <p:nvSpPr>
            <p:cNvPr id="106" name="Google Shape;106;p16"/>
            <p:cNvSpPr/>
            <p:nvPr/>
          </p:nvSpPr>
          <p:spPr>
            <a:xfrm>
              <a:off x="0" y="0"/>
              <a:ext cx="2173205" cy="237527"/>
            </a:xfrm>
            <a:custGeom>
              <a:avLst/>
              <a:gdLst/>
              <a:ahLst/>
              <a:cxnLst/>
              <a:rect l="l" t="t" r="r" b="b"/>
              <a:pathLst>
                <a:path w="2173205" h="237527" extrusionOk="0">
                  <a:moveTo>
                    <a:pt x="0" y="0"/>
                  </a:moveTo>
                  <a:lnTo>
                    <a:pt x="2173205" y="0"/>
                  </a:lnTo>
                  <a:lnTo>
                    <a:pt x="2173205" y="237527"/>
                  </a:lnTo>
                  <a:lnTo>
                    <a:pt x="0" y="23752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16"/>
            <p:cNvSpPr txBox="1"/>
            <p:nvPr/>
          </p:nvSpPr>
          <p:spPr>
            <a:xfrm>
              <a:off x="0" y="-66675"/>
              <a:ext cx="2173205" cy="30420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8" name="Google Shape;108;p16"/>
          <p:cNvGrpSpPr/>
          <p:nvPr/>
        </p:nvGrpSpPr>
        <p:grpSpPr>
          <a:xfrm>
            <a:off x="-214250" y="6181508"/>
            <a:ext cx="7923490" cy="770010"/>
            <a:chOff x="0" y="-66675"/>
            <a:chExt cx="3130268" cy="304202"/>
          </a:xfrm>
          <a:solidFill>
            <a:srgbClr val="FFA502"/>
          </a:solidFill>
        </p:grpSpPr>
        <p:sp>
          <p:nvSpPr>
            <p:cNvPr id="109" name="Google Shape;109;p16"/>
            <p:cNvSpPr/>
            <p:nvPr/>
          </p:nvSpPr>
          <p:spPr>
            <a:xfrm>
              <a:off x="0" y="0"/>
              <a:ext cx="3130268" cy="237527"/>
            </a:xfrm>
            <a:custGeom>
              <a:avLst/>
              <a:gdLst/>
              <a:ahLst/>
              <a:cxnLst/>
              <a:rect l="l" t="t" r="r" b="b"/>
              <a:pathLst>
                <a:path w="3130268" h="237527" extrusionOk="0">
                  <a:moveTo>
                    <a:pt x="0" y="0"/>
                  </a:moveTo>
                  <a:lnTo>
                    <a:pt x="3130268" y="0"/>
                  </a:lnTo>
                  <a:lnTo>
                    <a:pt x="3130268" y="237527"/>
                  </a:lnTo>
                  <a:lnTo>
                    <a:pt x="0" y="23752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16"/>
            <p:cNvSpPr txBox="1"/>
            <p:nvPr/>
          </p:nvSpPr>
          <p:spPr>
            <a:xfrm>
              <a:off x="0" y="-66675"/>
              <a:ext cx="3130268" cy="30420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4" name="Google Shape;114;p16"/>
          <p:cNvGrpSpPr/>
          <p:nvPr/>
        </p:nvGrpSpPr>
        <p:grpSpPr>
          <a:xfrm>
            <a:off x="7580418" y="954523"/>
            <a:ext cx="3327879" cy="4862580"/>
            <a:chOff x="0" y="-66675"/>
            <a:chExt cx="1151733" cy="1682872"/>
          </a:xfrm>
        </p:grpSpPr>
        <p:sp>
          <p:nvSpPr>
            <p:cNvPr id="115" name="Google Shape;115;p16"/>
            <p:cNvSpPr/>
            <p:nvPr/>
          </p:nvSpPr>
          <p:spPr>
            <a:xfrm>
              <a:off x="0" y="0"/>
              <a:ext cx="1151733" cy="1616197"/>
            </a:xfrm>
            <a:custGeom>
              <a:avLst/>
              <a:gdLst/>
              <a:ahLst/>
              <a:cxnLst/>
              <a:rect l="l" t="t" r="r" b="b"/>
              <a:pathLst>
                <a:path w="1151733" h="1616197" extrusionOk="0">
                  <a:moveTo>
                    <a:pt x="0" y="0"/>
                  </a:moveTo>
                  <a:lnTo>
                    <a:pt x="1151733" y="0"/>
                  </a:lnTo>
                  <a:lnTo>
                    <a:pt x="1151733" y="1616197"/>
                  </a:lnTo>
                  <a:lnTo>
                    <a:pt x="0" y="161619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16"/>
            <p:cNvSpPr txBox="1"/>
            <p:nvPr/>
          </p:nvSpPr>
          <p:spPr>
            <a:xfrm>
              <a:off x="0" y="-66675"/>
              <a:ext cx="1151733" cy="16828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16"/>
          <p:cNvSpPr/>
          <p:nvPr/>
        </p:nvSpPr>
        <p:spPr>
          <a:xfrm>
            <a:off x="11229017" y="592812"/>
            <a:ext cx="554366" cy="554366"/>
          </a:xfrm>
          <a:custGeom>
            <a:avLst/>
            <a:gdLst/>
            <a:ahLst/>
            <a:cxnLst/>
            <a:rect l="l" t="t" r="r" b="b"/>
            <a:pathLst>
              <a:path w="831549" h="831549" extrusionOk="0">
                <a:moveTo>
                  <a:pt x="0" y="0"/>
                </a:moveTo>
                <a:lnTo>
                  <a:pt x="831550" y="0"/>
                </a:lnTo>
                <a:lnTo>
                  <a:pt x="831550" y="831549"/>
                </a:lnTo>
                <a:lnTo>
                  <a:pt x="0" y="831549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/>
          <p:nvPr/>
        </p:nvSpPr>
        <p:spPr>
          <a:xfrm>
            <a:off x="11302123" y="143150"/>
            <a:ext cx="568719" cy="850147"/>
          </a:xfrm>
          <a:custGeom>
            <a:avLst/>
            <a:gdLst/>
            <a:ahLst/>
            <a:cxnLst/>
            <a:rect l="l" t="t" r="r" b="b"/>
            <a:pathLst>
              <a:path w="853079" h="1275221" extrusionOk="0">
                <a:moveTo>
                  <a:pt x="0" y="0"/>
                </a:moveTo>
                <a:lnTo>
                  <a:pt x="853079" y="0"/>
                </a:lnTo>
                <a:lnTo>
                  <a:pt x="853079" y="1275221"/>
                </a:lnTo>
                <a:lnTo>
                  <a:pt x="0" y="12752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6"/>
          <p:cNvSpPr txBox="1">
            <a:spLocks noGrp="1"/>
          </p:cNvSpPr>
          <p:nvPr>
            <p:ph type="body" idx="1"/>
          </p:nvPr>
        </p:nvSpPr>
        <p:spPr>
          <a:xfrm>
            <a:off x="289313" y="463094"/>
            <a:ext cx="9864621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1" i="0" u="none" strike="noStrike" cap="none">
                <a:solidFill>
                  <a:srgbClr val="9200EE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2" name="Google Shape;122;p16"/>
          <p:cNvSpPr/>
          <p:nvPr/>
        </p:nvSpPr>
        <p:spPr>
          <a:xfrm rot="5400000">
            <a:off x="11062218" y="5219172"/>
            <a:ext cx="975860" cy="711491"/>
          </a:xfrm>
          <a:custGeom>
            <a:avLst/>
            <a:gdLst/>
            <a:ahLst/>
            <a:cxnLst/>
            <a:rect l="l" t="t" r="r" b="b"/>
            <a:pathLst>
              <a:path w="1463790" h="1067236" extrusionOk="0">
                <a:moveTo>
                  <a:pt x="0" y="0"/>
                </a:moveTo>
                <a:lnTo>
                  <a:pt x="1463790" y="0"/>
                </a:lnTo>
                <a:lnTo>
                  <a:pt x="1463790" y="1067236"/>
                </a:lnTo>
                <a:lnTo>
                  <a:pt x="0" y="10672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677945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preserve="1">
  <p:cSld name="2_Title and Vertical Tex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16"/>
          <p:cNvGrpSpPr/>
          <p:nvPr/>
        </p:nvGrpSpPr>
        <p:grpSpPr>
          <a:xfrm>
            <a:off x="-1" y="-782920"/>
            <a:ext cx="1418595" cy="7911036"/>
            <a:chOff x="0" y="-66675"/>
            <a:chExt cx="812800" cy="3125347"/>
          </a:xfrm>
          <a:solidFill>
            <a:srgbClr val="FFA502"/>
          </a:solidFill>
        </p:grpSpPr>
        <p:sp>
          <p:nvSpPr>
            <p:cNvPr id="103" name="Google Shape;103;p16"/>
            <p:cNvSpPr/>
            <p:nvPr/>
          </p:nvSpPr>
          <p:spPr>
            <a:xfrm>
              <a:off x="0" y="0"/>
              <a:ext cx="812800" cy="3058672"/>
            </a:xfrm>
            <a:custGeom>
              <a:avLst/>
              <a:gdLst/>
              <a:ahLst/>
              <a:cxnLst/>
              <a:rect l="l" t="t" r="r" b="b"/>
              <a:pathLst>
                <a:path w="812800" h="3058672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3058672"/>
                  </a:lnTo>
                  <a:lnTo>
                    <a:pt x="0" y="305867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16"/>
            <p:cNvSpPr txBox="1"/>
            <p:nvPr/>
          </p:nvSpPr>
          <p:spPr>
            <a:xfrm>
              <a:off x="0" y="-66675"/>
              <a:ext cx="812800" cy="3125347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1" name="Google Shape;111;p16"/>
          <p:cNvGrpSpPr/>
          <p:nvPr/>
        </p:nvGrpSpPr>
        <p:grpSpPr>
          <a:xfrm>
            <a:off x="-1945948" y="-386487"/>
            <a:ext cx="6017501" cy="1305587"/>
            <a:chOff x="0" y="-66675"/>
            <a:chExt cx="2377284" cy="366801"/>
          </a:xfrm>
          <a:solidFill>
            <a:srgbClr val="9200EE"/>
          </a:solidFill>
        </p:grpSpPr>
        <p:sp>
          <p:nvSpPr>
            <p:cNvPr id="112" name="Google Shape;112;p16"/>
            <p:cNvSpPr/>
            <p:nvPr/>
          </p:nvSpPr>
          <p:spPr>
            <a:xfrm>
              <a:off x="0" y="0"/>
              <a:ext cx="2377284" cy="300126"/>
            </a:xfrm>
            <a:custGeom>
              <a:avLst/>
              <a:gdLst/>
              <a:ahLst/>
              <a:cxnLst/>
              <a:rect l="l" t="t" r="r" b="b"/>
              <a:pathLst>
                <a:path w="2377284" h="300126" extrusionOk="0">
                  <a:moveTo>
                    <a:pt x="0" y="0"/>
                  </a:moveTo>
                  <a:lnTo>
                    <a:pt x="2377284" y="0"/>
                  </a:lnTo>
                  <a:lnTo>
                    <a:pt x="2377284" y="300126"/>
                  </a:lnTo>
                  <a:lnTo>
                    <a:pt x="0" y="30012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16"/>
            <p:cNvSpPr txBox="1"/>
            <p:nvPr/>
          </p:nvSpPr>
          <p:spPr>
            <a:xfrm>
              <a:off x="0" y="-66675"/>
              <a:ext cx="2377284" cy="366801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4" name="Google Shape;114;p16"/>
          <p:cNvGrpSpPr/>
          <p:nvPr/>
        </p:nvGrpSpPr>
        <p:grpSpPr>
          <a:xfrm>
            <a:off x="7580418" y="954523"/>
            <a:ext cx="3327879" cy="4862580"/>
            <a:chOff x="0" y="-66675"/>
            <a:chExt cx="1151733" cy="1682872"/>
          </a:xfrm>
        </p:grpSpPr>
        <p:sp>
          <p:nvSpPr>
            <p:cNvPr id="115" name="Google Shape;115;p16"/>
            <p:cNvSpPr/>
            <p:nvPr/>
          </p:nvSpPr>
          <p:spPr>
            <a:xfrm>
              <a:off x="0" y="0"/>
              <a:ext cx="1151733" cy="1616197"/>
            </a:xfrm>
            <a:custGeom>
              <a:avLst/>
              <a:gdLst/>
              <a:ahLst/>
              <a:cxnLst/>
              <a:rect l="l" t="t" r="r" b="b"/>
              <a:pathLst>
                <a:path w="1151733" h="1616197" extrusionOk="0">
                  <a:moveTo>
                    <a:pt x="0" y="0"/>
                  </a:moveTo>
                  <a:lnTo>
                    <a:pt x="1151733" y="0"/>
                  </a:lnTo>
                  <a:lnTo>
                    <a:pt x="1151733" y="1616197"/>
                  </a:lnTo>
                  <a:lnTo>
                    <a:pt x="0" y="161619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16"/>
            <p:cNvSpPr txBox="1"/>
            <p:nvPr/>
          </p:nvSpPr>
          <p:spPr>
            <a:xfrm>
              <a:off x="0" y="-66675"/>
              <a:ext cx="1151733" cy="16828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16"/>
          <p:cNvSpPr/>
          <p:nvPr/>
        </p:nvSpPr>
        <p:spPr>
          <a:xfrm>
            <a:off x="11229017" y="592812"/>
            <a:ext cx="554366" cy="554366"/>
          </a:xfrm>
          <a:custGeom>
            <a:avLst/>
            <a:gdLst/>
            <a:ahLst/>
            <a:cxnLst/>
            <a:rect l="l" t="t" r="r" b="b"/>
            <a:pathLst>
              <a:path w="831549" h="831549" extrusionOk="0">
                <a:moveTo>
                  <a:pt x="0" y="0"/>
                </a:moveTo>
                <a:lnTo>
                  <a:pt x="831550" y="0"/>
                </a:lnTo>
                <a:lnTo>
                  <a:pt x="831550" y="831549"/>
                </a:lnTo>
                <a:lnTo>
                  <a:pt x="0" y="831549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/>
          <p:nvPr/>
        </p:nvSpPr>
        <p:spPr>
          <a:xfrm>
            <a:off x="0" y="12390"/>
            <a:ext cx="568719" cy="850147"/>
          </a:xfrm>
          <a:custGeom>
            <a:avLst/>
            <a:gdLst/>
            <a:ahLst/>
            <a:cxnLst/>
            <a:rect l="l" t="t" r="r" b="b"/>
            <a:pathLst>
              <a:path w="853079" h="1275221" extrusionOk="0">
                <a:moveTo>
                  <a:pt x="0" y="0"/>
                </a:moveTo>
                <a:lnTo>
                  <a:pt x="853079" y="0"/>
                </a:lnTo>
                <a:lnTo>
                  <a:pt x="853079" y="1275221"/>
                </a:lnTo>
                <a:lnTo>
                  <a:pt x="0" y="12752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6"/>
          <p:cNvSpPr txBox="1">
            <a:spLocks noGrp="1"/>
          </p:cNvSpPr>
          <p:nvPr>
            <p:ph type="body" idx="1"/>
          </p:nvPr>
        </p:nvSpPr>
        <p:spPr>
          <a:xfrm>
            <a:off x="5188807" y="181088"/>
            <a:ext cx="6200775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1" i="0" u="none" strike="noStrike" cap="none">
                <a:solidFill>
                  <a:srgbClr val="9200EE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2" name="Google Shape;122;p16"/>
          <p:cNvSpPr/>
          <p:nvPr/>
        </p:nvSpPr>
        <p:spPr>
          <a:xfrm rot="5400000">
            <a:off x="11062218" y="5219172"/>
            <a:ext cx="975860" cy="711491"/>
          </a:xfrm>
          <a:custGeom>
            <a:avLst/>
            <a:gdLst/>
            <a:ahLst/>
            <a:cxnLst/>
            <a:rect l="l" t="t" r="r" b="b"/>
            <a:pathLst>
              <a:path w="1463790" h="1067236" extrusionOk="0">
                <a:moveTo>
                  <a:pt x="0" y="0"/>
                </a:moveTo>
                <a:lnTo>
                  <a:pt x="1463790" y="0"/>
                </a:lnTo>
                <a:lnTo>
                  <a:pt x="1463790" y="1067236"/>
                </a:lnTo>
                <a:lnTo>
                  <a:pt x="0" y="10672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7827730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preserve="1">
  <p:cSld name="Title and Content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Google Shape;158;p19"/>
          <p:cNvGrpSpPr/>
          <p:nvPr/>
        </p:nvGrpSpPr>
        <p:grpSpPr>
          <a:xfrm rot="-1766719">
            <a:off x="478576" y="3338287"/>
            <a:ext cx="1321015" cy="4130956"/>
            <a:chOff x="0" y="-38100"/>
            <a:chExt cx="521882" cy="1631983"/>
          </a:xfrm>
          <a:solidFill>
            <a:srgbClr val="9200EE"/>
          </a:solidFill>
        </p:grpSpPr>
        <p:sp>
          <p:nvSpPr>
            <p:cNvPr id="159" name="Google Shape;159;p19"/>
            <p:cNvSpPr/>
            <p:nvPr/>
          </p:nvSpPr>
          <p:spPr>
            <a:xfrm>
              <a:off x="0" y="0"/>
              <a:ext cx="521882" cy="1593883"/>
            </a:xfrm>
            <a:custGeom>
              <a:avLst/>
              <a:gdLst/>
              <a:ahLst/>
              <a:cxnLst/>
              <a:rect l="l" t="t" r="r" b="b"/>
              <a:pathLst>
                <a:path w="521882" h="1593883" extrusionOk="0">
                  <a:moveTo>
                    <a:pt x="0" y="0"/>
                  </a:moveTo>
                  <a:lnTo>
                    <a:pt x="521882" y="0"/>
                  </a:lnTo>
                  <a:lnTo>
                    <a:pt x="521882" y="1593883"/>
                  </a:lnTo>
                  <a:lnTo>
                    <a:pt x="0" y="1593883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60" name="Google Shape;160;p19"/>
            <p:cNvSpPr txBox="1"/>
            <p:nvPr/>
          </p:nvSpPr>
          <p:spPr>
            <a:xfrm>
              <a:off x="0" y="-38100"/>
              <a:ext cx="521882" cy="1631983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0032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1" name="Google Shape;161;p19"/>
          <p:cNvGrpSpPr/>
          <p:nvPr/>
        </p:nvGrpSpPr>
        <p:grpSpPr>
          <a:xfrm rot="-1766719">
            <a:off x="-575443" y="4176289"/>
            <a:ext cx="1348128" cy="4130956"/>
            <a:chOff x="0" y="-38100"/>
            <a:chExt cx="532594" cy="1631983"/>
          </a:xfrm>
          <a:solidFill>
            <a:srgbClr val="FFA502"/>
          </a:solidFill>
        </p:grpSpPr>
        <p:sp>
          <p:nvSpPr>
            <p:cNvPr id="162" name="Google Shape;162;p19"/>
            <p:cNvSpPr/>
            <p:nvPr/>
          </p:nvSpPr>
          <p:spPr>
            <a:xfrm>
              <a:off x="0" y="0"/>
              <a:ext cx="532594" cy="1593883"/>
            </a:xfrm>
            <a:custGeom>
              <a:avLst/>
              <a:gdLst/>
              <a:ahLst/>
              <a:cxnLst/>
              <a:rect l="l" t="t" r="r" b="b"/>
              <a:pathLst>
                <a:path w="532594" h="1593883" extrusionOk="0">
                  <a:moveTo>
                    <a:pt x="0" y="0"/>
                  </a:moveTo>
                  <a:lnTo>
                    <a:pt x="532594" y="0"/>
                  </a:lnTo>
                  <a:lnTo>
                    <a:pt x="532594" y="1593883"/>
                  </a:lnTo>
                  <a:lnTo>
                    <a:pt x="0" y="1593883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63" name="Google Shape;163;p19"/>
            <p:cNvSpPr txBox="1"/>
            <p:nvPr/>
          </p:nvSpPr>
          <p:spPr>
            <a:xfrm>
              <a:off x="0" y="-38100"/>
              <a:ext cx="532594" cy="1631983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0032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64" name="Google Shape;164;p19"/>
          <p:cNvCxnSpPr/>
          <p:nvPr/>
        </p:nvCxnSpPr>
        <p:spPr>
          <a:xfrm>
            <a:off x="5554678" y="2016873"/>
            <a:ext cx="972113" cy="0"/>
          </a:xfrm>
          <a:prstGeom prst="straightConnector1">
            <a:avLst/>
          </a:prstGeom>
          <a:noFill/>
          <a:ln w="47625" cap="flat" cmpd="sng">
            <a:solidFill>
              <a:srgbClr val="00215F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65" name="Google Shape;165;p19"/>
          <p:cNvGrpSpPr/>
          <p:nvPr/>
        </p:nvGrpSpPr>
        <p:grpSpPr>
          <a:xfrm>
            <a:off x="7570377" y="-300132"/>
            <a:ext cx="5500924" cy="1128557"/>
            <a:chOff x="0" y="-66675"/>
            <a:chExt cx="2173205" cy="304202"/>
          </a:xfrm>
          <a:solidFill>
            <a:srgbClr val="FFA502"/>
          </a:solidFill>
        </p:grpSpPr>
        <p:sp>
          <p:nvSpPr>
            <p:cNvPr id="166" name="Google Shape;166;p19"/>
            <p:cNvSpPr/>
            <p:nvPr/>
          </p:nvSpPr>
          <p:spPr>
            <a:xfrm>
              <a:off x="0" y="0"/>
              <a:ext cx="2173205" cy="237527"/>
            </a:xfrm>
            <a:custGeom>
              <a:avLst/>
              <a:gdLst/>
              <a:ahLst/>
              <a:cxnLst/>
              <a:rect l="l" t="t" r="r" b="b"/>
              <a:pathLst>
                <a:path w="2173205" h="237527" extrusionOk="0">
                  <a:moveTo>
                    <a:pt x="0" y="0"/>
                  </a:moveTo>
                  <a:lnTo>
                    <a:pt x="2173205" y="0"/>
                  </a:lnTo>
                  <a:lnTo>
                    <a:pt x="2173205" y="237527"/>
                  </a:lnTo>
                  <a:lnTo>
                    <a:pt x="0" y="23752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19"/>
            <p:cNvSpPr txBox="1"/>
            <p:nvPr/>
          </p:nvSpPr>
          <p:spPr>
            <a:xfrm>
              <a:off x="0" y="-66675"/>
              <a:ext cx="2173205" cy="30420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8" name="Google Shape;168;p19"/>
          <p:cNvGrpSpPr/>
          <p:nvPr/>
        </p:nvGrpSpPr>
        <p:grpSpPr>
          <a:xfrm>
            <a:off x="10853" y="-326856"/>
            <a:ext cx="7923490" cy="1155281"/>
            <a:chOff x="0" y="-66675"/>
            <a:chExt cx="3130268" cy="304202"/>
          </a:xfrm>
          <a:solidFill>
            <a:srgbClr val="9200EE"/>
          </a:solidFill>
        </p:grpSpPr>
        <p:sp>
          <p:nvSpPr>
            <p:cNvPr id="169" name="Google Shape;169;p19"/>
            <p:cNvSpPr/>
            <p:nvPr/>
          </p:nvSpPr>
          <p:spPr>
            <a:xfrm>
              <a:off x="0" y="0"/>
              <a:ext cx="3130268" cy="237527"/>
            </a:xfrm>
            <a:custGeom>
              <a:avLst/>
              <a:gdLst/>
              <a:ahLst/>
              <a:cxnLst/>
              <a:rect l="l" t="t" r="r" b="b"/>
              <a:pathLst>
                <a:path w="3130268" h="237527" extrusionOk="0">
                  <a:moveTo>
                    <a:pt x="0" y="0"/>
                  </a:moveTo>
                  <a:lnTo>
                    <a:pt x="3130268" y="0"/>
                  </a:lnTo>
                  <a:lnTo>
                    <a:pt x="3130268" y="237527"/>
                  </a:lnTo>
                  <a:lnTo>
                    <a:pt x="0" y="23752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19"/>
            <p:cNvSpPr txBox="1"/>
            <p:nvPr/>
          </p:nvSpPr>
          <p:spPr>
            <a:xfrm>
              <a:off x="0" y="-66675"/>
              <a:ext cx="3130268" cy="30420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2" name="Google Shape;172;p19"/>
          <p:cNvSpPr/>
          <p:nvPr/>
        </p:nvSpPr>
        <p:spPr>
          <a:xfrm>
            <a:off x="236600" y="-52775"/>
            <a:ext cx="568719" cy="850147"/>
          </a:xfrm>
          <a:custGeom>
            <a:avLst/>
            <a:gdLst/>
            <a:ahLst/>
            <a:cxnLst/>
            <a:rect l="l" t="t" r="r" b="b"/>
            <a:pathLst>
              <a:path w="853079" h="1275221" extrusionOk="0">
                <a:moveTo>
                  <a:pt x="0" y="0"/>
                </a:moveTo>
                <a:lnTo>
                  <a:pt x="853079" y="0"/>
                </a:lnTo>
                <a:lnTo>
                  <a:pt x="853079" y="1275221"/>
                </a:lnTo>
                <a:lnTo>
                  <a:pt x="0" y="12752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 txBox="1">
            <a:spLocks noGrp="1"/>
          </p:cNvSpPr>
          <p:nvPr>
            <p:ph type="body" idx="1"/>
          </p:nvPr>
        </p:nvSpPr>
        <p:spPr>
          <a:xfrm>
            <a:off x="1700987" y="1075782"/>
            <a:ext cx="10065259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1" i="0" u="none" strike="noStrike" cap="none">
                <a:solidFill>
                  <a:srgbClr val="9200EE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542660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preserve="1">
  <p:cSld name="2_Two Content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175;p20"/>
          <p:cNvGrpSpPr/>
          <p:nvPr/>
        </p:nvGrpSpPr>
        <p:grpSpPr>
          <a:xfrm>
            <a:off x="7356927" y="-291531"/>
            <a:ext cx="4955403" cy="1377256"/>
            <a:chOff x="0" y="0"/>
            <a:chExt cx="2176125" cy="1599059"/>
          </a:xfrm>
          <a:solidFill>
            <a:srgbClr val="9200EE"/>
          </a:solidFill>
        </p:grpSpPr>
        <p:sp>
          <p:nvSpPr>
            <p:cNvPr id="176" name="Google Shape;176;p20"/>
            <p:cNvSpPr/>
            <p:nvPr/>
          </p:nvSpPr>
          <p:spPr>
            <a:xfrm>
              <a:off x="0" y="0"/>
              <a:ext cx="2173205" cy="1463545"/>
            </a:xfrm>
            <a:custGeom>
              <a:avLst/>
              <a:gdLst/>
              <a:ahLst/>
              <a:cxnLst/>
              <a:rect l="l" t="t" r="r" b="b"/>
              <a:pathLst>
                <a:path w="2173205" h="1463545" extrusionOk="0">
                  <a:moveTo>
                    <a:pt x="0" y="0"/>
                  </a:moveTo>
                  <a:lnTo>
                    <a:pt x="2173205" y="0"/>
                  </a:lnTo>
                  <a:lnTo>
                    <a:pt x="2173205" y="1463545"/>
                  </a:lnTo>
                  <a:lnTo>
                    <a:pt x="0" y="146354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20"/>
            <p:cNvSpPr txBox="1"/>
            <p:nvPr/>
          </p:nvSpPr>
          <p:spPr>
            <a:xfrm>
              <a:off x="2920" y="68839"/>
              <a:ext cx="2173205" cy="153022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8" name="Google Shape;178;p20"/>
          <p:cNvGrpSpPr/>
          <p:nvPr/>
        </p:nvGrpSpPr>
        <p:grpSpPr>
          <a:xfrm>
            <a:off x="11038680" y="1275652"/>
            <a:ext cx="1682514" cy="5974483"/>
            <a:chOff x="0" y="-66675"/>
            <a:chExt cx="812800" cy="1715673"/>
          </a:xfrm>
          <a:solidFill>
            <a:srgbClr val="FFA502"/>
          </a:solidFill>
        </p:grpSpPr>
        <p:sp>
          <p:nvSpPr>
            <p:cNvPr id="179" name="Google Shape;179;p20"/>
            <p:cNvSpPr/>
            <p:nvPr/>
          </p:nvSpPr>
          <p:spPr>
            <a:xfrm>
              <a:off x="0" y="0"/>
              <a:ext cx="812800" cy="1648998"/>
            </a:xfrm>
            <a:custGeom>
              <a:avLst/>
              <a:gdLst/>
              <a:ahLst/>
              <a:cxnLst/>
              <a:rect l="l" t="t" r="r" b="b"/>
              <a:pathLst>
                <a:path w="812800" h="1648998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1648998"/>
                  </a:lnTo>
                  <a:lnTo>
                    <a:pt x="0" y="164899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20"/>
            <p:cNvSpPr txBox="1"/>
            <p:nvPr/>
          </p:nvSpPr>
          <p:spPr>
            <a:xfrm>
              <a:off x="0" y="-66675"/>
              <a:ext cx="812800" cy="1715673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1" name="Google Shape;181;p20"/>
          <p:cNvSpPr/>
          <p:nvPr/>
        </p:nvSpPr>
        <p:spPr>
          <a:xfrm rot="-5400000">
            <a:off x="6710824" y="3014283"/>
            <a:ext cx="1305505" cy="621895"/>
          </a:xfrm>
          <a:custGeom>
            <a:avLst/>
            <a:gdLst/>
            <a:ahLst/>
            <a:cxnLst/>
            <a:rect l="l" t="t" r="r" b="b"/>
            <a:pathLst>
              <a:path w="1958257" h="932843" extrusionOk="0">
                <a:moveTo>
                  <a:pt x="1958257" y="932843"/>
                </a:moveTo>
                <a:lnTo>
                  <a:pt x="0" y="932843"/>
                </a:lnTo>
                <a:lnTo>
                  <a:pt x="0" y="0"/>
                </a:lnTo>
                <a:lnTo>
                  <a:pt x="1958257" y="0"/>
                </a:lnTo>
                <a:lnTo>
                  <a:pt x="1958257" y="932843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11195806" y="408617"/>
            <a:ext cx="554366" cy="554366"/>
          </a:xfrm>
          <a:custGeom>
            <a:avLst/>
            <a:gdLst/>
            <a:ahLst/>
            <a:cxnLst/>
            <a:rect l="l" t="t" r="r" b="b"/>
            <a:pathLst>
              <a:path w="831549" h="831549" extrusionOk="0">
                <a:moveTo>
                  <a:pt x="0" y="0"/>
                </a:moveTo>
                <a:lnTo>
                  <a:pt x="831549" y="0"/>
                </a:lnTo>
                <a:lnTo>
                  <a:pt x="831549" y="831550"/>
                </a:lnTo>
                <a:lnTo>
                  <a:pt x="0" y="83155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11455927" y="51163"/>
            <a:ext cx="568719" cy="850147"/>
          </a:xfrm>
          <a:custGeom>
            <a:avLst/>
            <a:gdLst/>
            <a:ahLst/>
            <a:cxnLst/>
            <a:rect l="l" t="t" r="r" b="b"/>
            <a:pathLst>
              <a:path w="853079" h="1275221" extrusionOk="0">
                <a:moveTo>
                  <a:pt x="0" y="0"/>
                </a:moveTo>
                <a:lnTo>
                  <a:pt x="853079" y="0"/>
                </a:lnTo>
                <a:lnTo>
                  <a:pt x="853079" y="1275221"/>
                </a:lnTo>
                <a:lnTo>
                  <a:pt x="0" y="12752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0"/>
          <p:cNvSpPr txBox="1">
            <a:spLocks noGrp="1"/>
          </p:cNvSpPr>
          <p:nvPr>
            <p:ph type="body" idx="1"/>
          </p:nvPr>
        </p:nvSpPr>
        <p:spPr>
          <a:xfrm>
            <a:off x="167354" y="137682"/>
            <a:ext cx="6885275" cy="831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1" i="0" u="none" strike="noStrike" cap="none">
                <a:solidFill>
                  <a:srgbClr val="9200EE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7" name="Google Shape;187;p20"/>
          <p:cNvSpPr/>
          <p:nvPr/>
        </p:nvSpPr>
        <p:spPr>
          <a:xfrm rot="5400000">
            <a:off x="11262241" y="1748318"/>
            <a:ext cx="975860" cy="711491"/>
          </a:xfrm>
          <a:custGeom>
            <a:avLst/>
            <a:gdLst/>
            <a:ahLst/>
            <a:cxnLst/>
            <a:rect l="l" t="t" r="r" b="b"/>
            <a:pathLst>
              <a:path w="1463790" h="1067236" extrusionOk="0">
                <a:moveTo>
                  <a:pt x="0" y="0"/>
                </a:moveTo>
                <a:lnTo>
                  <a:pt x="1463790" y="0"/>
                </a:lnTo>
                <a:lnTo>
                  <a:pt x="1463790" y="1067236"/>
                </a:lnTo>
                <a:lnTo>
                  <a:pt x="0" y="10672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116752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>
  <p:cSld name="Title Only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" name="Google Shape;189;p21"/>
          <p:cNvGrpSpPr/>
          <p:nvPr/>
        </p:nvGrpSpPr>
        <p:grpSpPr>
          <a:xfrm>
            <a:off x="7709240" y="3757312"/>
            <a:ext cx="4697011" cy="3184093"/>
            <a:chOff x="0" y="-66675"/>
            <a:chExt cx="1855609" cy="1257913"/>
          </a:xfrm>
          <a:solidFill>
            <a:srgbClr val="FFA502"/>
          </a:solidFill>
        </p:grpSpPr>
        <p:sp>
          <p:nvSpPr>
            <p:cNvPr id="190" name="Google Shape;190;p21"/>
            <p:cNvSpPr/>
            <p:nvPr/>
          </p:nvSpPr>
          <p:spPr>
            <a:xfrm>
              <a:off x="0" y="0"/>
              <a:ext cx="1855609" cy="1191238"/>
            </a:xfrm>
            <a:custGeom>
              <a:avLst/>
              <a:gdLst/>
              <a:ahLst/>
              <a:cxnLst/>
              <a:rect l="l" t="t" r="r" b="b"/>
              <a:pathLst>
                <a:path w="1855609" h="1191238" extrusionOk="0">
                  <a:moveTo>
                    <a:pt x="0" y="0"/>
                  </a:moveTo>
                  <a:lnTo>
                    <a:pt x="1855609" y="0"/>
                  </a:lnTo>
                  <a:lnTo>
                    <a:pt x="1855609" y="1191238"/>
                  </a:lnTo>
                  <a:lnTo>
                    <a:pt x="0" y="11912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p21"/>
            <p:cNvSpPr txBox="1"/>
            <p:nvPr/>
          </p:nvSpPr>
          <p:spPr>
            <a:xfrm>
              <a:off x="0" y="-66675"/>
              <a:ext cx="1855609" cy="1257913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2" name="Google Shape;192;p21"/>
          <p:cNvGrpSpPr/>
          <p:nvPr/>
        </p:nvGrpSpPr>
        <p:grpSpPr>
          <a:xfrm>
            <a:off x="8933017" y="-446855"/>
            <a:ext cx="3322083" cy="3184093"/>
            <a:chOff x="0" y="-66675"/>
            <a:chExt cx="1312428" cy="1257913"/>
          </a:xfrm>
          <a:solidFill>
            <a:srgbClr val="FFA502"/>
          </a:solidFill>
        </p:grpSpPr>
        <p:sp>
          <p:nvSpPr>
            <p:cNvPr id="193" name="Google Shape;193;p21"/>
            <p:cNvSpPr/>
            <p:nvPr/>
          </p:nvSpPr>
          <p:spPr>
            <a:xfrm>
              <a:off x="0" y="0"/>
              <a:ext cx="1312428" cy="1191238"/>
            </a:xfrm>
            <a:custGeom>
              <a:avLst/>
              <a:gdLst/>
              <a:ahLst/>
              <a:cxnLst/>
              <a:rect l="l" t="t" r="r" b="b"/>
              <a:pathLst>
                <a:path w="1312428" h="1191238" extrusionOk="0">
                  <a:moveTo>
                    <a:pt x="0" y="0"/>
                  </a:moveTo>
                  <a:lnTo>
                    <a:pt x="1312428" y="0"/>
                  </a:lnTo>
                  <a:lnTo>
                    <a:pt x="1312428" y="1191238"/>
                  </a:lnTo>
                  <a:lnTo>
                    <a:pt x="0" y="11912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p21"/>
            <p:cNvSpPr txBox="1"/>
            <p:nvPr/>
          </p:nvSpPr>
          <p:spPr>
            <a:xfrm>
              <a:off x="0" y="-66675"/>
              <a:ext cx="1312428" cy="1257913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5" name="Google Shape;195;p21"/>
          <p:cNvGrpSpPr/>
          <p:nvPr/>
        </p:nvGrpSpPr>
        <p:grpSpPr>
          <a:xfrm>
            <a:off x="-214250" y="5180588"/>
            <a:ext cx="7923490" cy="1770931"/>
            <a:chOff x="0" y="-66675"/>
            <a:chExt cx="3130268" cy="699627"/>
          </a:xfrm>
          <a:solidFill>
            <a:srgbClr val="9200EE"/>
          </a:solidFill>
        </p:grpSpPr>
        <p:sp>
          <p:nvSpPr>
            <p:cNvPr id="196" name="Google Shape;196;p21"/>
            <p:cNvSpPr/>
            <p:nvPr/>
          </p:nvSpPr>
          <p:spPr>
            <a:xfrm>
              <a:off x="0" y="0"/>
              <a:ext cx="3130268" cy="632952"/>
            </a:xfrm>
            <a:custGeom>
              <a:avLst/>
              <a:gdLst/>
              <a:ahLst/>
              <a:cxnLst/>
              <a:rect l="l" t="t" r="r" b="b"/>
              <a:pathLst>
                <a:path w="3130268" h="632952" extrusionOk="0">
                  <a:moveTo>
                    <a:pt x="0" y="0"/>
                  </a:moveTo>
                  <a:lnTo>
                    <a:pt x="3130268" y="0"/>
                  </a:lnTo>
                  <a:lnTo>
                    <a:pt x="3130268" y="632952"/>
                  </a:lnTo>
                  <a:lnTo>
                    <a:pt x="0" y="63295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21"/>
            <p:cNvSpPr txBox="1"/>
            <p:nvPr/>
          </p:nvSpPr>
          <p:spPr>
            <a:xfrm>
              <a:off x="0" y="-66675"/>
              <a:ext cx="3130268" cy="699627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8" name="Google Shape;198;p21"/>
          <p:cNvGrpSpPr/>
          <p:nvPr/>
        </p:nvGrpSpPr>
        <p:grpSpPr>
          <a:xfrm>
            <a:off x="6096000" y="-442740"/>
            <a:ext cx="6512749" cy="1128540"/>
            <a:chOff x="0" y="-66675"/>
            <a:chExt cx="2572938" cy="445843"/>
          </a:xfrm>
          <a:solidFill>
            <a:srgbClr val="9200EE"/>
          </a:solidFill>
        </p:grpSpPr>
        <p:sp>
          <p:nvSpPr>
            <p:cNvPr id="199" name="Google Shape;199;p21"/>
            <p:cNvSpPr/>
            <p:nvPr/>
          </p:nvSpPr>
          <p:spPr>
            <a:xfrm>
              <a:off x="0" y="0"/>
              <a:ext cx="2572938" cy="379168"/>
            </a:xfrm>
            <a:custGeom>
              <a:avLst/>
              <a:gdLst/>
              <a:ahLst/>
              <a:cxnLst/>
              <a:rect l="l" t="t" r="r" b="b"/>
              <a:pathLst>
                <a:path w="2572938" h="379168" extrusionOk="0">
                  <a:moveTo>
                    <a:pt x="0" y="0"/>
                  </a:moveTo>
                  <a:lnTo>
                    <a:pt x="2572938" y="0"/>
                  </a:lnTo>
                  <a:lnTo>
                    <a:pt x="2572938" y="379168"/>
                  </a:lnTo>
                  <a:lnTo>
                    <a:pt x="0" y="3791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p21"/>
            <p:cNvSpPr txBox="1"/>
            <p:nvPr/>
          </p:nvSpPr>
          <p:spPr>
            <a:xfrm>
              <a:off x="0" y="-66675"/>
              <a:ext cx="2572938" cy="445843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1" name="Google Shape;201;p21"/>
          <p:cNvGrpSpPr/>
          <p:nvPr/>
        </p:nvGrpSpPr>
        <p:grpSpPr>
          <a:xfrm>
            <a:off x="5849254" y="635373"/>
            <a:ext cx="6247176" cy="6097517"/>
            <a:chOff x="0" y="0"/>
            <a:chExt cx="812800" cy="812800"/>
          </a:xfrm>
        </p:grpSpPr>
        <p:sp>
          <p:nvSpPr>
            <p:cNvPr id="202" name="Google Shape;202;p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" name="Google Shape;203;p21"/>
            <p:cNvSpPr txBox="1"/>
            <p:nvPr/>
          </p:nvSpPr>
          <p:spPr>
            <a:xfrm>
              <a:off x="139700" y="73025"/>
              <a:ext cx="533400" cy="6000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4" name="Google Shape;204;p21"/>
          <p:cNvSpPr/>
          <p:nvPr/>
        </p:nvSpPr>
        <p:spPr>
          <a:xfrm>
            <a:off x="11564454" y="58254"/>
            <a:ext cx="554366" cy="554366"/>
          </a:xfrm>
          <a:custGeom>
            <a:avLst/>
            <a:gdLst/>
            <a:ahLst/>
            <a:cxnLst/>
            <a:rect l="l" t="t" r="r" b="b"/>
            <a:pathLst>
              <a:path w="831549" h="831549" extrusionOk="0">
                <a:moveTo>
                  <a:pt x="0" y="0"/>
                </a:moveTo>
                <a:lnTo>
                  <a:pt x="831549" y="0"/>
                </a:lnTo>
                <a:lnTo>
                  <a:pt x="831549" y="831549"/>
                </a:lnTo>
                <a:lnTo>
                  <a:pt x="0" y="831549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1"/>
          <p:cNvSpPr/>
          <p:nvPr/>
        </p:nvSpPr>
        <p:spPr>
          <a:xfrm>
            <a:off x="397150" y="5841575"/>
            <a:ext cx="1322502" cy="661251"/>
          </a:xfrm>
          <a:custGeom>
            <a:avLst/>
            <a:gdLst/>
            <a:ahLst/>
            <a:cxnLst/>
            <a:rect l="l" t="t" r="r" b="b"/>
            <a:pathLst>
              <a:path w="1983753" h="991877" extrusionOk="0">
                <a:moveTo>
                  <a:pt x="0" y="0"/>
                </a:moveTo>
                <a:lnTo>
                  <a:pt x="1983753" y="0"/>
                </a:lnTo>
                <a:lnTo>
                  <a:pt x="1983753" y="991876"/>
                </a:lnTo>
                <a:lnTo>
                  <a:pt x="0" y="99187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1301098" y="5841575"/>
            <a:ext cx="1322502" cy="661251"/>
          </a:xfrm>
          <a:custGeom>
            <a:avLst/>
            <a:gdLst/>
            <a:ahLst/>
            <a:cxnLst/>
            <a:rect l="l" t="t" r="r" b="b"/>
            <a:pathLst>
              <a:path w="1983753" h="991877" extrusionOk="0">
                <a:moveTo>
                  <a:pt x="0" y="0"/>
                </a:moveTo>
                <a:lnTo>
                  <a:pt x="1983754" y="0"/>
                </a:lnTo>
                <a:lnTo>
                  <a:pt x="1983754" y="991876"/>
                </a:lnTo>
                <a:lnTo>
                  <a:pt x="0" y="99187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317445" y="5792837"/>
            <a:ext cx="568719" cy="850147"/>
          </a:xfrm>
          <a:custGeom>
            <a:avLst/>
            <a:gdLst/>
            <a:ahLst/>
            <a:cxnLst/>
            <a:rect l="l" t="t" r="r" b="b"/>
            <a:pathLst>
              <a:path w="853079" h="1275221" extrusionOk="0">
                <a:moveTo>
                  <a:pt x="0" y="0"/>
                </a:moveTo>
                <a:lnTo>
                  <a:pt x="853079" y="0"/>
                </a:lnTo>
                <a:lnTo>
                  <a:pt x="853079" y="1275221"/>
                </a:lnTo>
                <a:lnTo>
                  <a:pt x="0" y="12752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1"/>
          <p:cNvSpPr txBox="1">
            <a:spLocks noGrp="1"/>
          </p:cNvSpPr>
          <p:nvPr>
            <p:ph type="body" idx="1"/>
          </p:nvPr>
        </p:nvSpPr>
        <p:spPr>
          <a:xfrm>
            <a:off x="229247" y="216155"/>
            <a:ext cx="6200775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1" i="0" u="none" strike="noStrike" cap="none">
                <a:solidFill>
                  <a:srgbClr val="9200EE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1" name="Google Shape;211;p21"/>
          <p:cNvSpPr/>
          <p:nvPr/>
        </p:nvSpPr>
        <p:spPr>
          <a:xfrm rot="5400000">
            <a:off x="11051789" y="5534573"/>
            <a:ext cx="975860" cy="711491"/>
          </a:xfrm>
          <a:custGeom>
            <a:avLst/>
            <a:gdLst/>
            <a:ahLst/>
            <a:cxnLst/>
            <a:rect l="l" t="t" r="r" b="b"/>
            <a:pathLst>
              <a:path w="1463790" h="1067236" extrusionOk="0">
                <a:moveTo>
                  <a:pt x="0" y="0"/>
                </a:moveTo>
                <a:lnTo>
                  <a:pt x="1463790" y="0"/>
                </a:lnTo>
                <a:lnTo>
                  <a:pt x="1463790" y="1067236"/>
                </a:lnTo>
                <a:lnTo>
                  <a:pt x="0" y="10672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9747030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815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4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5" r:id="rId1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15558" y="-1889345"/>
            <a:ext cx="4023360" cy="4023360"/>
          </a:xfrm>
          <a:prstGeom prst="ellipse">
            <a:avLst/>
          </a:prstGeom>
          <a:solidFill>
            <a:srgbClr val="9200EE">
              <a:alpha val="19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-1280160" y="4206240"/>
            <a:ext cx="3840480" cy="3840480"/>
          </a:xfrm>
          <a:prstGeom prst="ellipse">
            <a:avLst/>
          </a:prstGeom>
          <a:solidFill>
            <a:srgbClr val="FFA502">
              <a:alpha val="3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9774936" y="5202936"/>
            <a:ext cx="0" cy="0"/>
          </a:xfrm>
          <a:prstGeom prst="line">
            <a:avLst/>
          </a:prstGeom>
          <a:noFill/>
          <a:ln w="19050">
            <a:solidFill>
              <a:srgbClr val="0E7C86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9774936" y="5202936"/>
            <a:ext cx="1097280" cy="731520"/>
          </a:xfrm>
          <a:prstGeom prst="line">
            <a:avLst/>
          </a:prstGeom>
          <a:noFill/>
          <a:ln w="19050">
            <a:solidFill>
              <a:srgbClr val="0E7C86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8860536" y="5202936"/>
            <a:ext cx="914400" cy="914400"/>
          </a:xfrm>
          <a:prstGeom prst="line">
            <a:avLst/>
          </a:prstGeom>
          <a:noFill/>
          <a:ln w="19050">
            <a:solidFill>
              <a:srgbClr val="0E7C86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9646920" y="5074920"/>
            <a:ext cx="292608" cy="292608"/>
          </a:xfrm>
          <a:prstGeom prst="ellipse">
            <a:avLst/>
          </a:prstGeom>
          <a:solidFill>
            <a:srgbClr val="E8A33D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10744200" y="5806440"/>
            <a:ext cx="292608" cy="292608"/>
          </a:xfrm>
          <a:prstGeom prst="ellipse">
            <a:avLst/>
          </a:prstGeom>
          <a:solidFill>
            <a:srgbClr val="0E7C8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8732520" y="5989320"/>
            <a:ext cx="292608" cy="292608"/>
          </a:xfrm>
          <a:prstGeom prst="ellipse">
            <a:avLst/>
          </a:prstGeom>
          <a:solidFill>
            <a:srgbClr val="0E7C8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630936" y="488094"/>
            <a:ext cx="689999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FFA5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UNAB  ·  FACULTAD DE INGENIERÍA  ·  INGENIERÍA DE SISTEMAS</a:t>
            </a:r>
            <a:endParaRPr lang="en-US" sz="1300">
              <a:solidFill>
                <a:srgbClr val="FFA502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1890943" y="1700784"/>
            <a:ext cx="4784177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indent="-228600" algn="ctr">
              <a:buClr>
                <a:srgbClr val="000000"/>
              </a:buClr>
              <a:buSzPts val="4400"/>
            </a:pPr>
            <a:r>
              <a:rPr lang="en-US" sz="4000" b="1">
                <a:solidFill>
                  <a:srgbClr val="9200EE"/>
                </a:solidFill>
                <a:latin typeface="Montserrat Black"/>
              </a:rPr>
              <a:t>Big Data en la Nube</a:t>
            </a:r>
          </a:p>
        </p:txBody>
      </p:sp>
      <p:sp>
        <p:nvSpPr>
          <p:cNvPr id="12" name="Text 10"/>
          <p:cNvSpPr/>
          <p:nvPr/>
        </p:nvSpPr>
        <p:spPr>
          <a:xfrm>
            <a:off x="630936" y="2968732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Clústeres Amazon EMR para Machine Learning con PySpark</a:t>
            </a:r>
            <a:endParaRPr lang="en-US" sz="2200">
              <a:solidFill>
                <a:srgbClr val="C00000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2560320" y="4085149"/>
            <a:ext cx="4970607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50" b="1">
                <a:latin typeface="Calibri" pitchFamily="34" charset="0"/>
                <a:ea typeface="Calibri" pitchFamily="34" charset="-122"/>
                <a:cs typeface="Calibri" pitchFamily="34" charset="-120"/>
              </a:rPr>
              <a:t>De un solo computador a un clúster distribuido: </a:t>
            </a:r>
            <a:r>
              <a:rPr lang="en-US" sz="1450">
                <a:latin typeface="Calibri" pitchFamily="34" charset="0"/>
                <a:ea typeface="Calibri" pitchFamily="34" charset="-122"/>
                <a:cs typeface="Calibri" pitchFamily="34" charset="-120"/>
              </a:rPr>
              <a:t>cómo procesar grandes volúmenes de datos con Hadoop y Spark, entrenar modelos de Machine Learning en la nube y conectarte a todo desde tu propio computador con VS Code y JupyterHub.</a:t>
            </a:r>
            <a:endParaRPr lang="en-US" sz="1450"/>
          </a:p>
        </p:txBody>
      </p:sp>
      <p:sp>
        <p:nvSpPr>
          <p:cNvPr id="14" name="Text 12"/>
          <p:cNvSpPr/>
          <p:nvPr/>
        </p:nvSpPr>
        <p:spPr>
          <a:xfrm>
            <a:off x="640080" y="62636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920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Alfredo  ·  Centro de Competencias Digitales (CCD) — Smart Regions Center</a:t>
            </a:r>
            <a:endParaRPr lang="en-US" sz="1150">
              <a:solidFill>
                <a:srgbClr val="9200EE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FFA50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920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>
              <a:solidFill>
                <a:srgbClr val="9200EE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396240" y="979074"/>
            <a:ext cx="1164336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indent="-228600">
              <a:buClr>
                <a:srgbClr val="000000"/>
              </a:buClr>
              <a:buSzPts val="4400"/>
            </a:pPr>
            <a:r>
              <a:rPr lang="en-US" sz="3200" b="1">
                <a:solidFill>
                  <a:srgbClr val="9200EE"/>
                </a:solidFill>
                <a:latin typeface="Montserrat Black"/>
                <a:sym typeface="Montserrat Black"/>
              </a:rPr>
              <a:t>De cero a un clúster EMR entrenando </a:t>
            </a:r>
            <a:r>
              <a:rPr lang="en-US" sz="3200" b="1" err="1">
                <a:solidFill>
                  <a:srgbClr val="9200EE"/>
                </a:solidFill>
                <a:latin typeface="Montserrat Black"/>
                <a:sym typeface="Montserrat Black"/>
              </a:rPr>
              <a:t>modelos</a:t>
            </a:r>
            <a:r>
              <a:rPr lang="en-US" sz="3200" b="1">
                <a:solidFill>
                  <a:srgbClr val="9200EE"/>
                </a:solidFill>
                <a:latin typeface="Montserrat Black"/>
                <a:sym typeface="Montserrat Black"/>
              </a:rPr>
              <a:t> ML</a:t>
            </a:r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9AA7BD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713232" y="1947672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/>
          </a:p>
        </p:txBody>
      </p:sp>
      <p:sp>
        <p:nvSpPr>
          <p:cNvPr id="7" name="Text 5"/>
          <p:cNvSpPr/>
          <p:nvPr/>
        </p:nvSpPr>
        <p:spPr>
          <a:xfrm>
            <a:off x="1508760" y="1929384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45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del Big Data</a:t>
            </a:r>
            <a:endParaRPr lang="en-US" sz="1450"/>
          </a:p>
        </p:txBody>
      </p:sp>
      <p:sp>
        <p:nvSpPr>
          <p:cNvPr id="8" name="Text 6"/>
          <p:cNvSpPr/>
          <p:nvPr/>
        </p:nvSpPr>
        <p:spPr>
          <a:xfrm>
            <a:off x="1508760" y="2350008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un solo servidor ya no alcanza</a:t>
            </a:r>
            <a:endParaRPr lang="en-US" sz="1150"/>
          </a:p>
        </p:txBody>
      </p:sp>
      <p:sp>
        <p:nvSpPr>
          <p:cNvPr id="9" name="Shape 7"/>
          <p:cNvSpPr/>
          <p:nvPr/>
        </p:nvSpPr>
        <p:spPr>
          <a:xfrm>
            <a:off x="6217920" y="178308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9AA7BD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6382512" y="1947672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/>
          </a:p>
        </p:txBody>
      </p:sp>
      <p:sp>
        <p:nvSpPr>
          <p:cNvPr id="11" name="Text 9"/>
          <p:cNvSpPr/>
          <p:nvPr/>
        </p:nvSpPr>
        <p:spPr>
          <a:xfrm>
            <a:off x="7178040" y="1929384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45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Hadoop y Spark</a:t>
            </a:r>
            <a:endParaRPr lang="en-US" sz="1450"/>
          </a:p>
        </p:txBody>
      </p:sp>
      <p:sp>
        <p:nvSpPr>
          <p:cNvPr id="12" name="Text 10"/>
          <p:cNvSpPr/>
          <p:nvPr/>
        </p:nvSpPr>
        <p:spPr>
          <a:xfrm>
            <a:off x="7178040" y="2350008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piezas que resuelven el procesamiento distribuido</a:t>
            </a:r>
            <a:endParaRPr lang="en-US" sz="1150"/>
          </a:p>
        </p:txBody>
      </p:sp>
      <p:sp>
        <p:nvSpPr>
          <p:cNvPr id="13" name="Shape 11"/>
          <p:cNvSpPr/>
          <p:nvPr/>
        </p:nvSpPr>
        <p:spPr>
          <a:xfrm>
            <a:off x="548640" y="320040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9AA7BD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713232" y="3364992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/>
          </a:p>
        </p:txBody>
      </p:sp>
      <p:sp>
        <p:nvSpPr>
          <p:cNvPr id="15" name="Text 13"/>
          <p:cNvSpPr/>
          <p:nvPr/>
        </p:nvSpPr>
        <p:spPr>
          <a:xfrm>
            <a:off x="1508760" y="3346704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45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un clúster EMR</a:t>
            </a:r>
            <a:endParaRPr lang="en-US" sz="1450"/>
          </a:p>
        </p:txBody>
      </p:sp>
      <p:sp>
        <p:nvSpPr>
          <p:cNvPr id="16" name="Text 14"/>
          <p:cNvSpPr/>
          <p:nvPr/>
        </p:nvSpPr>
        <p:spPr>
          <a:xfrm>
            <a:off x="1508760" y="3767328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 master, nodos core y task</a:t>
            </a:r>
            <a:endParaRPr lang="en-US" sz="1150"/>
          </a:p>
        </p:txBody>
      </p:sp>
      <p:sp>
        <p:nvSpPr>
          <p:cNvPr id="17" name="Shape 15"/>
          <p:cNvSpPr/>
          <p:nvPr/>
        </p:nvSpPr>
        <p:spPr>
          <a:xfrm>
            <a:off x="6217920" y="320040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9AA7BD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6382512" y="3364992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/>
          </a:p>
        </p:txBody>
      </p:sp>
      <p:sp>
        <p:nvSpPr>
          <p:cNvPr id="19" name="Text 17"/>
          <p:cNvSpPr/>
          <p:nvPr/>
        </p:nvSpPr>
        <p:spPr>
          <a:xfrm>
            <a:off x="7178040" y="3346704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45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Creación del clúster en AWS</a:t>
            </a:r>
            <a:endParaRPr lang="en-US" sz="1450"/>
          </a:p>
        </p:txBody>
      </p:sp>
      <p:sp>
        <p:nvSpPr>
          <p:cNvPr id="20" name="Text 18"/>
          <p:cNvSpPr/>
          <p:nvPr/>
        </p:nvSpPr>
        <p:spPr>
          <a:xfrm>
            <a:off x="7178040" y="3767328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Instancias, seguridad y herramientas</a:t>
            </a:r>
            <a:endParaRPr lang="en-US" sz="1150"/>
          </a:p>
        </p:txBody>
      </p:sp>
      <p:sp>
        <p:nvSpPr>
          <p:cNvPr id="21" name="Shape 19"/>
          <p:cNvSpPr/>
          <p:nvPr/>
        </p:nvSpPr>
        <p:spPr>
          <a:xfrm>
            <a:off x="548640" y="461772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9AA7BD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713232" y="4782312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/>
          </a:p>
        </p:txBody>
      </p:sp>
      <p:sp>
        <p:nvSpPr>
          <p:cNvPr id="23" name="Text 21"/>
          <p:cNvSpPr/>
          <p:nvPr/>
        </p:nvSpPr>
        <p:spPr>
          <a:xfrm>
            <a:off x="1508760" y="4764024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45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remota</a:t>
            </a:r>
            <a:endParaRPr lang="en-US" sz="1450"/>
          </a:p>
        </p:txBody>
      </p:sp>
      <p:sp>
        <p:nvSpPr>
          <p:cNvPr id="24" name="Text 22"/>
          <p:cNvSpPr/>
          <p:nvPr/>
        </p:nvSpPr>
        <p:spPr>
          <a:xfrm>
            <a:off x="1508760" y="5184648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(SSH) y JupyterHub desde tu PC</a:t>
            </a:r>
            <a:endParaRPr lang="en-US" sz="1150"/>
          </a:p>
        </p:txBody>
      </p:sp>
      <p:sp>
        <p:nvSpPr>
          <p:cNvPr id="25" name="Shape 23"/>
          <p:cNvSpPr/>
          <p:nvPr/>
        </p:nvSpPr>
        <p:spPr>
          <a:xfrm>
            <a:off x="6217920" y="461772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9AA7BD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6382512" y="4782312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/>
          </a:p>
        </p:txBody>
      </p:sp>
      <p:sp>
        <p:nvSpPr>
          <p:cNvPr id="27" name="Text 25"/>
          <p:cNvSpPr/>
          <p:nvPr/>
        </p:nvSpPr>
        <p:spPr>
          <a:xfrm>
            <a:off x="7178040" y="4764024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45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práctico PySpark ML</a:t>
            </a:r>
            <a:endParaRPr lang="en-US" sz="1450"/>
          </a:p>
        </p:txBody>
      </p:sp>
      <p:sp>
        <p:nvSpPr>
          <p:cNvPr id="28" name="Text 26"/>
          <p:cNvSpPr/>
          <p:nvPr/>
        </p:nvSpPr>
        <p:spPr>
          <a:xfrm>
            <a:off x="7178040" y="5184648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 precios con el dataset Peritazgo.csv</a:t>
            </a:r>
            <a:endParaRPr lang="en-US" sz="1150"/>
          </a:p>
        </p:txBody>
      </p:sp>
      <p:sp>
        <p:nvSpPr>
          <p:cNvPr id="29" name="Text 27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en AWS · EMR + PySpark ML</a:t>
            </a:r>
            <a:endParaRPr lang="en-US" sz="900"/>
          </a:p>
        </p:txBody>
      </p:sp>
      <p:sp>
        <p:nvSpPr>
          <p:cNvPr id="30" name="Text 28"/>
          <p:cNvSpPr/>
          <p:nvPr/>
        </p:nvSpPr>
        <p:spPr>
          <a:xfrm>
            <a:off x="7955280" y="652881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UNAB · Ingeniería de Sistemas</a:t>
            </a:r>
            <a:endParaRPr lang="en-US" sz="900"/>
          </a:p>
        </p:txBody>
      </p:sp>
      <p:sp>
        <p:nvSpPr>
          <p:cNvPr id="31" name="Text 29"/>
          <p:cNvSpPr/>
          <p:nvPr/>
        </p:nvSpPr>
        <p:spPr>
          <a:xfrm>
            <a:off x="1161288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79311" y="317177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FFA50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9279311" y="317177"/>
            <a:ext cx="2377440" cy="310896"/>
          </a:xfrm>
          <a:prstGeom prst="rect">
            <a:avLst/>
          </a:prstGeom>
          <a:solidFill>
            <a:srgbClr val="FFA50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0A5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100"/>
          </a:p>
        </p:txBody>
      </p:sp>
      <p:sp>
        <p:nvSpPr>
          <p:cNvPr id="4" name="Text 2"/>
          <p:cNvSpPr/>
          <p:nvPr/>
        </p:nvSpPr>
        <p:spPr>
          <a:xfrm>
            <a:off x="914400" y="879117"/>
            <a:ext cx="11064240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indent="-228600">
              <a:buClr>
                <a:srgbClr val="000000"/>
              </a:buClr>
              <a:buSzPts val="4400"/>
            </a:pPr>
            <a:r>
              <a:rPr lang="en-US" sz="3200" b="1">
                <a:solidFill>
                  <a:srgbClr val="9200EE"/>
                </a:solidFill>
                <a:latin typeface="Montserrat Black"/>
                <a:sym typeface="Montserrat Black"/>
              </a:rPr>
              <a:t>¿Qué pasa cuando los datos ya no caben en un </a:t>
            </a:r>
            <a:r>
              <a:rPr lang="en-US" sz="3200" b="1" err="1">
                <a:solidFill>
                  <a:srgbClr val="9200EE"/>
                </a:solidFill>
                <a:latin typeface="Montserrat Black"/>
                <a:sym typeface="Montserrat Black"/>
              </a:rPr>
              <a:t>computador</a:t>
            </a:r>
            <a:r>
              <a:rPr lang="en-US" sz="3200" b="1">
                <a:solidFill>
                  <a:srgbClr val="9200EE"/>
                </a:solidFill>
                <a:latin typeface="Montserrat Black"/>
                <a:sym typeface="Montserrat Black"/>
              </a:rPr>
              <a:t>?</a:t>
            </a:r>
          </a:p>
        </p:txBody>
      </p:sp>
      <p:sp>
        <p:nvSpPr>
          <p:cNvPr id="5" name="Text 3"/>
          <p:cNvSpPr/>
          <p:nvPr/>
        </p:nvSpPr>
        <p:spPr>
          <a:xfrm>
            <a:off x="1348508" y="1965960"/>
            <a:ext cx="4686531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just">
              <a:lnSpc>
                <a:spcPct val="125000"/>
              </a:lnSpc>
              <a:buSzPct val="100000"/>
              <a:buChar char="•"/>
            </a:pPr>
            <a:r>
              <a:rPr lang="en-US" sz="135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servidor tradicional procesa datos en un solo CPU, con RAM y disco limitados: al crecer el volumen, el tiempo de procesamiento crece o simplemente el proceso falla (out of memory).</a:t>
            </a:r>
            <a:endParaRPr lang="en-US" sz="1350"/>
          </a:p>
          <a:p>
            <a:pPr marL="177800" indent="-177800" algn="just">
              <a:lnSpc>
                <a:spcPct val="125000"/>
              </a:lnSpc>
              <a:buSzPct val="100000"/>
              <a:buChar char="•"/>
            </a:pPr>
            <a:r>
              <a:rPr lang="en-US" sz="135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de entrenamiento en Machine Learning no son solo grandes: llegan en múltiples formatos, desde muchas fuentes y a gran velocidad (logs, sensores IoT, transacciones, redes sociales).</a:t>
            </a:r>
            <a:endParaRPr lang="en-US" sz="1350"/>
          </a:p>
          <a:p>
            <a:pPr marL="177800" indent="-177800" algn="just">
              <a:lnSpc>
                <a:spcPct val="125000"/>
              </a:lnSpc>
              <a:buSzPct val="100000"/>
              <a:buChar char="•"/>
            </a:pPr>
            <a:r>
              <a:rPr lang="en-US" sz="135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 no es "un computador más potente" (escalar verticalmente) sino repartir el trabajo entre muchos computadores que colaboran como un solo sistema: un clúster (escalar horizontalmente).</a:t>
            </a:r>
            <a:endParaRPr lang="en-US" sz="1350"/>
          </a:p>
        </p:txBody>
      </p:sp>
      <p:sp>
        <p:nvSpPr>
          <p:cNvPr id="6" name="Shape 4"/>
          <p:cNvSpPr/>
          <p:nvPr/>
        </p:nvSpPr>
        <p:spPr>
          <a:xfrm>
            <a:off x="6371705" y="1792224"/>
            <a:ext cx="5303520" cy="4206240"/>
          </a:xfrm>
          <a:prstGeom prst="roundRect">
            <a:avLst>
              <a:gd name="adj" fmla="val 1739"/>
            </a:avLst>
          </a:prstGeom>
          <a:solidFill>
            <a:srgbClr val="9200EE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9AA7BD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6629400" y="1965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5V del Big Data</a:t>
            </a:r>
            <a:endParaRPr lang="en-US" sz="2400"/>
          </a:p>
        </p:txBody>
      </p:sp>
      <p:sp>
        <p:nvSpPr>
          <p:cNvPr id="8" name="Shape 6"/>
          <p:cNvSpPr/>
          <p:nvPr/>
        </p:nvSpPr>
        <p:spPr>
          <a:xfrm>
            <a:off x="6629400" y="2496312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6629400" y="24963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1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/>
          </a:p>
        </p:txBody>
      </p:sp>
      <p:sp>
        <p:nvSpPr>
          <p:cNvPr id="10" name="Text 8"/>
          <p:cNvSpPr/>
          <p:nvPr/>
        </p:nvSpPr>
        <p:spPr>
          <a:xfrm>
            <a:off x="7086600" y="2441448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Volumen  </a:t>
            </a:r>
            <a:r>
              <a:rPr lang="en-US">
                <a:solidFill>
                  <a:srgbClr val="D9E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Terabytes o petabytes de datos</a:t>
            </a:r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629400" y="3154680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6629400" y="31546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1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7086600" y="3099816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  </a:t>
            </a:r>
            <a:r>
              <a:rPr lang="en-US">
                <a:solidFill>
                  <a:srgbClr val="D9E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que llegan de forma continua</a:t>
            </a:r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629400" y="3813048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6629400" y="38130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1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7086600" y="3758184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Variedad  </a:t>
            </a:r>
            <a:r>
              <a:rPr lang="en-US">
                <a:solidFill>
                  <a:srgbClr val="D9E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Estructurados, semiestructurados y no estructurados</a:t>
            </a:r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629400" y="4471416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6629400" y="447141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1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/>
          </a:p>
        </p:txBody>
      </p:sp>
      <p:sp>
        <p:nvSpPr>
          <p:cNvPr id="19" name="Text 17"/>
          <p:cNvSpPr/>
          <p:nvPr/>
        </p:nvSpPr>
        <p:spPr>
          <a:xfrm>
            <a:off x="7086600" y="4416552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Veracidad  </a:t>
            </a:r>
            <a:r>
              <a:rPr lang="en-US">
                <a:solidFill>
                  <a:srgbClr val="D9E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y confiabilidad de los datos</a:t>
            </a:r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629400" y="5129784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6629400" y="512978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1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/>
          </a:p>
        </p:txBody>
      </p:sp>
      <p:sp>
        <p:nvSpPr>
          <p:cNvPr id="22" name="Text 20"/>
          <p:cNvSpPr/>
          <p:nvPr/>
        </p:nvSpPr>
        <p:spPr>
          <a:xfrm>
            <a:off x="7086600" y="507492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 </a:t>
            </a:r>
            <a:r>
              <a:rPr lang="en-US">
                <a:solidFill>
                  <a:srgbClr val="D9E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útil para decisiones de negocio</a:t>
            </a:r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59358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en AWS · EMR + PySpark ML</a:t>
            </a:r>
            <a:endParaRPr lang="en-US" sz="900"/>
          </a:p>
        </p:txBody>
      </p:sp>
      <p:sp>
        <p:nvSpPr>
          <p:cNvPr id="24" name="Text 22"/>
          <p:cNvSpPr/>
          <p:nvPr/>
        </p:nvSpPr>
        <p:spPr>
          <a:xfrm>
            <a:off x="7955280" y="652881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UNAB · Ingeniería de Sistemas</a:t>
            </a:r>
            <a:endParaRPr lang="en-US" sz="900"/>
          </a:p>
        </p:txBody>
      </p:sp>
      <p:sp>
        <p:nvSpPr>
          <p:cNvPr id="25" name="Text 23"/>
          <p:cNvSpPr/>
          <p:nvPr/>
        </p:nvSpPr>
        <p:spPr>
          <a:xfrm>
            <a:off x="1161288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FBEAD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920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100">
              <a:solidFill>
                <a:srgbClr val="9200EE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9890760" cy="1354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indent="-228600">
              <a:buClr>
                <a:srgbClr val="000000"/>
              </a:buClr>
              <a:buSzPts val="4400"/>
            </a:pPr>
            <a:r>
              <a:rPr lang="en-US" sz="4400" b="1">
                <a:solidFill>
                  <a:srgbClr val="9200EE"/>
                </a:solidFill>
                <a:latin typeface="Montserrat Black"/>
                <a:sym typeface="Montserrat Black"/>
              </a:rPr>
              <a:t>Escalar verticalmente vs. </a:t>
            </a:r>
            <a:r>
              <a:rPr lang="en-US" sz="4400" b="1" err="1">
                <a:solidFill>
                  <a:srgbClr val="9200EE"/>
                </a:solidFill>
                <a:latin typeface="Montserrat Black"/>
                <a:sym typeface="Montserrat Black"/>
              </a:rPr>
              <a:t>escalar</a:t>
            </a:r>
            <a:r>
              <a:rPr lang="en-US" sz="4400" b="1">
                <a:solidFill>
                  <a:srgbClr val="9200EE"/>
                </a:solidFill>
                <a:latin typeface="Montserrat Black"/>
                <a:sym typeface="Montserrat Black"/>
              </a:rPr>
              <a:t> </a:t>
            </a:r>
            <a:r>
              <a:rPr lang="en-US" sz="4400" b="1" err="1">
                <a:solidFill>
                  <a:srgbClr val="9200EE"/>
                </a:solidFill>
                <a:latin typeface="Montserrat Black"/>
                <a:sym typeface="Montserrat Black"/>
              </a:rPr>
              <a:t>horizontalmente</a:t>
            </a:r>
            <a:endParaRPr lang="en-US" sz="4400" b="1">
              <a:solidFill>
                <a:srgbClr val="9200EE"/>
              </a:solidFill>
              <a:latin typeface="Montserrat Black"/>
              <a:sym typeface="Montserrat Black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37160" y="2073205"/>
            <a:ext cx="4446847" cy="3205019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9AA7BD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411480" y="2347525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BEAD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411480" y="2347525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/>
          </a:p>
        </p:txBody>
      </p:sp>
      <p:sp>
        <p:nvSpPr>
          <p:cNvPr id="8" name="Text 6"/>
          <p:cNvSpPr/>
          <p:nvPr/>
        </p:nvSpPr>
        <p:spPr>
          <a:xfrm>
            <a:off x="1097280" y="2365813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Escalamiento vertical</a:t>
            </a:r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457200" y="3092513"/>
            <a:ext cx="3931920" cy="20691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30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servidor: más RAM, más CPU, disco más grande</a:t>
            </a:r>
            <a:endParaRPr lang="en-US" sz="130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30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un límite físico y de costo: el hardware de gama alta es exponencialmente más caro</a:t>
            </a:r>
            <a:endParaRPr lang="en-US" sz="130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30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único de falla: si el servidor cae, todo el proceso se detiene</a:t>
            </a:r>
            <a:endParaRPr lang="en-US" sz="130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30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paralelismo real entre máquinas</a:t>
            </a:r>
            <a:endParaRPr lang="en-US" sz="1300"/>
          </a:p>
        </p:txBody>
      </p:sp>
      <p:sp>
        <p:nvSpPr>
          <p:cNvPr id="10" name="Shape 8"/>
          <p:cNvSpPr/>
          <p:nvPr/>
        </p:nvSpPr>
        <p:spPr>
          <a:xfrm>
            <a:off x="5897880" y="2073205"/>
            <a:ext cx="4446847" cy="3205019"/>
          </a:xfrm>
          <a:prstGeom prst="roundRect">
            <a:avLst>
              <a:gd name="adj" fmla="val 1778"/>
            </a:avLst>
          </a:prstGeom>
          <a:solidFill>
            <a:srgbClr val="0E7C86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9AA7BD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6172200" y="2347525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6172200" y="2347525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/>
          </a:p>
        </p:txBody>
      </p:sp>
      <p:sp>
        <p:nvSpPr>
          <p:cNvPr id="13" name="Text 11"/>
          <p:cNvSpPr/>
          <p:nvPr/>
        </p:nvSpPr>
        <p:spPr>
          <a:xfrm>
            <a:off x="6858000" y="2365813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Escalamiento horizontal</a:t>
            </a:r>
            <a:endParaRPr lang="en-US" sz="1600"/>
          </a:p>
        </p:txBody>
      </p:sp>
      <p:sp>
        <p:nvSpPr>
          <p:cNvPr id="14" name="Text 12"/>
          <p:cNvSpPr/>
          <p:nvPr/>
        </p:nvSpPr>
        <p:spPr>
          <a:xfrm>
            <a:off x="6217920" y="2966465"/>
            <a:ext cx="3931920" cy="2269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Muchos servidores “más pequeños” trabajando juntos como un clúster</a:t>
            </a:r>
            <a:endParaRPr lang="en-US" sz="130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trabajo (y los datos) se reparten entre nodos: procesamiento paralelo real</a:t>
            </a:r>
            <a:endParaRPr lang="en-US" sz="130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Tolerancia a fallos: si un nodo falla, otros continúan el trabajo</a:t>
            </a:r>
            <a:endParaRPr lang="en-US" sz="130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agregan más nodos a demanda: elasticidad y control de costos</a:t>
            </a:r>
            <a:endParaRPr lang="en-US" sz="1300"/>
          </a:p>
        </p:txBody>
      </p:sp>
      <p:sp>
        <p:nvSpPr>
          <p:cNvPr id="15" name="Text 13"/>
          <p:cNvSpPr/>
          <p:nvPr/>
        </p:nvSpPr>
        <p:spPr>
          <a:xfrm>
            <a:off x="1097280" y="62750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FFA5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en AWS · EMR + PySpark ML</a:t>
            </a:r>
            <a:endParaRPr lang="en-US" sz="900">
              <a:solidFill>
                <a:srgbClr val="FFA502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7545705" y="6304441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20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UNAB · Ingeniería de Sistemas</a:t>
            </a:r>
            <a:endParaRPr lang="en-US" sz="900">
              <a:solidFill>
                <a:srgbClr val="9200EE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1161288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D9EEE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0A5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1100"/>
          </a:p>
        </p:txBody>
      </p:sp>
      <p:sp>
        <p:nvSpPr>
          <p:cNvPr id="4" name="Text 2"/>
          <p:cNvSpPr/>
          <p:nvPr/>
        </p:nvSpPr>
        <p:spPr>
          <a:xfrm>
            <a:off x="-56197" y="862870"/>
            <a:ext cx="12304394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indent="-228600">
              <a:buClr>
                <a:srgbClr val="000000"/>
              </a:buClr>
              <a:buSzPts val="4400"/>
            </a:pPr>
            <a:r>
              <a:rPr lang="en-US" sz="4000" b="1">
                <a:solidFill>
                  <a:srgbClr val="9200EE"/>
                </a:solidFill>
                <a:latin typeface="Montserrat Black"/>
                <a:sym typeface="Montserrat Black"/>
              </a:rPr>
              <a:t>Apache Hadoop:</a:t>
            </a:r>
          </a:p>
          <a:p>
            <a:pPr marL="457200" indent="-228600">
              <a:buClr>
                <a:srgbClr val="000000"/>
              </a:buClr>
              <a:buSzPts val="4400"/>
            </a:pPr>
            <a:r>
              <a:rPr lang="en-US" sz="4000" b="1">
                <a:solidFill>
                  <a:srgbClr val="9200EE"/>
                </a:solidFill>
                <a:latin typeface="Montserrat Black"/>
                <a:sym typeface="Montserrat Black"/>
              </a:rPr>
              <a:t> almacenamiento y </a:t>
            </a:r>
            <a:r>
              <a:rPr lang="en-US" sz="4000" b="1" err="1">
                <a:solidFill>
                  <a:srgbClr val="9200EE"/>
                </a:solidFill>
                <a:latin typeface="Montserrat Black"/>
                <a:sym typeface="Montserrat Black"/>
              </a:rPr>
              <a:t>cómputo</a:t>
            </a:r>
            <a:r>
              <a:rPr lang="en-US" sz="4000" b="1">
                <a:solidFill>
                  <a:srgbClr val="9200EE"/>
                </a:solidFill>
                <a:latin typeface="Montserrat Black"/>
                <a:sym typeface="Montserrat Black"/>
              </a:rPr>
              <a:t> </a:t>
            </a:r>
            <a:r>
              <a:rPr lang="en-US" sz="4000" b="1" err="1">
                <a:solidFill>
                  <a:srgbClr val="9200EE"/>
                </a:solidFill>
                <a:latin typeface="Montserrat Black"/>
                <a:sym typeface="Montserrat Black"/>
              </a:rPr>
              <a:t>distribuidos</a:t>
            </a:r>
            <a:endParaRPr lang="en-US" sz="4000" b="1">
              <a:solidFill>
                <a:srgbClr val="9200EE"/>
              </a:solidFill>
              <a:latin typeface="Montserrat Black"/>
              <a:sym typeface="Montserrat Black"/>
            </a:endParaRPr>
          </a:p>
        </p:txBody>
      </p:sp>
      <p:sp>
        <p:nvSpPr>
          <p:cNvPr id="5" name="Text 3"/>
          <p:cNvSpPr/>
          <p:nvPr/>
        </p:nvSpPr>
        <p:spPr>
          <a:xfrm>
            <a:off x="299085" y="2964561"/>
            <a:ext cx="428625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350" b="1">
                <a:solidFill>
                  <a:srgbClr val="0A5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 (Hadoop Distributed File System)</a:t>
            </a:r>
            <a:endParaRPr lang="en-US" sz="135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35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cada archivo en bloques (128–256 MB) y los replica (normalmente 3 copias) en distintos nodos del clúster.</a:t>
            </a:r>
            <a:endParaRPr lang="en-US" sz="135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350" b="1">
                <a:solidFill>
                  <a:srgbClr val="0A5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MapReduce</a:t>
            </a:r>
            <a:endParaRPr lang="en-US" sz="135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35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programación que procesa esos bloques en paralelo, cerca de donde están almacenados ("llevar el cómputo a los datos", no al revés).</a:t>
            </a:r>
            <a:endParaRPr lang="en-US" sz="135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350" b="1">
                <a:solidFill>
                  <a:srgbClr val="0A5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35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35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clúster de máquinas comunes (commodity hardware) se comporta como un solo sistema de almacenamiento y cómputo masivo, tolerante a fallos.</a:t>
            </a:r>
            <a:endParaRPr lang="en-US" sz="1350"/>
          </a:p>
        </p:txBody>
      </p:sp>
      <p:sp>
        <p:nvSpPr>
          <p:cNvPr id="6" name="Shape 4"/>
          <p:cNvSpPr/>
          <p:nvPr/>
        </p:nvSpPr>
        <p:spPr>
          <a:xfrm>
            <a:off x="5126357" y="2322576"/>
            <a:ext cx="530352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9AA7BD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5400677" y="250545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archivo dividido en bloques replicados</a:t>
            </a:r>
            <a:endParaRPr lang="en-US" sz="1300"/>
          </a:p>
        </p:txBody>
      </p:sp>
      <p:sp>
        <p:nvSpPr>
          <p:cNvPr id="8" name="Shape 6"/>
          <p:cNvSpPr/>
          <p:nvPr/>
        </p:nvSpPr>
        <p:spPr>
          <a:xfrm>
            <a:off x="5400677" y="3054096"/>
            <a:ext cx="1463040" cy="3108960"/>
          </a:xfrm>
          <a:prstGeom prst="roundRect">
            <a:avLst>
              <a:gd name="adj" fmla="val 3750"/>
            </a:avLst>
          </a:prstGeom>
          <a:solidFill>
            <a:srgbClr val="F6F8FB"/>
          </a:solidFill>
          <a:ln w="12700">
            <a:solidFill>
              <a:srgbClr val="E1E7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5400677" y="314553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 A</a:t>
            </a:r>
            <a:endParaRPr lang="en-US" sz="1150"/>
          </a:p>
        </p:txBody>
      </p:sp>
      <p:sp>
        <p:nvSpPr>
          <p:cNvPr id="10" name="Shape 8"/>
          <p:cNvSpPr/>
          <p:nvPr/>
        </p:nvSpPr>
        <p:spPr>
          <a:xfrm>
            <a:off x="5537837" y="3511296"/>
            <a:ext cx="1188720" cy="685800"/>
          </a:xfrm>
          <a:prstGeom prst="roundRect">
            <a:avLst>
              <a:gd name="adj" fmla="val 6667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5537837" y="3511296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</a:t>
            </a:r>
            <a:endParaRPr lang="en-US" sz="1050"/>
          </a:p>
        </p:txBody>
      </p:sp>
      <p:sp>
        <p:nvSpPr>
          <p:cNvPr id="12" name="Shape 10"/>
          <p:cNvSpPr/>
          <p:nvPr/>
        </p:nvSpPr>
        <p:spPr>
          <a:xfrm>
            <a:off x="5537837" y="4379976"/>
            <a:ext cx="1188720" cy="685800"/>
          </a:xfrm>
          <a:prstGeom prst="roundRect">
            <a:avLst>
              <a:gd name="adj" fmla="val 6667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5537837" y="4379976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</a:t>
            </a:r>
            <a:endParaRPr lang="en-US" sz="1050"/>
          </a:p>
        </p:txBody>
      </p:sp>
      <p:sp>
        <p:nvSpPr>
          <p:cNvPr id="14" name="Shape 12"/>
          <p:cNvSpPr/>
          <p:nvPr/>
        </p:nvSpPr>
        <p:spPr>
          <a:xfrm>
            <a:off x="7092317" y="3054096"/>
            <a:ext cx="1463040" cy="3108960"/>
          </a:xfrm>
          <a:prstGeom prst="roundRect">
            <a:avLst>
              <a:gd name="adj" fmla="val 3750"/>
            </a:avLst>
          </a:prstGeom>
          <a:solidFill>
            <a:srgbClr val="F6F8FB"/>
          </a:solidFill>
          <a:ln w="12700">
            <a:solidFill>
              <a:srgbClr val="E1E7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7092317" y="314553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 B</a:t>
            </a:r>
            <a:endParaRPr lang="en-US" sz="1150"/>
          </a:p>
        </p:txBody>
      </p:sp>
      <p:sp>
        <p:nvSpPr>
          <p:cNvPr id="16" name="Shape 14"/>
          <p:cNvSpPr/>
          <p:nvPr/>
        </p:nvSpPr>
        <p:spPr>
          <a:xfrm>
            <a:off x="7229477" y="3511296"/>
            <a:ext cx="1188720" cy="685800"/>
          </a:xfrm>
          <a:prstGeom prst="roundRect">
            <a:avLst>
              <a:gd name="adj" fmla="val 6667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7229477" y="3511296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</a:t>
            </a:r>
            <a:endParaRPr lang="en-US" sz="1050"/>
          </a:p>
        </p:txBody>
      </p:sp>
      <p:sp>
        <p:nvSpPr>
          <p:cNvPr id="18" name="Shape 16"/>
          <p:cNvSpPr/>
          <p:nvPr/>
        </p:nvSpPr>
        <p:spPr>
          <a:xfrm>
            <a:off x="7229477" y="4379976"/>
            <a:ext cx="1188720" cy="685800"/>
          </a:xfrm>
          <a:prstGeom prst="roundRect">
            <a:avLst>
              <a:gd name="adj" fmla="val 6667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7229477" y="4379976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</a:t>
            </a:r>
            <a:endParaRPr lang="en-US" sz="1050"/>
          </a:p>
        </p:txBody>
      </p:sp>
      <p:sp>
        <p:nvSpPr>
          <p:cNvPr id="20" name="Shape 18"/>
          <p:cNvSpPr/>
          <p:nvPr/>
        </p:nvSpPr>
        <p:spPr>
          <a:xfrm>
            <a:off x="8783957" y="3054096"/>
            <a:ext cx="1463040" cy="3108960"/>
          </a:xfrm>
          <a:prstGeom prst="roundRect">
            <a:avLst>
              <a:gd name="adj" fmla="val 3750"/>
            </a:avLst>
          </a:prstGeom>
          <a:solidFill>
            <a:srgbClr val="F6F8FB"/>
          </a:solidFill>
          <a:ln w="12700">
            <a:solidFill>
              <a:srgbClr val="E1E7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8783957" y="314553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 C</a:t>
            </a:r>
            <a:endParaRPr lang="en-US" sz="1150"/>
          </a:p>
        </p:txBody>
      </p:sp>
      <p:sp>
        <p:nvSpPr>
          <p:cNvPr id="22" name="Shape 20"/>
          <p:cNvSpPr/>
          <p:nvPr/>
        </p:nvSpPr>
        <p:spPr>
          <a:xfrm>
            <a:off x="8921117" y="3511296"/>
            <a:ext cx="1188720" cy="685800"/>
          </a:xfrm>
          <a:prstGeom prst="roundRect">
            <a:avLst>
              <a:gd name="adj" fmla="val 6667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8921117" y="3511296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</a:t>
            </a:r>
            <a:endParaRPr lang="en-US" sz="1050"/>
          </a:p>
        </p:txBody>
      </p:sp>
      <p:sp>
        <p:nvSpPr>
          <p:cNvPr id="24" name="Shape 22"/>
          <p:cNvSpPr/>
          <p:nvPr/>
        </p:nvSpPr>
        <p:spPr>
          <a:xfrm>
            <a:off x="8921117" y="4379976"/>
            <a:ext cx="1188720" cy="685800"/>
          </a:xfrm>
          <a:prstGeom prst="roundRect">
            <a:avLst>
              <a:gd name="adj" fmla="val 6667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8921117" y="4379976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</a:t>
            </a:r>
            <a:endParaRPr lang="en-US" sz="1050"/>
          </a:p>
        </p:txBody>
      </p:sp>
      <p:sp>
        <p:nvSpPr>
          <p:cNvPr id="26" name="Text 24"/>
          <p:cNvSpPr/>
          <p:nvPr/>
        </p:nvSpPr>
        <p:spPr>
          <a:xfrm>
            <a:off x="5400677" y="598017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bloque se replica en al menos 2 nodos: si uno falla, los datos siguen disponibles.</a:t>
            </a:r>
            <a:endParaRPr lang="en-US" sz="1050"/>
          </a:p>
        </p:txBody>
      </p:sp>
      <p:sp>
        <p:nvSpPr>
          <p:cNvPr id="27" name="Text 25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en AWS · EMR + PySpark ML</a:t>
            </a:r>
            <a:endParaRPr lang="en-US" sz="900"/>
          </a:p>
        </p:txBody>
      </p:sp>
      <p:sp>
        <p:nvSpPr>
          <p:cNvPr id="28" name="Text 26"/>
          <p:cNvSpPr/>
          <p:nvPr/>
        </p:nvSpPr>
        <p:spPr>
          <a:xfrm>
            <a:off x="7955280" y="652881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UNAB · Ingeniería de Sistemas</a:t>
            </a:r>
            <a:endParaRPr lang="en-US" sz="900"/>
          </a:p>
        </p:txBody>
      </p:sp>
      <p:sp>
        <p:nvSpPr>
          <p:cNvPr id="29" name="Text 27"/>
          <p:cNvSpPr/>
          <p:nvPr/>
        </p:nvSpPr>
        <p:spPr>
          <a:xfrm>
            <a:off x="1161288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D9EEE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0A5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1100"/>
          </a:p>
        </p:txBody>
      </p:sp>
      <p:sp>
        <p:nvSpPr>
          <p:cNvPr id="4" name="Text 2"/>
          <p:cNvSpPr/>
          <p:nvPr/>
        </p:nvSpPr>
        <p:spPr>
          <a:xfrm>
            <a:off x="662940" y="758500"/>
            <a:ext cx="11064240" cy="1354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indent="-228600">
              <a:buClr>
                <a:srgbClr val="000000"/>
              </a:buClr>
              <a:buSzPts val="4400"/>
            </a:pPr>
            <a:r>
              <a:rPr lang="en-US" sz="4400" b="1">
                <a:solidFill>
                  <a:srgbClr val="9200EE"/>
                </a:solidFill>
                <a:latin typeface="Montserrat Black"/>
                <a:sym typeface="Montserrat Black"/>
              </a:rPr>
              <a:t>Apache Spark: </a:t>
            </a:r>
          </a:p>
          <a:p>
            <a:pPr marL="457200" indent="-228600">
              <a:buClr>
                <a:srgbClr val="000000"/>
              </a:buClr>
              <a:buSzPts val="4400"/>
            </a:pPr>
            <a:r>
              <a:rPr lang="en-US" sz="4400" b="1" err="1">
                <a:solidFill>
                  <a:srgbClr val="9200EE"/>
                </a:solidFill>
                <a:latin typeface="Montserrat Black"/>
                <a:sym typeface="Montserrat Black"/>
              </a:rPr>
              <a:t>procesamiento</a:t>
            </a:r>
            <a:r>
              <a:rPr lang="en-US" sz="4400" b="1">
                <a:solidFill>
                  <a:srgbClr val="9200EE"/>
                </a:solidFill>
                <a:latin typeface="Montserrat Black"/>
                <a:sym typeface="Montserrat Black"/>
              </a:rPr>
              <a:t> </a:t>
            </a:r>
            <a:r>
              <a:rPr lang="en-US" sz="4400" b="1" err="1">
                <a:solidFill>
                  <a:srgbClr val="9200EE"/>
                </a:solidFill>
                <a:latin typeface="Montserrat Black"/>
                <a:sym typeface="Montserrat Black"/>
              </a:rPr>
              <a:t>en</a:t>
            </a:r>
            <a:r>
              <a:rPr lang="en-US" sz="4400" b="1">
                <a:solidFill>
                  <a:srgbClr val="9200EE"/>
                </a:solidFill>
                <a:latin typeface="Montserrat Black"/>
                <a:sym typeface="Montserrat Black"/>
              </a:rPr>
              <a:t> memoria</a:t>
            </a:r>
          </a:p>
        </p:txBody>
      </p:sp>
      <p:sp>
        <p:nvSpPr>
          <p:cNvPr id="5" name="Text 3"/>
          <p:cNvSpPr/>
          <p:nvPr/>
        </p:nvSpPr>
        <p:spPr>
          <a:xfrm>
            <a:off x="424815" y="2294001"/>
            <a:ext cx="4137660" cy="389724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35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surge como evolución de MapReduce: en vez de escribir resultados intermedios en disco entre cada etapa, los mantiene en memoria RAM del clúster.</a:t>
            </a:r>
            <a:endParaRPr lang="en-US" sz="135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35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lo hace hasta 100 veces más rápido en cargas iterativas, como el entrenamiento de modelos de Machine Learning.</a:t>
            </a:r>
            <a:endParaRPr lang="en-US" sz="135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35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 módulos integrados: Spark SQL (consultas), MLlib (Machine Learning), Spark Streaming (tiempo real) y GraphX (grafos).</a:t>
            </a:r>
            <a:endParaRPr lang="en-US" sz="135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35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es la API de Python sobre Spark: la usaremos hoy para leer, transformar y entrenar un modelo sobre datos distribuidos en el clúster.</a:t>
            </a:r>
            <a:endParaRPr lang="en-US" sz="135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421687"/>
              </p:ext>
            </p:extLst>
          </p:nvPr>
        </p:nvGraphicFramePr>
        <p:xfrm>
          <a:off x="5303520" y="2071949"/>
          <a:ext cx="5303520" cy="4005072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75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MapReduce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 Spark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75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Procesamiento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lotes, en disco entre etapas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memoria (RAM), mucho más rápido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75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 → Shuffle → Reduce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DAG de transformaciones flexibles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75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Facilidad de uso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 Java verboso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APIs en Python, Scala, SQL, R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75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Casos de uso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Procesos batch simples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ML, streaming, SQL, grafos, batch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75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Velocidad típica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1x (referencia)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Hasta 100x más rápido en memoria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4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en AWS · EMR + PySpark ML</a:t>
            </a:r>
            <a:endParaRPr lang="en-US" sz="900"/>
          </a:p>
        </p:txBody>
      </p:sp>
      <p:sp>
        <p:nvSpPr>
          <p:cNvPr id="8" name="Text 5"/>
          <p:cNvSpPr/>
          <p:nvPr/>
        </p:nvSpPr>
        <p:spPr>
          <a:xfrm>
            <a:off x="7955280" y="652881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UNAB · Ingeniería de Sistemas</a:t>
            </a:r>
            <a:endParaRPr lang="en-US" sz="900"/>
          </a:p>
        </p:txBody>
      </p:sp>
      <p:sp>
        <p:nvSpPr>
          <p:cNvPr id="9" name="Text 6"/>
          <p:cNvSpPr/>
          <p:nvPr/>
        </p:nvSpPr>
        <p:spPr>
          <a:xfrm>
            <a:off x="1161288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D9EEE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2377440" cy="310896"/>
          </a:xfrm>
          <a:prstGeom prst="rect">
            <a:avLst/>
          </a:prstGeom>
          <a:solidFill>
            <a:srgbClr val="9200E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FFA5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EMR</a:t>
            </a:r>
            <a:endParaRPr lang="en-US" sz="1100">
              <a:solidFill>
                <a:srgbClr val="FFA502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indent="-228600">
              <a:buClr>
                <a:srgbClr val="000000"/>
              </a:buClr>
              <a:buSzPts val="4400"/>
            </a:pPr>
            <a:r>
              <a:rPr lang="en-US" sz="4400" b="1">
                <a:solidFill>
                  <a:srgbClr val="9200EE"/>
                </a:solidFill>
                <a:latin typeface="Montserrat Black"/>
                <a:sym typeface="Montserrat Black"/>
              </a:rPr>
              <a:t>¿Qué problema resuelve EMR?</a:t>
            </a:r>
          </a:p>
        </p:txBody>
      </p:sp>
      <p:sp>
        <p:nvSpPr>
          <p:cNvPr id="5" name="Text 3"/>
          <p:cNvSpPr/>
          <p:nvPr/>
        </p:nvSpPr>
        <p:spPr>
          <a:xfrm>
            <a:off x="213360" y="2459736"/>
            <a:ext cx="5394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350" b="1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EMR</a:t>
            </a:r>
            <a:endParaRPr lang="en-US" sz="135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35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 y configurar manualmente Hadoop, Spark, YARN y sus dependencias en cada servidor. Ajustar redes, versiones compatibles y seguridad. Escalar el clúster a mano.</a:t>
            </a:r>
            <a:endParaRPr lang="en-US" sz="135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350" b="1">
                <a:solidFill>
                  <a:srgbClr val="0A5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Amazon EMR</a:t>
            </a:r>
            <a:endParaRPr lang="en-US" sz="135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35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administrado que aprovisiona en minutos un clúster completo con Hadoop, Spark, Hive, JupyterHub, etc. ya instalados, configurados y afinados para trabajar juntos sobre instancias EC2.</a:t>
            </a:r>
            <a:endParaRPr lang="en-US" sz="135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350" b="1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una frase</a:t>
            </a:r>
            <a:endParaRPr lang="en-US" sz="135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35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EMR le quita al equipo de datos la carga operativa de administrar infraestructura distribuida, para que se concentre en el análisis y el modelo.</a:t>
            </a:r>
            <a:endParaRPr lang="en-US" sz="1350"/>
          </a:p>
        </p:txBody>
      </p:sp>
      <p:sp>
        <p:nvSpPr>
          <p:cNvPr id="6" name="Shape 4"/>
          <p:cNvSpPr/>
          <p:nvPr/>
        </p:nvSpPr>
        <p:spPr>
          <a:xfrm>
            <a:off x="5745480" y="1801368"/>
            <a:ext cx="5303520" cy="4206240"/>
          </a:xfrm>
          <a:prstGeom prst="roundRect">
            <a:avLst>
              <a:gd name="adj" fmla="val 1739"/>
            </a:avLst>
          </a:prstGeom>
          <a:solidFill>
            <a:srgbClr val="1B2A4A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9AA7BD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6019800" y="198424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EMR entrega listo para usar</a:t>
            </a:r>
            <a:endParaRPr lang="en-US" sz="1400"/>
          </a:p>
        </p:txBody>
      </p:sp>
      <p:sp>
        <p:nvSpPr>
          <p:cNvPr id="8" name="Shape 6"/>
          <p:cNvSpPr/>
          <p:nvPr/>
        </p:nvSpPr>
        <p:spPr>
          <a:xfrm>
            <a:off x="6019800" y="25146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6339840" y="2414016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Aprovisionamiento del clúster en minutos, no en días</a:t>
            </a:r>
            <a:endParaRPr lang="en-US" sz="1250"/>
          </a:p>
        </p:txBody>
      </p:sp>
      <p:sp>
        <p:nvSpPr>
          <p:cNvPr id="10" name="Shape 8"/>
          <p:cNvSpPr/>
          <p:nvPr/>
        </p:nvSpPr>
        <p:spPr>
          <a:xfrm>
            <a:off x="6019800" y="306324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6339840" y="2962656"/>
            <a:ext cx="4480560" cy="411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Hadoop (HDFS + YARN) y Spark </a:t>
            </a:r>
            <a:r>
              <a:rPr lang="en-US" sz="125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preinstalados</a:t>
            </a: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y </a:t>
            </a:r>
            <a:r>
              <a:rPr lang="en-US" sz="125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afinados</a:t>
            </a:r>
            <a:endParaRPr lang="en-US" sz="1250" err="1">
              <a:latin typeface="Calibri"/>
              <a:ea typeface="Calibri"/>
              <a:cs typeface="Calibri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019800" y="361188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6339840" y="3511296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nativa con S3, JupyterHub y notebooks</a:t>
            </a:r>
            <a:endParaRPr lang="en-US" sz="1250"/>
          </a:p>
        </p:txBody>
      </p:sp>
      <p:sp>
        <p:nvSpPr>
          <p:cNvPr id="14" name="Shape 12"/>
          <p:cNvSpPr/>
          <p:nvPr/>
        </p:nvSpPr>
        <p:spPr>
          <a:xfrm>
            <a:off x="6019800" y="416052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6339840" y="4059936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Elasticidad: agregar o quitar nodos según la carga</a:t>
            </a:r>
            <a:endParaRPr lang="en-US" sz="1250"/>
          </a:p>
        </p:txBody>
      </p:sp>
      <p:sp>
        <p:nvSpPr>
          <p:cNvPr id="16" name="Shape 14"/>
          <p:cNvSpPr/>
          <p:nvPr/>
        </p:nvSpPr>
        <p:spPr>
          <a:xfrm>
            <a:off x="6019800" y="470916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6339840" y="4608576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Terminación automática para controlar costos</a:t>
            </a:r>
            <a:endParaRPr lang="en-US" sz="1250"/>
          </a:p>
        </p:txBody>
      </p:sp>
      <p:sp>
        <p:nvSpPr>
          <p:cNvPr id="18" name="Shape 16"/>
          <p:cNvSpPr/>
          <p:nvPr/>
        </p:nvSpPr>
        <p:spPr>
          <a:xfrm>
            <a:off x="6019800" y="52578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6339840" y="5157216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integrada con IAM, VPC y grupos de seguridad</a:t>
            </a:r>
            <a:endParaRPr lang="en-US" sz="1250"/>
          </a:p>
        </p:txBody>
      </p:sp>
      <p:sp>
        <p:nvSpPr>
          <p:cNvPr id="20" name="Text 18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en AWS · EMR + PySpark ML</a:t>
            </a:r>
            <a:endParaRPr lang="en-US" sz="900"/>
          </a:p>
        </p:txBody>
      </p:sp>
      <p:sp>
        <p:nvSpPr>
          <p:cNvPr id="21" name="Text 19"/>
          <p:cNvSpPr/>
          <p:nvPr/>
        </p:nvSpPr>
        <p:spPr>
          <a:xfrm>
            <a:off x="7955280" y="652881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UNAB · Ingeniería de Sistemas</a:t>
            </a:r>
            <a:endParaRPr lang="en-US" sz="900"/>
          </a:p>
        </p:txBody>
      </p:sp>
      <p:sp>
        <p:nvSpPr>
          <p:cNvPr id="22" name="Text 20"/>
          <p:cNvSpPr/>
          <p:nvPr/>
        </p:nvSpPr>
        <p:spPr>
          <a:xfrm>
            <a:off x="1161288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FFA50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0A5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100"/>
          </a:p>
        </p:txBody>
      </p:sp>
      <p:sp>
        <p:nvSpPr>
          <p:cNvPr id="4" name="Text 2"/>
          <p:cNvSpPr/>
          <p:nvPr/>
        </p:nvSpPr>
        <p:spPr>
          <a:xfrm>
            <a:off x="297180" y="794694"/>
            <a:ext cx="11064240" cy="1354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indent="-228600">
              <a:buClr>
                <a:srgbClr val="000000"/>
              </a:buClr>
              <a:buSzPts val="4400"/>
            </a:pPr>
            <a:r>
              <a:rPr lang="en-US" sz="4400" b="1">
                <a:solidFill>
                  <a:srgbClr val="9200EE"/>
                </a:solidFill>
                <a:latin typeface="Montserrat Black"/>
                <a:sym typeface="Montserrat Black"/>
              </a:rPr>
              <a:t>Anatomía de un </a:t>
            </a:r>
          </a:p>
          <a:p>
            <a:pPr marL="457200" indent="-228600">
              <a:buClr>
                <a:srgbClr val="000000"/>
              </a:buClr>
              <a:buSzPts val="4400"/>
            </a:pPr>
            <a:r>
              <a:rPr lang="en-US" sz="4400" b="1" err="1">
                <a:solidFill>
                  <a:srgbClr val="9200EE"/>
                </a:solidFill>
                <a:latin typeface="Montserrat Black"/>
                <a:sym typeface="Montserrat Black"/>
              </a:rPr>
              <a:t>clúster</a:t>
            </a:r>
            <a:r>
              <a:rPr lang="en-US" sz="4400" b="1">
                <a:solidFill>
                  <a:srgbClr val="9200EE"/>
                </a:solidFill>
                <a:latin typeface="Montserrat Black"/>
                <a:sym typeface="Montserrat Black"/>
              </a:rPr>
              <a:t> EMR</a:t>
            </a:r>
          </a:p>
        </p:txBody>
      </p:sp>
      <p:sp>
        <p:nvSpPr>
          <p:cNvPr id="5" name="Shape 3"/>
          <p:cNvSpPr/>
          <p:nvPr/>
        </p:nvSpPr>
        <p:spPr>
          <a:xfrm>
            <a:off x="4343400" y="1609344"/>
            <a:ext cx="2971800" cy="1508760"/>
          </a:xfrm>
          <a:prstGeom prst="roundRect">
            <a:avLst>
              <a:gd name="adj" fmla="val 4848"/>
            </a:avLst>
          </a:prstGeom>
          <a:solidFill>
            <a:srgbClr val="1B2A4A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9AA7BD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4572000" y="184708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 MASTER</a:t>
            </a:r>
            <a:endParaRPr lang="en-US" sz="1200"/>
          </a:p>
        </p:txBody>
      </p:sp>
      <p:sp>
        <p:nvSpPr>
          <p:cNvPr id="7" name="Text 5"/>
          <p:cNvSpPr/>
          <p:nvPr/>
        </p:nvSpPr>
        <p:spPr>
          <a:xfrm>
            <a:off x="4572000" y="2139696"/>
            <a:ext cx="2606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 el clúster: YARN ResourceManager, HDFS NameNode y el driver de Spark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 flipV="1">
            <a:off x="1897812" y="3081528"/>
            <a:ext cx="3717984" cy="822960"/>
          </a:xfrm>
          <a:prstGeom prst="line">
            <a:avLst/>
          </a:prstGeom>
          <a:noFill/>
          <a:ln w="22225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 flipH="1">
            <a:off x="5615795" y="3099816"/>
            <a:ext cx="0" cy="786384"/>
          </a:xfrm>
          <a:prstGeom prst="line">
            <a:avLst/>
          </a:prstGeom>
          <a:noFill/>
          <a:ln w="22225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 flipH="1" flipV="1">
            <a:off x="5615796" y="3081528"/>
            <a:ext cx="3154679" cy="854922"/>
          </a:xfrm>
          <a:prstGeom prst="line">
            <a:avLst/>
          </a:prstGeom>
          <a:noFill/>
          <a:ln w="22225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685800" y="3886200"/>
            <a:ext cx="2880360" cy="1965960"/>
          </a:xfrm>
          <a:prstGeom prst="roundRect">
            <a:avLst>
              <a:gd name="adj" fmla="val 3721"/>
            </a:avLst>
          </a:prstGeom>
          <a:solidFill>
            <a:srgbClr val="D9EEE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9AA7BD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868680" y="402336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0A5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 CORE 1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868680" y="4315968"/>
            <a:ext cx="2514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 DataNode +</a:t>
            </a:r>
            <a:endParaRPr lang="en-US" sz="1150"/>
          </a:p>
          <a:p>
            <a:pPr marL="0" indent="0">
              <a:lnSpc>
                <a:spcPct val="125000"/>
              </a:lnSpc>
              <a:buNone/>
            </a:pPr>
            <a:r>
              <a:rPr lang="en-US" sz="115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YARN NodeManager</a:t>
            </a:r>
            <a:endParaRPr lang="en-US" sz="1150"/>
          </a:p>
          <a:p>
            <a:pPr marL="0" indent="0">
              <a:lnSpc>
                <a:spcPct val="125000"/>
              </a:lnSpc>
              <a:buNone/>
            </a:pPr>
            <a:r>
              <a:rPr lang="en-US" sz="115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 y procesa</a:t>
            </a:r>
            <a:endParaRPr lang="en-US" sz="1150"/>
          </a:p>
        </p:txBody>
      </p:sp>
      <p:sp>
        <p:nvSpPr>
          <p:cNvPr id="14" name="Shape 12"/>
          <p:cNvSpPr/>
          <p:nvPr/>
        </p:nvSpPr>
        <p:spPr>
          <a:xfrm>
            <a:off x="4160520" y="3886200"/>
            <a:ext cx="2880360" cy="1965960"/>
          </a:xfrm>
          <a:prstGeom prst="roundRect">
            <a:avLst>
              <a:gd name="adj" fmla="val 3721"/>
            </a:avLst>
          </a:prstGeom>
          <a:solidFill>
            <a:srgbClr val="D9EEE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9AA7BD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4343400" y="402336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0A5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 CORE 2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4343400" y="4315968"/>
            <a:ext cx="2514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 DataNode +</a:t>
            </a:r>
            <a:endParaRPr lang="en-US" sz="1150"/>
          </a:p>
          <a:p>
            <a:pPr marL="0" indent="0">
              <a:lnSpc>
                <a:spcPct val="125000"/>
              </a:lnSpc>
              <a:buNone/>
            </a:pPr>
            <a:r>
              <a:rPr lang="en-US" sz="115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YARN NodeManager</a:t>
            </a:r>
            <a:endParaRPr lang="en-US" sz="1150"/>
          </a:p>
          <a:p>
            <a:pPr marL="0" indent="0">
              <a:lnSpc>
                <a:spcPct val="125000"/>
              </a:lnSpc>
              <a:buNone/>
            </a:pPr>
            <a:r>
              <a:rPr lang="en-US" sz="115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 y procesa</a:t>
            </a:r>
            <a:endParaRPr lang="en-US" sz="1150"/>
          </a:p>
        </p:txBody>
      </p:sp>
      <p:sp>
        <p:nvSpPr>
          <p:cNvPr id="17" name="Shape 15"/>
          <p:cNvSpPr/>
          <p:nvPr/>
        </p:nvSpPr>
        <p:spPr>
          <a:xfrm>
            <a:off x="7374867" y="3886200"/>
            <a:ext cx="2880360" cy="1965960"/>
          </a:xfrm>
          <a:prstGeom prst="roundRect">
            <a:avLst>
              <a:gd name="adj" fmla="val 3721"/>
            </a:avLst>
          </a:prstGeom>
          <a:solidFill>
            <a:srgbClr val="FBEAD0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9AA7BD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7818120" y="402336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 TASK</a:t>
            </a:r>
            <a:endParaRPr lang="en-US" sz="1200"/>
          </a:p>
        </p:txBody>
      </p:sp>
      <p:sp>
        <p:nvSpPr>
          <p:cNvPr id="19" name="Text 17"/>
          <p:cNvSpPr/>
          <p:nvPr/>
        </p:nvSpPr>
        <p:spPr>
          <a:xfrm>
            <a:off x="7818120" y="4315968"/>
            <a:ext cx="2514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YARN NodeManager</a:t>
            </a:r>
            <a:endParaRPr lang="en-US" sz="1150"/>
          </a:p>
          <a:p>
            <a:pPr marL="0" indent="0">
              <a:lnSpc>
                <a:spcPct val="125000"/>
              </a:lnSpc>
              <a:buNone/>
            </a:pPr>
            <a:r>
              <a:rPr lang="en-US" sz="115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procesa (sin HDFS)</a:t>
            </a:r>
            <a:endParaRPr lang="en-US" sz="1150"/>
          </a:p>
          <a:p>
            <a:pPr marL="0" indent="0">
              <a:lnSpc>
                <a:spcPct val="125000"/>
              </a:lnSpc>
              <a:buNone/>
            </a:pPr>
            <a:r>
              <a:rPr lang="en-US" sz="115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Opcional / elástico</a:t>
            </a:r>
            <a:endParaRPr lang="en-US" sz="1150"/>
          </a:p>
        </p:txBody>
      </p:sp>
      <p:sp>
        <p:nvSpPr>
          <p:cNvPr id="20" name="Text 18"/>
          <p:cNvSpPr/>
          <p:nvPr/>
        </p:nvSpPr>
        <p:spPr>
          <a:xfrm>
            <a:off x="-257175" y="6069021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clúster mínimo necesita 1 nodo master + al menos 1 nodo core. Los nodos task son opcionales y añaden solo capacidad de cómputo.</a:t>
            </a:r>
            <a:endParaRPr lang="en-US" sz="1100"/>
          </a:p>
        </p:txBody>
      </p:sp>
      <p:sp>
        <p:nvSpPr>
          <p:cNvPr id="21" name="Text 19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en AWS · EMR + PySpark ML</a:t>
            </a:r>
            <a:endParaRPr lang="en-US" sz="900"/>
          </a:p>
        </p:txBody>
      </p:sp>
      <p:sp>
        <p:nvSpPr>
          <p:cNvPr id="22" name="Text 20"/>
          <p:cNvSpPr/>
          <p:nvPr/>
        </p:nvSpPr>
        <p:spPr>
          <a:xfrm>
            <a:off x="7955280" y="652881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UNAB · Ingeniería de Sistemas</a:t>
            </a:r>
            <a:endParaRPr lang="en-US" sz="900"/>
          </a:p>
        </p:txBody>
      </p:sp>
      <p:sp>
        <p:nvSpPr>
          <p:cNvPr id="23" name="Text 21"/>
          <p:cNvSpPr/>
          <p:nvPr/>
        </p:nvSpPr>
        <p:spPr>
          <a:xfrm>
            <a:off x="1161288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FFA50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0A5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100"/>
          </a:p>
        </p:txBody>
      </p:sp>
      <p:sp>
        <p:nvSpPr>
          <p:cNvPr id="4" name="Text 2"/>
          <p:cNvSpPr/>
          <p:nvPr/>
        </p:nvSpPr>
        <p:spPr>
          <a:xfrm>
            <a:off x="274320" y="923544"/>
            <a:ext cx="1106424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indent="-228600">
              <a:buClr>
                <a:srgbClr val="000000"/>
              </a:buClr>
              <a:buSzPts val="4400"/>
            </a:pPr>
            <a:r>
              <a:rPr lang="en-US" sz="3600" b="1">
                <a:solidFill>
                  <a:srgbClr val="9200EE"/>
                </a:solidFill>
                <a:latin typeface="Montserrat Black"/>
                <a:sym typeface="Montserrat Black"/>
              </a:rPr>
              <a:t>Roles y responsabilidades de </a:t>
            </a:r>
            <a:r>
              <a:rPr lang="en-US" sz="3600" b="1" err="1">
                <a:solidFill>
                  <a:srgbClr val="9200EE"/>
                </a:solidFill>
                <a:latin typeface="Montserrat Black"/>
                <a:sym typeface="Montserrat Black"/>
              </a:rPr>
              <a:t>cada</a:t>
            </a:r>
            <a:r>
              <a:rPr lang="en-US" sz="3600" b="1">
                <a:solidFill>
                  <a:srgbClr val="9200EE"/>
                </a:solidFill>
                <a:latin typeface="Montserrat Black"/>
                <a:sym typeface="Montserrat Black"/>
              </a:rPr>
              <a:t> </a:t>
            </a:r>
            <a:r>
              <a:rPr lang="en-US" sz="3600" b="1" err="1">
                <a:solidFill>
                  <a:srgbClr val="9200EE"/>
                </a:solidFill>
                <a:latin typeface="Montserrat Black"/>
                <a:sym typeface="Montserrat Black"/>
              </a:rPr>
              <a:t>nodo</a:t>
            </a:r>
            <a:endParaRPr lang="en-US" sz="3600" b="1">
              <a:solidFill>
                <a:srgbClr val="9200EE"/>
              </a:solidFill>
              <a:latin typeface="Montserrat Black"/>
              <a:sym typeface="Montserrat Black"/>
            </a:endParaRPr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283464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Nodo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¿Qué ejecuta?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¿Almacena datos (HDFS)?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¿Puede fallar el clúster si cae?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YARN ResourceManager · HDFS NameNode · Driver de Spark · JupyterHub/Livy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Metadatos, no bloques de datos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 — es el punto crítico (por eso EMR permite modo multi-master)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(Worker)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YARN NodeManager · HDFS DataNode · Executors de Spark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Sí, almacena bloques HDFS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otros nodos core continúan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(Worker)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YARN NodeManager · Executors de Spark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almacena HDFS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solo se pierde capacidad de cómputo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89204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FBEAD0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9AA7BD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Text 4"/>
          <p:cNvSpPr/>
          <p:nvPr/>
        </p:nvSpPr>
        <p:spPr>
          <a:xfrm>
            <a:off x="822960" y="50292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b="1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clave:  </a:t>
            </a:r>
            <a:r>
              <a:rPr lang="en-US" sz="125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nodos core acercan el cómputo a los datos (HDFS + YARN en la misma máquina). Los nodos task solo aportan poder de cómputo adicional y se pueden agregar o quitar sin arriesgar los datos almacenados — ideales para instancias Spot más económicas.</a:t>
            </a:r>
            <a:endParaRPr lang="en-US" sz="1250"/>
          </a:p>
        </p:txBody>
      </p:sp>
      <p:sp>
        <p:nvSpPr>
          <p:cNvPr id="8" name="Text 5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en AWS · EMR + PySpark ML</a:t>
            </a:r>
            <a:endParaRPr lang="en-US" sz="900"/>
          </a:p>
        </p:txBody>
      </p:sp>
      <p:sp>
        <p:nvSpPr>
          <p:cNvPr id="9" name="Text 6"/>
          <p:cNvSpPr/>
          <p:nvPr/>
        </p:nvSpPr>
        <p:spPr>
          <a:xfrm>
            <a:off x="7955280" y="652881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UNAB · Ingeniería de Sistemas</a:t>
            </a:r>
            <a:endParaRPr lang="en-US" sz="900"/>
          </a:p>
        </p:txBody>
      </p:sp>
      <p:sp>
        <p:nvSpPr>
          <p:cNvPr id="5" name="Text 7"/>
          <p:cNvSpPr/>
          <p:nvPr/>
        </p:nvSpPr>
        <p:spPr>
          <a:xfrm>
            <a:off x="1161288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-64008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9200E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32435" y="-68723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FFA5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100">
              <a:solidFill>
                <a:srgbClr val="FFA502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215265" y="626602"/>
            <a:ext cx="11064240" cy="1354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indent="-228600">
              <a:buClr>
                <a:srgbClr val="000000"/>
              </a:buClr>
              <a:buSzPts val="4400"/>
            </a:pPr>
            <a:r>
              <a:rPr lang="en-US" sz="4400" b="1">
                <a:solidFill>
                  <a:srgbClr val="9200EE"/>
                </a:solidFill>
                <a:latin typeface="Montserrat Black"/>
                <a:sym typeface="Montserrat Black"/>
              </a:rPr>
              <a:t>YARN: el gestor de </a:t>
            </a:r>
          </a:p>
          <a:p>
            <a:pPr marL="457200" indent="-228600">
              <a:buClr>
                <a:srgbClr val="000000"/>
              </a:buClr>
              <a:buSzPts val="4400"/>
            </a:pPr>
            <a:r>
              <a:rPr lang="en-US" sz="4400" b="1" err="1">
                <a:solidFill>
                  <a:srgbClr val="9200EE"/>
                </a:solidFill>
                <a:latin typeface="Montserrat Black"/>
                <a:sym typeface="Montserrat Black"/>
              </a:rPr>
              <a:t>recursos</a:t>
            </a:r>
            <a:r>
              <a:rPr lang="en-US" sz="4400" b="1">
                <a:solidFill>
                  <a:srgbClr val="9200EE"/>
                </a:solidFill>
                <a:latin typeface="Montserrat Black"/>
                <a:sym typeface="Montserrat Black"/>
              </a:rPr>
              <a:t> del </a:t>
            </a:r>
            <a:r>
              <a:rPr lang="en-US" sz="4400" b="1" err="1">
                <a:solidFill>
                  <a:srgbClr val="9200EE"/>
                </a:solidFill>
                <a:latin typeface="Montserrat Black"/>
                <a:sym typeface="Montserrat Black"/>
              </a:rPr>
              <a:t>clúster</a:t>
            </a:r>
            <a:endParaRPr lang="en-US" sz="4400" b="1">
              <a:solidFill>
                <a:srgbClr val="9200EE"/>
              </a:solidFill>
              <a:latin typeface="Montserrat Black"/>
              <a:sym typeface="Montserrat Black"/>
            </a:endParaRPr>
          </a:p>
        </p:txBody>
      </p:sp>
      <p:sp>
        <p:nvSpPr>
          <p:cNvPr id="5" name="Text 3"/>
          <p:cNvSpPr/>
          <p:nvPr/>
        </p:nvSpPr>
        <p:spPr>
          <a:xfrm>
            <a:off x="533400" y="2749677"/>
            <a:ext cx="4552950" cy="29679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just">
              <a:lnSpc>
                <a:spcPct val="125000"/>
              </a:lnSpc>
              <a:buSzPct val="100000"/>
              <a:buChar char="•"/>
            </a:pPr>
            <a:r>
              <a:rPr lang="en-US" sz="1350" b="1">
                <a:solidFill>
                  <a:srgbClr val="0A5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YARN = Yet Another Resource Negotiator</a:t>
            </a:r>
            <a:endParaRPr lang="en-US" sz="1350"/>
          </a:p>
          <a:p>
            <a:pPr algn="just">
              <a:lnSpc>
                <a:spcPct val="125000"/>
              </a:lnSpc>
              <a:buSzPct val="100000"/>
            </a:pPr>
            <a:r>
              <a:rPr lang="en-US" sz="135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capa que decide qué aplicación (un job de Spark, una consulta Hive) usa qué CPU y memoria, y en qué nodo, dentro del clúster.</a:t>
            </a:r>
            <a:endParaRPr lang="en-US" sz="1350"/>
          </a:p>
          <a:p>
            <a:pPr marL="177800" indent="-177800" algn="just">
              <a:lnSpc>
                <a:spcPct val="125000"/>
              </a:lnSpc>
              <a:buSzPct val="100000"/>
              <a:buChar char="•"/>
            </a:pPr>
            <a:r>
              <a:rPr lang="en-US" sz="1350" b="1">
                <a:solidFill>
                  <a:srgbClr val="0A5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ResourceManager (en el master)</a:t>
            </a:r>
            <a:endParaRPr lang="en-US" sz="1350"/>
          </a:p>
          <a:p>
            <a:pPr algn="just">
              <a:lnSpc>
                <a:spcPct val="125000"/>
              </a:lnSpc>
              <a:buSzPct val="100000"/>
            </a:pPr>
            <a:r>
              <a:rPr lang="en-US" sz="135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las solicitudes de recursos y decide cómo repartirlas entre los nodos disponibles.</a:t>
            </a:r>
            <a:endParaRPr lang="en-US" sz="1350"/>
          </a:p>
          <a:p>
            <a:pPr marL="177800" indent="-177800" algn="just">
              <a:lnSpc>
                <a:spcPct val="125000"/>
              </a:lnSpc>
              <a:buSzPct val="100000"/>
              <a:buChar char="•"/>
            </a:pPr>
            <a:r>
              <a:rPr lang="en-US" sz="1350" b="1">
                <a:solidFill>
                  <a:srgbClr val="0A5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NodeManager (en cada core/task)</a:t>
            </a:r>
            <a:endParaRPr lang="en-US" sz="1350"/>
          </a:p>
          <a:p>
            <a:pPr algn="just">
              <a:lnSpc>
                <a:spcPct val="125000"/>
              </a:lnSpc>
              <a:buSzPct val="100000"/>
            </a:pPr>
            <a:r>
              <a:rPr lang="en-US" sz="135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ejecuta en cada nodo trabajador, reporta su capacidad disponible y lanza los "contenedores" donde corre el trabajo real (los executors de Spark).</a:t>
            </a:r>
            <a:endParaRPr lang="en-US" sz="1350"/>
          </a:p>
        </p:txBody>
      </p:sp>
      <p:sp>
        <p:nvSpPr>
          <p:cNvPr id="6" name="Shape 4"/>
          <p:cNvSpPr/>
          <p:nvPr/>
        </p:nvSpPr>
        <p:spPr>
          <a:xfrm>
            <a:off x="5490210" y="2151697"/>
            <a:ext cx="530352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9AA7BD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5905500" y="2505456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una aplicación Spark en YARN</a:t>
            </a:r>
            <a:endParaRPr lang="en-US" sz="1350"/>
          </a:p>
        </p:txBody>
      </p:sp>
      <p:sp>
        <p:nvSpPr>
          <p:cNvPr id="8" name="Shape 6"/>
          <p:cNvSpPr/>
          <p:nvPr/>
        </p:nvSpPr>
        <p:spPr>
          <a:xfrm>
            <a:off x="5905500" y="2962656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5905500" y="29626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/>
          </a:p>
        </p:txBody>
      </p:sp>
      <p:sp>
        <p:nvSpPr>
          <p:cNvPr id="10" name="Text 8"/>
          <p:cNvSpPr/>
          <p:nvPr/>
        </p:nvSpPr>
        <p:spPr>
          <a:xfrm>
            <a:off x="6408420" y="2898648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driver (en el master) pide recursos al ResourceManager</a:t>
            </a:r>
            <a:endParaRPr lang="en-US" sz="1150"/>
          </a:p>
        </p:txBody>
      </p:sp>
      <p:sp>
        <p:nvSpPr>
          <p:cNvPr id="11" name="Shape 9"/>
          <p:cNvSpPr/>
          <p:nvPr/>
        </p:nvSpPr>
        <p:spPr>
          <a:xfrm>
            <a:off x="5905500" y="3648456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5905500" y="36484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/>
          </a:p>
        </p:txBody>
      </p:sp>
      <p:sp>
        <p:nvSpPr>
          <p:cNvPr id="13" name="Text 11"/>
          <p:cNvSpPr/>
          <p:nvPr/>
        </p:nvSpPr>
        <p:spPr>
          <a:xfrm>
            <a:off x="6408420" y="3584448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ResourceManager negocia contenedores con los NodeManager de cada nodo core/task</a:t>
            </a:r>
            <a:endParaRPr lang="en-US" sz="1150"/>
          </a:p>
        </p:txBody>
      </p:sp>
      <p:sp>
        <p:nvSpPr>
          <p:cNvPr id="14" name="Shape 12"/>
          <p:cNvSpPr/>
          <p:nvPr/>
        </p:nvSpPr>
        <p:spPr>
          <a:xfrm>
            <a:off x="5905500" y="4334256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5905500" y="43342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/>
          </a:p>
        </p:txBody>
      </p:sp>
      <p:sp>
        <p:nvSpPr>
          <p:cNvPr id="16" name="Text 14"/>
          <p:cNvSpPr/>
          <p:nvPr/>
        </p:nvSpPr>
        <p:spPr>
          <a:xfrm>
            <a:off x="6408420" y="4270248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lanzan los executors de Spark dentro de esos contenedores</a:t>
            </a:r>
            <a:endParaRPr lang="en-US" sz="1150"/>
          </a:p>
        </p:txBody>
      </p:sp>
      <p:sp>
        <p:nvSpPr>
          <p:cNvPr id="17" name="Shape 15"/>
          <p:cNvSpPr/>
          <p:nvPr/>
        </p:nvSpPr>
        <p:spPr>
          <a:xfrm>
            <a:off x="5905500" y="5020056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5905500" y="50200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/>
          </a:p>
        </p:txBody>
      </p:sp>
      <p:sp>
        <p:nvSpPr>
          <p:cNvPr id="19" name="Text 17"/>
          <p:cNvSpPr/>
          <p:nvPr/>
        </p:nvSpPr>
        <p:spPr>
          <a:xfrm>
            <a:off x="6408420" y="4956048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executors procesan las particiones de datos en paralelo</a:t>
            </a:r>
            <a:endParaRPr lang="en-US" sz="1150"/>
          </a:p>
        </p:txBody>
      </p:sp>
      <p:sp>
        <p:nvSpPr>
          <p:cNvPr id="20" name="Shape 18"/>
          <p:cNvSpPr/>
          <p:nvPr/>
        </p:nvSpPr>
        <p:spPr>
          <a:xfrm>
            <a:off x="5905500" y="5705856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5905500" y="57058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/>
          </a:p>
        </p:txBody>
      </p:sp>
      <p:sp>
        <p:nvSpPr>
          <p:cNvPr id="22" name="Text 20"/>
          <p:cNvSpPr/>
          <p:nvPr/>
        </p:nvSpPr>
        <p:spPr>
          <a:xfrm>
            <a:off x="6408420" y="5641848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resultados regresan al driver, que consolida la respuesta</a:t>
            </a:r>
            <a:endParaRPr lang="en-US" sz="1150"/>
          </a:p>
        </p:txBody>
      </p:sp>
      <p:sp>
        <p:nvSpPr>
          <p:cNvPr id="23" name="Text 21"/>
          <p:cNvSpPr/>
          <p:nvPr/>
        </p:nvSpPr>
        <p:spPr>
          <a:xfrm>
            <a:off x="548640" y="63367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en AWS · EMR + PySpark ML</a:t>
            </a:r>
            <a:endParaRPr lang="en-US" sz="900"/>
          </a:p>
        </p:txBody>
      </p:sp>
      <p:sp>
        <p:nvSpPr>
          <p:cNvPr id="24" name="Text 22"/>
          <p:cNvSpPr/>
          <p:nvPr/>
        </p:nvSpPr>
        <p:spPr>
          <a:xfrm>
            <a:off x="8641080" y="6391655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UNAB · Ingeniería de Sistemas</a:t>
            </a:r>
            <a:endParaRPr lang="en-US" sz="900"/>
          </a:p>
        </p:txBody>
      </p:sp>
      <p:sp>
        <p:nvSpPr>
          <p:cNvPr id="25" name="Text 23"/>
          <p:cNvSpPr/>
          <p:nvPr/>
        </p:nvSpPr>
        <p:spPr>
          <a:xfrm>
            <a:off x="1161288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FFA50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0A5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MANOS A LA OBRA · PASO 1</a:t>
            </a:r>
            <a:endParaRPr lang="en-US" sz="110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indent="-228600">
              <a:buClr>
                <a:srgbClr val="000000"/>
              </a:buClr>
              <a:buSzPts val="4400"/>
            </a:pPr>
            <a:r>
              <a:rPr lang="en-US" sz="2800" b="1">
                <a:solidFill>
                  <a:srgbClr val="9200EE"/>
                </a:solidFill>
                <a:latin typeface="Montserrat Black"/>
              </a:rPr>
              <a:t>Crear el clúster EMR en la </a:t>
            </a:r>
            <a:r>
              <a:rPr lang="en-US" sz="2800" b="1" err="1">
                <a:solidFill>
                  <a:srgbClr val="9200EE"/>
                </a:solidFill>
                <a:latin typeface="Montserrat Black"/>
              </a:rPr>
              <a:t>consola</a:t>
            </a:r>
            <a:r>
              <a:rPr lang="en-US" sz="2800" b="1">
                <a:solidFill>
                  <a:srgbClr val="9200EE"/>
                </a:solidFill>
                <a:latin typeface="Montserrat Black"/>
              </a:rPr>
              <a:t> </a:t>
            </a:r>
          </a:p>
          <a:p>
            <a:pPr marL="457200" indent="-228600">
              <a:buClr>
                <a:srgbClr val="000000"/>
              </a:buClr>
              <a:buSzPts val="4400"/>
            </a:pPr>
            <a:r>
              <a:rPr lang="en-US" sz="2800" b="1">
                <a:solidFill>
                  <a:srgbClr val="9200EE"/>
                </a:solidFill>
                <a:latin typeface="Montserrat Black"/>
              </a:rPr>
              <a:t>de AWS</a:t>
            </a:r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9200E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/>
          </a:p>
        </p:txBody>
      </p:sp>
      <p:sp>
        <p:nvSpPr>
          <p:cNvPr id="7" name="Text 5"/>
          <p:cNvSpPr/>
          <p:nvPr/>
        </p:nvSpPr>
        <p:spPr>
          <a:xfrm>
            <a:off x="1097280" y="175564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y versión de EMR release  —  </a:t>
            </a:r>
            <a:r>
              <a:rPr lang="en-US" sz="120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emr-8.x — incluye versiones probadas de Hadoop, Spark y JupyterHub</a:t>
            </a:r>
            <a:endParaRPr lang="en-US" sz="1200"/>
          </a:p>
        </p:txBody>
      </p:sp>
      <p:sp>
        <p:nvSpPr>
          <p:cNvPr id="8" name="Shape 6"/>
          <p:cNvSpPr/>
          <p:nvPr/>
        </p:nvSpPr>
        <p:spPr>
          <a:xfrm>
            <a:off x="548640" y="2363724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9200E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548640" y="23637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/>
          </a:p>
        </p:txBody>
      </p:sp>
      <p:sp>
        <p:nvSpPr>
          <p:cNvPr id="10" name="Text 8"/>
          <p:cNvSpPr/>
          <p:nvPr/>
        </p:nvSpPr>
        <p:spPr>
          <a:xfrm>
            <a:off x="1097280" y="233629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a instalar  —  </a:t>
            </a:r>
            <a:r>
              <a:rPr lang="en-US" sz="120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Marcar: Hadoop, Spark, JupyterEnterpriseGateway/JupyterHub, Livy (para conectar VS Code/Jupyter remoto)</a:t>
            </a:r>
            <a:endParaRPr lang="en-US" sz="1200"/>
          </a:p>
        </p:txBody>
      </p:sp>
      <p:sp>
        <p:nvSpPr>
          <p:cNvPr id="11" name="Shape 9"/>
          <p:cNvSpPr/>
          <p:nvPr/>
        </p:nvSpPr>
        <p:spPr>
          <a:xfrm>
            <a:off x="548640" y="2944368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9200E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548640" y="29443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/>
          </a:p>
        </p:txBody>
      </p:sp>
      <p:sp>
        <p:nvSpPr>
          <p:cNvPr id="13" name="Text 11"/>
          <p:cNvSpPr/>
          <p:nvPr/>
        </p:nvSpPr>
        <p:spPr>
          <a:xfrm>
            <a:off x="1097280" y="2916936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de hardware  —  </a:t>
            </a:r>
            <a:r>
              <a:rPr lang="en-US" sz="120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Master: 1 nodo m5.xlarge. Core: 2 nodos m5.xlarge (large) como pide el ejercicio. Task: opcional</a:t>
            </a:r>
            <a:endParaRPr lang="en-US" sz="1200"/>
          </a:p>
        </p:txBody>
      </p:sp>
      <p:sp>
        <p:nvSpPr>
          <p:cNvPr id="14" name="Shape 12"/>
          <p:cNvSpPr/>
          <p:nvPr/>
        </p:nvSpPr>
        <p:spPr>
          <a:xfrm>
            <a:off x="548640" y="3525012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9200E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548640" y="35250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/>
          </a:p>
        </p:txBody>
      </p:sp>
      <p:sp>
        <p:nvSpPr>
          <p:cNvPr id="16" name="Text 14"/>
          <p:cNvSpPr/>
          <p:nvPr/>
        </p:nvSpPr>
        <p:spPr>
          <a:xfrm>
            <a:off x="1097280" y="34975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operativo base  —  </a:t>
            </a:r>
            <a:r>
              <a:rPr lang="en-US" sz="120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EMR usa Amazon Linux 2 sobre las instancias EC2 (no Ubuntu genérico); las herramientas que necesites (librerías Python, etc.) se instalan vía bootstrap actions</a:t>
            </a:r>
            <a:endParaRPr lang="en-US" sz="1200"/>
          </a:p>
        </p:txBody>
      </p:sp>
      <p:sp>
        <p:nvSpPr>
          <p:cNvPr id="17" name="Shape 15"/>
          <p:cNvSpPr/>
          <p:nvPr/>
        </p:nvSpPr>
        <p:spPr>
          <a:xfrm>
            <a:off x="548640" y="4105656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9200E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548640" y="41056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/>
          </a:p>
        </p:txBody>
      </p:sp>
      <p:sp>
        <p:nvSpPr>
          <p:cNvPr id="19" name="Text 17"/>
          <p:cNvSpPr/>
          <p:nvPr/>
        </p:nvSpPr>
        <p:spPr>
          <a:xfrm>
            <a:off x="1097280" y="4078224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(VPC / subred)  —  </a:t>
            </a:r>
            <a:r>
              <a:rPr lang="en-US" sz="120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una VPC con acceso a internet (NAT o IP pública) para poder conectarte desde tu PC</a:t>
            </a:r>
            <a:endParaRPr lang="en-US" sz="1200"/>
          </a:p>
        </p:txBody>
      </p:sp>
      <p:sp>
        <p:nvSpPr>
          <p:cNvPr id="20" name="Shape 18"/>
          <p:cNvSpPr/>
          <p:nvPr/>
        </p:nvSpPr>
        <p:spPr>
          <a:xfrm>
            <a:off x="548640" y="468630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9200E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548640" y="46863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/>
          </a:p>
        </p:txBody>
      </p:sp>
      <p:sp>
        <p:nvSpPr>
          <p:cNvPr id="22" name="Text 20"/>
          <p:cNvSpPr/>
          <p:nvPr/>
        </p:nvSpPr>
        <p:spPr>
          <a:xfrm>
            <a:off x="1097280" y="465886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de llaves EC2 (Key Pair)  —  </a:t>
            </a:r>
            <a:r>
              <a:rPr lang="en-US" sz="120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Obligatorio para SSH: lo necesitarás para VS Code y para el túnel de JupyterHub</a:t>
            </a:r>
            <a:endParaRPr lang="en-US" sz="1200"/>
          </a:p>
        </p:txBody>
      </p:sp>
      <p:sp>
        <p:nvSpPr>
          <p:cNvPr id="23" name="Shape 21"/>
          <p:cNvSpPr/>
          <p:nvPr/>
        </p:nvSpPr>
        <p:spPr>
          <a:xfrm>
            <a:off x="548640" y="5266944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9200E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548640" y="52669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/>
          </a:p>
        </p:txBody>
      </p:sp>
      <p:sp>
        <p:nvSpPr>
          <p:cNvPr id="25" name="Text 23"/>
          <p:cNvSpPr/>
          <p:nvPr/>
        </p:nvSpPr>
        <p:spPr>
          <a:xfrm>
            <a:off x="1097280" y="523951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 de servicio y rol de instancia (IAM)  —  </a:t>
            </a:r>
            <a:r>
              <a:rPr lang="en-US" sz="120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Permisos para que EMR administre EC2, S3 y CloudWatch en tu nombre</a:t>
            </a:r>
            <a:endParaRPr lang="en-US" sz="1200"/>
          </a:p>
        </p:txBody>
      </p:sp>
      <p:sp>
        <p:nvSpPr>
          <p:cNvPr id="26" name="Text 24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en AWS · EMR + PySpark ML</a:t>
            </a:r>
            <a:endParaRPr lang="en-US" sz="900"/>
          </a:p>
        </p:txBody>
      </p:sp>
      <p:sp>
        <p:nvSpPr>
          <p:cNvPr id="27" name="Text 25"/>
          <p:cNvSpPr/>
          <p:nvPr/>
        </p:nvSpPr>
        <p:spPr>
          <a:xfrm>
            <a:off x="7955280" y="652881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UNAB · Ingeniería de Sistemas</a:t>
            </a:r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1161288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12"/>
          <p:cNvSpPr/>
          <p:nvPr/>
        </p:nvSpPr>
        <p:spPr>
          <a:xfrm>
            <a:off x="1483995" y="1828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COMPLEMENTO DEL TALLER · AWS ACADEMY</a:t>
            </a:r>
            <a:endParaRPr lang="en-US" sz="1300"/>
          </a:p>
        </p:txBody>
      </p:sp>
      <p:sp>
        <p:nvSpPr>
          <p:cNvPr id="15" name="Text 13"/>
          <p:cNvSpPr/>
          <p:nvPr/>
        </p:nvSpPr>
        <p:spPr>
          <a:xfrm>
            <a:off x="1280161" y="905256"/>
            <a:ext cx="5806440" cy="3385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-US" sz="4400" b="1">
                <a:solidFill>
                  <a:schemeClr val="lt1"/>
                </a:solidFill>
                <a:latin typeface="Montserrat Black"/>
                <a:sym typeface="Montserrat Black"/>
              </a:rPr>
              <a:t>Verificación del </a:t>
            </a:r>
            <a:r>
              <a:rPr lang="en-US" sz="4400" b="1" err="1">
                <a:solidFill>
                  <a:schemeClr val="lt1"/>
                </a:solidFill>
                <a:latin typeface="Montserrat Black"/>
                <a:sym typeface="Montserrat Black"/>
              </a:rPr>
              <a:t>nodo</a:t>
            </a:r>
            <a:r>
              <a:rPr lang="en-US" sz="4400" b="1">
                <a:solidFill>
                  <a:schemeClr val="lt1"/>
                </a:solidFill>
                <a:latin typeface="Montserrat Black"/>
                <a:sym typeface="Montserrat Black"/>
              </a:rPr>
              <a:t> Master</a:t>
            </a:r>
          </a:p>
          <a:p>
            <a:pPr>
              <a:buClr>
                <a:srgbClr val="000000"/>
              </a:buClr>
              <a:buSzPts val="1400"/>
            </a:pPr>
            <a:r>
              <a:rPr lang="en-US" sz="4400" b="1">
                <a:solidFill>
                  <a:schemeClr val="lt1"/>
                </a:solidFill>
                <a:latin typeface="Montserrat Black"/>
                <a:sym typeface="Montserrat Black"/>
              </a:rPr>
              <a:t>y acceso web a Hadoop/Spark </a:t>
            </a:r>
            <a:r>
              <a:rPr lang="en-US" sz="4400" b="1" err="1">
                <a:solidFill>
                  <a:schemeClr val="lt1"/>
                </a:solidFill>
                <a:latin typeface="Montserrat Black"/>
                <a:sym typeface="Montserrat Black"/>
              </a:rPr>
              <a:t>en</a:t>
            </a:r>
            <a:r>
              <a:rPr lang="en-US" sz="4400" b="1">
                <a:solidFill>
                  <a:schemeClr val="lt1"/>
                </a:solidFill>
                <a:latin typeface="Montserrat Black"/>
                <a:sym typeface="Montserrat Black"/>
              </a:rPr>
              <a:t> EMR</a:t>
            </a:r>
          </a:p>
        </p:txBody>
      </p:sp>
      <p:sp>
        <p:nvSpPr>
          <p:cNvPr id="16" name="Text 14"/>
          <p:cNvSpPr/>
          <p:nvPr/>
        </p:nvSpPr>
        <p:spPr>
          <a:xfrm>
            <a:off x="640080" y="4647414"/>
            <a:ext cx="629031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 para confirmar que los servicios del clúster están activos y para abrir YARN, HDFS, Spark History y JupyterHub desde tu computador local mediante un túnel SSH.</a:t>
            </a:r>
            <a:endParaRPr lang="en-US" sz="1400"/>
          </a:p>
        </p:txBody>
      </p:sp>
      <p:sp>
        <p:nvSpPr>
          <p:cNvPr id="17" name="Shape 15"/>
          <p:cNvSpPr/>
          <p:nvPr/>
        </p:nvSpPr>
        <p:spPr>
          <a:xfrm>
            <a:off x="640080" y="6080760"/>
            <a:ext cx="1280160" cy="0"/>
          </a:xfrm>
          <a:prstGeom prst="line">
            <a:avLst/>
          </a:prstGeom>
          <a:noFill/>
          <a:ln w="317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640080" y="6172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920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Pasos que faltaron en la presentación original</a:t>
            </a:r>
            <a:endParaRPr lang="en-US" sz="1200">
              <a:solidFill>
                <a:srgbClr val="9200EE"/>
              </a:solidFill>
            </a:endParaRP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5C031A0F-BBCA-F4D3-B4B4-851695F3C7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8710" y="1624608"/>
            <a:ext cx="4573870" cy="310060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465998F-0927-FEF9-C63B-ACBF778274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9313" y="463094"/>
            <a:ext cx="9864621" cy="1354217"/>
          </a:xfrm>
        </p:spPr>
        <p:txBody>
          <a:bodyPr/>
          <a:lstStyle/>
          <a:p>
            <a:r>
              <a:rPr lang="es-ES"/>
              <a:t>Ingresar a </a:t>
            </a:r>
            <a:r>
              <a:rPr lang="es-ES" err="1"/>
              <a:t>Academy</a:t>
            </a:r>
            <a:r>
              <a:rPr lang="es-ES"/>
              <a:t> Learner Lab</a:t>
            </a:r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E6FA3E9-FFDA-B583-0A42-F4EF77347E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250" y="1689409"/>
            <a:ext cx="6949206" cy="4101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7731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22301-D14D-CB97-C1A0-95A83631A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92069A0-484C-D4B6-96D7-75A8E8FC70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07835" y="181088"/>
            <a:ext cx="7119414" cy="1354217"/>
          </a:xfrm>
        </p:spPr>
        <p:txBody>
          <a:bodyPr/>
          <a:lstStyle/>
          <a:p>
            <a:r>
              <a:rPr lang="es-ES"/>
              <a:t>Lanzamos el laboratorio</a:t>
            </a:r>
            <a:endParaRPr lang="es-CO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8375D93-B405-9788-960B-8C414158A2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0110" y="1461031"/>
            <a:ext cx="6832712" cy="4644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3145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4117F-183A-96E5-1545-2855C81B3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32B11BA-C38B-E55A-4D42-01C08B9F5C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Seleccionamos EMR</a:t>
            </a:r>
            <a:endParaRPr lang="es-CO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89E37FC-17BA-0CA4-1BBE-A4B1E13487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783" y="1361055"/>
            <a:ext cx="10109703" cy="4920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5715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D0F49-1810-2E5F-01DE-A253C88C2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6EAE1C6-D578-157B-FC8C-BAD897EF06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Creamos el </a:t>
            </a:r>
            <a:r>
              <a:rPr lang="es-ES" err="1"/>
              <a:t>cluster</a:t>
            </a:r>
            <a:endParaRPr lang="es-CO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0F4D844-9ADC-3AA9-98A8-AA2B4680CB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0464" y="1582483"/>
            <a:ext cx="9059539" cy="4544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5322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17244-8E5B-DFBB-59FD-7BFD33281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DB16316-F835-0A22-3356-CE52C9FB99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Completa la forma</a:t>
            </a:r>
            <a:endParaRPr lang="es-CO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50FA91B-A09A-FBD3-2089-14B279245F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027" y="1518415"/>
            <a:ext cx="6237199" cy="4361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3082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950976" cy="292608"/>
          </a:xfrm>
          <a:prstGeom prst="roundRect">
            <a:avLst>
              <a:gd name="adj" fmla="val 50000"/>
            </a:avLst>
          </a:prstGeom>
          <a:solidFill>
            <a:srgbClr val="FFA502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950976" cy="292608"/>
          </a:xfrm>
          <a:prstGeom prst="rect">
            <a:avLst/>
          </a:prstGeom>
          <a:solidFill>
            <a:srgbClr val="FFA50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</a:t>
            </a:r>
            <a:endParaRPr lang="en-US" sz="1100"/>
          </a:p>
        </p:txBody>
      </p:sp>
      <p:sp>
        <p:nvSpPr>
          <p:cNvPr id="4" name="Text 2"/>
          <p:cNvSpPr/>
          <p:nvPr/>
        </p:nvSpPr>
        <p:spPr>
          <a:xfrm>
            <a:off x="206943" y="676656"/>
            <a:ext cx="10058400" cy="1354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indent="-228600">
              <a:buClr>
                <a:srgbClr val="000000"/>
              </a:buClr>
              <a:buSzPts val="4400"/>
            </a:pPr>
            <a:r>
              <a:rPr lang="en-US" sz="4400" b="1">
                <a:solidFill>
                  <a:srgbClr val="9200EE"/>
                </a:solidFill>
                <a:latin typeface="Montserrat Black"/>
                <a:sym typeface="Montserrat Black"/>
              </a:rPr>
              <a:t>Verificar qué puertos </a:t>
            </a:r>
          </a:p>
          <a:p>
            <a:pPr marL="457200" indent="-228600">
              <a:buSzPts val="4400"/>
            </a:pPr>
            <a:r>
              <a:rPr lang="en-US" sz="4400" b="1">
                <a:solidFill>
                  <a:srgbClr val="9200EE"/>
                </a:solidFill>
                <a:latin typeface="Montserrat Black"/>
                <a:sym typeface="Montserrat Black"/>
              </a:rPr>
              <a:t>están </a:t>
            </a:r>
            <a:r>
              <a:rPr lang="en-US" sz="4400" b="1" err="1">
                <a:solidFill>
                  <a:srgbClr val="9200EE"/>
                </a:solidFill>
                <a:latin typeface="Montserrat Black"/>
                <a:sym typeface="Montserrat Black"/>
              </a:rPr>
              <a:t>escuchando</a:t>
            </a:r>
            <a:endParaRPr lang="en-US" sz="4400" b="1">
              <a:solidFill>
                <a:srgbClr val="9200EE"/>
              </a:solidFill>
              <a:latin typeface="Montserrat Black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20191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 esto dentro del nodo master, conectado por SSH</a:t>
            </a:r>
            <a:endParaRPr lang="en-US" sz="1300"/>
          </a:p>
        </p:txBody>
      </p:sp>
      <p:sp>
        <p:nvSpPr>
          <p:cNvPr id="6" name="Shape 4"/>
          <p:cNvSpPr/>
          <p:nvPr/>
        </p:nvSpPr>
        <p:spPr>
          <a:xfrm>
            <a:off x="320040" y="2416904"/>
            <a:ext cx="11247120" cy="1600200"/>
          </a:xfrm>
          <a:prstGeom prst="roundRect">
            <a:avLst>
              <a:gd name="adj" fmla="val 4571"/>
            </a:avLst>
          </a:prstGeom>
          <a:solidFill>
            <a:srgbClr val="10151C"/>
          </a:solidFill>
          <a:ln w="12700">
            <a:solidFill>
              <a:srgbClr val="000000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548640" y="2581496"/>
            <a:ext cx="1078992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50" dirty="0" err="1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</a:t>
            </a:r>
            <a:r>
              <a:rPr lang="en-US" sz="12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ss -</a:t>
            </a:r>
            <a:r>
              <a:rPr lang="en-US" sz="1250" dirty="0" err="1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tuln</a:t>
            </a:r>
            <a:r>
              <a:rPr lang="en-US" sz="12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 grep -E ':(22|8998|8443|9443|8088|18080|9870|50070|8020)\b'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6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8F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</a:t>
            </a:r>
            <a:r>
              <a:rPr lang="en-US" sz="1250" i="1" dirty="0" err="1">
                <a:solidFill>
                  <a:srgbClr val="8F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alternativa</a:t>
            </a:r>
            <a:r>
              <a:rPr lang="en-US" sz="1250" i="1" dirty="0">
                <a:solidFill>
                  <a:srgbClr val="8F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50" i="1" dirty="0" err="1">
                <a:solidFill>
                  <a:srgbClr val="8F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</a:t>
            </a:r>
            <a:r>
              <a:rPr lang="en-US" sz="1250" i="1" dirty="0">
                <a:solidFill>
                  <a:srgbClr val="8F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 </a:t>
            </a:r>
            <a:r>
              <a:rPr lang="en-US" sz="1250" i="1" dirty="0" err="1">
                <a:solidFill>
                  <a:srgbClr val="8F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existe</a:t>
            </a:r>
            <a:r>
              <a:rPr lang="en-US" sz="1250" i="1" dirty="0">
                <a:solidFill>
                  <a:srgbClr val="8F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'ss':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50" dirty="0" err="1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</a:t>
            </a:r>
            <a:r>
              <a:rPr lang="en-US" sz="12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netstat -</a:t>
            </a:r>
            <a:r>
              <a:rPr lang="en-US" sz="1250" dirty="0" err="1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tuln</a:t>
            </a:r>
            <a:r>
              <a:rPr lang="en-US" sz="12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 grep -E ':(22|8998|8443|9443|8088|18080|9870|50070|8020)\b'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0040" y="4337144"/>
            <a:ext cx="112471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01600" dist="25400" dir="5400000" algn="bl" rotWithShape="0">
              <a:srgbClr val="1B2A41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640080" y="454745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significa el resultado?</a:t>
            </a:r>
            <a:endParaRPr lang="en-US" sz="1500"/>
          </a:p>
        </p:txBody>
      </p:sp>
      <p:sp>
        <p:nvSpPr>
          <p:cNvPr id="10" name="Shape 8"/>
          <p:cNvSpPr/>
          <p:nvPr/>
        </p:nvSpPr>
        <p:spPr>
          <a:xfrm>
            <a:off x="640080" y="5068664"/>
            <a:ext cx="146304" cy="14630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914400" y="500465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</a:t>
            </a:r>
            <a:r>
              <a:rPr lang="en-US" sz="130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el puerto aparece como </a:t>
            </a:r>
            <a:r>
              <a:rPr lang="en-US" sz="1300">
                <a:solidFill>
                  <a:srgbClr val="2E40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0.0.0.0:8088</a:t>
            </a:r>
            <a:r>
              <a:rPr lang="en-US" sz="130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r>
              <a:rPr lang="en-US" sz="1300">
                <a:solidFill>
                  <a:srgbClr val="2E40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:::8088</a:t>
            </a:r>
            <a:r>
              <a:rPr lang="en-US" sz="130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el servicio está activo y disponible.</a:t>
            </a:r>
            <a:endParaRPr lang="en-US" sz="1300"/>
          </a:p>
        </p:txBody>
      </p:sp>
      <p:sp>
        <p:nvSpPr>
          <p:cNvPr id="12" name="Text 10"/>
          <p:cNvSpPr/>
          <p:nvPr/>
        </p:nvSpPr>
        <p:spPr>
          <a:xfrm>
            <a:off x="640080" y="557158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i="1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 puerto no aparece en la lista, ese servicio aún no arrancó o no está expuesto — revisa el paso 2 (jps -l) antes de continuar con el túnel SSH.</a:t>
            </a:r>
            <a:endParaRPr lang="en-US" sz="125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EMR en AWS Academy · Complemento</a:t>
            </a:r>
            <a:endParaRPr lang="en-US" sz="900"/>
          </a:p>
        </p:txBody>
      </p:sp>
      <p:sp>
        <p:nvSpPr>
          <p:cNvPr id="14" name="Text 12"/>
          <p:cNvSpPr/>
          <p:nvPr/>
        </p:nvSpPr>
        <p:spPr>
          <a:xfrm>
            <a:off x="11247120" y="65105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17959"/>
            <a:ext cx="950976" cy="292608"/>
          </a:xfrm>
          <a:prstGeom prst="roundRect">
            <a:avLst>
              <a:gd name="adj" fmla="val 50000"/>
            </a:avLst>
          </a:prstGeom>
          <a:solidFill>
            <a:srgbClr val="FFA502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217959"/>
            <a:ext cx="950976" cy="292608"/>
          </a:xfrm>
          <a:prstGeom prst="rect">
            <a:avLst/>
          </a:prstGeom>
          <a:solidFill>
            <a:srgbClr val="FFA50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</a:t>
            </a:r>
            <a:endParaRPr lang="en-US" sz="1100"/>
          </a:p>
        </p:txBody>
      </p:sp>
      <p:sp>
        <p:nvSpPr>
          <p:cNvPr id="4" name="Text 2"/>
          <p:cNvSpPr/>
          <p:nvPr/>
        </p:nvSpPr>
        <p:spPr>
          <a:xfrm>
            <a:off x="137160" y="583052"/>
            <a:ext cx="105156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indent="-228600">
              <a:buClr>
                <a:srgbClr val="000000"/>
              </a:buClr>
              <a:buSzPts val="4400"/>
            </a:pPr>
            <a:r>
              <a:rPr lang="en-US" sz="3600" b="1">
                <a:solidFill>
                  <a:srgbClr val="9200EE"/>
                </a:solidFill>
                <a:latin typeface="Montserrat Black"/>
                <a:sym typeface="Montserrat Black"/>
              </a:rPr>
              <a:t>Ver los servicios de </a:t>
            </a:r>
          </a:p>
          <a:p>
            <a:pPr marL="457200" indent="-228600">
              <a:buClr>
                <a:srgbClr val="000000"/>
              </a:buClr>
              <a:buSzPts val="4400"/>
            </a:pPr>
            <a:r>
              <a:rPr lang="en-US" sz="3600" b="1">
                <a:solidFill>
                  <a:srgbClr val="9200EE"/>
                </a:solidFill>
                <a:latin typeface="Montserrat Black"/>
                <a:sym typeface="Montserrat Black"/>
              </a:rPr>
              <a:t>Hadoop/Spark </a:t>
            </a:r>
            <a:r>
              <a:rPr lang="en-US" sz="3600" b="1" err="1">
                <a:solidFill>
                  <a:srgbClr val="9200EE"/>
                </a:solidFill>
                <a:latin typeface="Montserrat Black"/>
                <a:sym typeface="Montserrat Black"/>
              </a:rPr>
              <a:t>en</a:t>
            </a:r>
            <a:r>
              <a:rPr lang="en-US" sz="3600" b="1">
                <a:solidFill>
                  <a:srgbClr val="9200EE"/>
                </a:solidFill>
                <a:latin typeface="Montserrat Black"/>
                <a:sym typeface="Montserrat Black"/>
              </a:rPr>
              <a:t> </a:t>
            </a:r>
            <a:r>
              <a:rPr lang="en-US" sz="3600" b="1" err="1">
                <a:solidFill>
                  <a:srgbClr val="9200EE"/>
                </a:solidFill>
                <a:latin typeface="Montserrat Black"/>
                <a:sym typeface="Montserrat Black"/>
              </a:rPr>
              <a:t>ejecución</a:t>
            </a:r>
            <a:endParaRPr lang="en-US" sz="3600" b="1">
              <a:solidFill>
                <a:srgbClr val="9200EE"/>
              </a:solidFill>
              <a:latin typeface="Montserrat Black"/>
              <a:sym typeface="Montserrat Black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1617229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nodo master, cada servicio corre como un proceso Java independiente</a:t>
            </a:r>
            <a:endParaRPr lang="en-US" sz="1300"/>
          </a:p>
        </p:txBody>
      </p:sp>
      <p:sp>
        <p:nvSpPr>
          <p:cNvPr id="6" name="Shape 4"/>
          <p:cNvSpPr/>
          <p:nvPr/>
        </p:nvSpPr>
        <p:spPr>
          <a:xfrm>
            <a:off x="365760" y="2056141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10151C"/>
          </a:solidFill>
          <a:ln w="12700">
            <a:solidFill>
              <a:srgbClr val="000000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594360" y="2220733"/>
            <a:ext cx="35661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5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jps -l</a:t>
            </a:r>
            <a:endParaRPr lang="en-US" sz="1250"/>
          </a:p>
        </p:txBody>
      </p:sp>
      <p:sp>
        <p:nvSpPr>
          <p:cNvPr id="8" name="Text 6"/>
          <p:cNvSpPr/>
          <p:nvPr/>
        </p:nvSpPr>
        <p:spPr>
          <a:xfrm>
            <a:off x="365760" y="2924821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que deberías ver:</a:t>
            </a:r>
            <a:endParaRPr lang="en-US" sz="1400"/>
          </a:p>
        </p:txBody>
      </p:sp>
      <p:sp>
        <p:nvSpPr>
          <p:cNvPr id="9" name="Shape 7"/>
          <p:cNvSpPr/>
          <p:nvPr/>
        </p:nvSpPr>
        <p:spPr>
          <a:xfrm>
            <a:off x="365760" y="3336301"/>
            <a:ext cx="9509760" cy="649224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594360" y="3391165"/>
            <a:ext cx="69494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E40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org.apache.hadoop.hdfs.server.namenode.NameNode</a:t>
            </a:r>
            <a:endParaRPr lang="en-US" sz="1100"/>
          </a:p>
        </p:txBody>
      </p:sp>
      <p:sp>
        <p:nvSpPr>
          <p:cNvPr id="11" name="Text 9"/>
          <p:cNvSpPr/>
          <p:nvPr/>
        </p:nvSpPr>
        <p:spPr>
          <a:xfrm>
            <a:off x="5630779" y="3391165"/>
            <a:ext cx="26517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 — NameNode</a:t>
            </a:r>
            <a:endParaRPr lang="en-US" sz="1250"/>
          </a:p>
        </p:txBody>
      </p:sp>
      <p:sp>
        <p:nvSpPr>
          <p:cNvPr id="12" name="Shape 10"/>
          <p:cNvSpPr/>
          <p:nvPr/>
        </p:nvSpPr>
        <p:spPr>
          <a:xfrm>
            <a:off x="8419699" y="3455173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8419699" y="3455173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 9870</a:t>
            </a:r>
            <a:endParaRPr lang="en-US" sz="900"/>
          </a:p>
        </p:txBody>
      </p:sp>
      <p:sp>
        <p:nvSpPr>
          <p:cNvPr id="14" name="Shape 12"/>
          <p:cNvSpPr/>
          <p:nvPr/>
        </p:nvSpPr>
        <p:spPr>
          <a:xfrm>
            <a:off x="365760" y="4113541"/>
            <a:ext cx="9509760" cy="649224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594360" y="4168405"/>
            <a:ext cx="69494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E40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org.apache.hadoop.yarn.server.resourcemanager.ResourceManager</a:t>
            </a:r>
            <a:endParaRPr lang="en-US" sz="1100"/>
          </a:p>
        </p:txBody>
      </p:sp>
      <p:sp>
        <p:nvSpPr>
          <p:cNvPr id="16" name="Text 14"/>
          <p:cNvSpPr/>
          <p:nvPr/>
        </p:nvSpPr>
        <p:spPr>
          <a:xfrm>
            <a:off x="5630779" y="4168405"/>
            <a:ext cx="26517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YARN — ResourceManager</a:t>
            </a:r>
            <a:endParaRPr lang="en-US" sz="1250"/>
          </a:p>
        </p:txBody>
      </p:sp>
      <p:sp>
        <p:nvSpPr>
          <p:cNvPr id="17" name="Shape 15"/>
          <p:cNvSpPr/>
          <p:nvPr/>
        </p:nvSpPr>
        <p:spPr>
          <a:xfrm>
            <a:off x="8419699" y="4232413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8419699" y="4232413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 8088</a:t>
            </a:r>
            <a:endParaRPr lang="en-US" sz="900"/>
          </a:p>
        </p:txBody>
      </p:sp>
      <p:sp>
        <p:nvSpPr>
          <p:cNvPr id="19" name="Shape 17"/>
          <p:cNvSpPr/>
          <p:nvPr/>
        </p:nvSpPr>
        <p:spPr>
          <a:xfrm>
            <a:off x="365760" y="4890781"/>
            <a:ext cx="9509760" cy="649224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594360" y="4945645"/>
            <a:ext cx="69494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E40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org.apache.spark.deploy.history.HistoryServer</a:t>
            </a:r>
            <a:endParaRPr lang="en-US" sz="1100"/>
          </a:p>
        </p:txBody>
      </p:sp>
      <p:sp>
        <p:nvSpPr>
          <p:cNvPr id="21" name="Text 19"/>
          <p:cNvSpPr/>
          <p:nvPr/>
        </p:nvSpPr>
        <p:spPr>
          <a:xfrm>
            <a:off x="5630779" y="4945645"/>
            <a:ext cx="26517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History Server</a:t>
            </a:r>
            <a:endParaRPr lang="en-US" sz="1250"/>
          </a:p>
        </p:txBody>
      </p:sp>
      <p:sp>
        <p:nvSpPr>
          <p:cNvPr id="22" name="Shape 20"/>
          <p:cNvSpPr/>
          <p:nvPr/>
        </p:nvSpPr>
        <p:spPr>
          <a:xfrm>
            <a:off x="8419699" y="5009653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8419699" y="5009653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 18080</a:t>
            </a:r>
            <a:endParaRPr lang="en-US" sz="900"/>
          </a:p>
        </p:txBody>
      </p:sp>
      <p:sp>
        <p:nvSpPr>
          <p:cNvPr id="24" name="Shape 22"/>
          <p:cNvSpPr/>
          <p:nvPr/>
        </p:nvSpPr>
        <p:spPr>
          <a:xfrm>
            <a:off x="365760" y="5668021"/>
            <a:ext cx="9509760" cy="649224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594360" y="5722885"/>
            <a:ext cx="69494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E40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org.apache.livy.server.LivyServer</a:t>
            </a:r>
            <a:endParaRPr lang="en-US" sz="1100"/>
          </a:p>
        </p:txBody>
      </p:sp>
      <p:sp>
        <p:nvSpPr>
          <p:cNvPr id="26" name="Text 24"/>
          <p:cNvSpPr/>
          <p:nvPr/>
        </p:nvSpPr>
        <p:spPr>
          <a:xfrm>
            <a:off x="5630779" y="5722885"/>
            <a:ext cx="26517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Livy</a:t>
            </a:r>
            <a:endParaRPr lang="en-US" sz="1250"/>
          </a:p>
        </p:txBody>
      </p:sp>
      <p:sp>
        <p:nvSpPr>
          <p:cNvPr id="27" name="Shape 25"/>
          <p:cNvSpPr/>
          <p:nvPr/>
        </p:nvSpPr>
        <p:spPr>
          <a:xfrm>
            <a:off x="8419699" y="5786893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8419699" y="5786893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 8998</a:t>
            </a:r>
            <a:endParaRPr lang="en-US" sz="900"/>
          </a:p>
        </p:txBody>
      </p:sp>
      <p:sp>
        <p:nvSpPr>
          <p:cNvPr id="29" name="Text 27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EMR en AWS Academy · Complemento</a:t>
            </a:r>
            <a:endParaRPr lang="en-US" sz="900"/>
          </a:p>
        </p:txBody>
      </p:sp>
      <p:sp>
        <p:nvSpPr>
          <p:cNvPr id="30" name="Text 28"/>
          <p:cNvSpPr/>
          <p:nvPr/>
        </p:nvSpPr>
        <p:spPr>
          <a:xfrm>
            <a:off x="11247120" y="65105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18872"/>
            <a:ext cx="950976" cy="292608"/>
          </a:xfrm>
          <a:prstGeom prst="roundRect">
            <a:avLst>
              <a:gd name="adj" fmla="val 50000"/>
            </a:avLst>
          </a:prstGeom>
          <a:solidFill>
            <a:srgbClr val="FFA502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118872"/>
            <a:ext cx="950976" cy="292608"/>
          </a:xfrm>
          <a:prstGeom prst="rect">
            <a:avLst/>
          </a:prstGeom>
          <a:solidFill>
            <a:srgbClr val="FFA50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</a:t>
            </a:r>
            <a:endParaRPr lang="en-US" sz="1100"/>
          </a:p>
        </p:txBody>
      </p:sp>
      <p:sp>
        <p:nvSpPr>
          <p:cNvPr id="4" name="Text 2"/>
          <p:cNvSpPr/>
          <p:nvPr/>
        </p:nvSpPr>
        <p:spPr>
          <a:xfrm>
            <a:off x="116732" y="502210"/>
            <a:ext cx="100584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indent="-228600">
              <a:buClr>
                <a:srgbClr val="000000"/>
              </a:buClr>
              <a:buSzPts val="4400"/>
            </a:pPr>
            <a:r>
              <a:rPr lang="en-US" sz="3600" b="1">
                <a:solidFill>
                  <a:srgbClr val="9200EE"/>
                </a:solidFill>
                <a:latin typeface="Montserrat Black"/>
                <a:sym typeface="Montserrat Black"/>
              </a:rPr>
              <a:t>Comprobar </a:t>
            </a:r>
            <a:r>
              <a:rPr lang="en-US" sz="3600" b="1" err="1">
                <a:solidFill>
                  <a:srgbClr val="9200EE"/>
                </a:solidFill>
                <a:latin typeface="Montserrat Black"/>
                <a:sym typeface="Montserrat Black"/>
              </a:rPr>
              <a:t>aplicaciones</a:t>
            </a:r>
            <a:r>
              <a:rPr lang="en-US" sz="3600" b="1">
                <a:solidFill>
                  <a:srgbClr val="9200EE"/>
                </a:solidFill>
                <a:latin typeface="Montserrat Black"/>
                <a:sym typeface="Montserrat Black"/>
              </a:rPr>
              <a:t> </a:t>
            </a:r>
          </a:p>
          <a:p>
            <a:pPr marL="457200" indent="-228600">
              <a:buClr>
                <a:srgbClr val="000000"/>
              </a:buClr>
              <a:buSzPts val="4400"/>
            </a:pPr>
            <a:r>
              <a:rPr lang="en-US" sz="3600" b="1" err="1">
                <a:solidFill>
                  <a:srgbClr val="9200EE"/>
                </a:solidFill>
                <a:latin typeface="Montserrat Black"/>
                <a:sym typeface="Montserrat Black"/>
              </a:rPr>
              <a:t>instaladas</a:t>
            </a:r>
            <a:endParaRPr lang="en-US" sz="3600" b="1">
              <a:solidFill>
                <a:srgbClr val="9200EE"/>
              </a:solidFill>
              <a:latin typeface="Montserrat Black"/>
              <a:sym typeface="Montserrat Black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53248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Spark, PySpark, HDFS y Hadoop — binarios, versiones y variables de entorno</a:t>
            </a:r>
            <a:endParaRPr lang="en-US" sz="130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¿Están en el PATH?</a:t>
            </a:r>
            <a:endParaRPr lang="en-US" sz="1350"/>
          </a:p>
        </p:txBody>
      </p:sp>
      <p:sp>
        <p:nvSpPr>
          <p:cNvPr id="7" name="Shape 5"/>
          <p:cNvSpPr/>
          <p:nvPr/>
        </p:nvSpPr>
        <p:spPr>
          <a:xfrm>
            <a:off x="457200" y="2121408"/>
            <a:ext cx="9426102" cy="640080"/>
          </a:xfrm>
          <a:prstGeom prst="roundRect">
            <a:avLst>
              <a:gd name="adj" fmla="val 11429"/>
            </a:avLst>
          </a:prstGeom>
          <a:solidFill>
            <a:srgbClr val="10151C"/>
          </a:solidFill>
          <a:ln w="12700">
            <a:solidFill>
              <a:srgbClr val="000000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685800" y="228600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which </a:t>
            </a:r>
            <a:r>
              <a:rPr lang="en-US" sz="1250" dirty="0" err="1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hadoop</a:t>
            </a:r>
            <a:r>
              <a:rPr lang="en-US" sz="12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50" dirty="0" err="1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hdfs</a:t>
            </a:r>
            <a:r>
              <a:rPr lang="en-US" sz="12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spark-submit </a:t>
            </a:r>
            <a:r>
              <a:rPr lang="en-US" sz="1250" dirty="0" err="1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pyspark</a:t>
            </a:r>
            <a:r>
              <a:rPr lang="en-US" sz="12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yarn</a:t>
            </a:r>
          </a:p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</a:t>
            </a:r>
            <a:r>
              <a:rPr lang="en-US" sz="1250" dirty="0" err="1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livy</a:t>
            </a:r>
            <a:r>
              <a:rPr lang="en-US" sz="12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-server </a:t>
            </a:r>
            <a:r>
              <a:rPr lang="en-US" sz="1250" dirty="0" err="1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</a:t>
            </a:r>
            <a:r>
              <a:rPr lang="en-US" sz="12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 </a:t>
            </a:r>
            <a:r>
              <a:rPr lang="en-US" sz="1250" dirty="0" err="1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viene</a:t>
            </a:r>
            <a:r>
              <a:rPr lang="en-US" sz="12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50" dirty="0" err="1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instalado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Versiones e instalación</a:t>
            </a:r>
            <a:endParaRPr lang="en-US" sz="1350"/>
          </a:p>
        </p:txBody>
      </p:sp>
      <p:sp>
        <p:nvSpPr>
          <p:cNvPr id="10" name="Shape 8"/>
          <p:cNvSpPr/>
          <p:nvPr/>
        </p:nvSpPr>
        <p:spPr>
          <a:xfrm>
            <a:off x="457200" y="3194966"/>
            <a:ext cx="9426102" cy="2236570"/>
          </a:xfrm>
          <a:prstGeom prst="roundRect">
            <a:avLst>
              <a:gd name="adj" fmla="val 3902"/>
            </a:avLst>
          </a:prstGeom>
          <a:solidFill>
            <a:srgbClr val="10151C"/>
          </a:solidFill>
          <a:ln w="12700">
            <a:solidFill>
              <a:srgbClr val="000000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685800" y="3438144"/>
            <a:ext cx="1078992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8F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Hadoop / HDFS</a:t>
            </a: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 err="1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hadoop</a:t>
            </a: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version</a:t>
            </a: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 err="1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hdfs</a:t>
            </a: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 err="1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dfs</a:t>
            </a: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-ls /</a:t>
            </a: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3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8F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Spark / </a:t>
            </a:r>
            <a:r>
              <a:rPr lang="en-US" sz="1050" i="1" dirty="0" err="1">
                <a:solidFill>
                  <a:srgbClr val="8F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PySpark</a:t>
            </a: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spark-submit –version</a:t>
            </a:r>
          </a:p>
          <a:p>
            <a:pPr>
              <a:lnSpc>
                <a:spcPct val="125000"/>
              </a:lnSpc>
            </a:pPr>
            <a:r>
              <a:rPr lang="es-CO" sz="1100" dirty="0">
                <a:solidFill>
                  <a:srgbClr val="4ADE80"/>
                </a:solidFill>
                <a:latin typeface="Consolas" pitchFamily="34" charset="0"/>
              </a:rPr>
              <a:t>/</a:t>
            </a:r>
            <a:r>
              <a:rPr lang="es-CO" sz="1100" dirty="0" err="1">
                <a:solidFill>
                  <a:srgbClr val="4ADE80"/>
                </a:solidFill>
                <a:latin typeface="Consolas" pitchFamily="34" charset="0"/>
              </a:rPr>
              <a:t>usr</a:t>
            </a:r>
            <a:r>
              <a:rPr lang="es-CO" sz="1100" dirty="0">
                <a:solidFill>
                  <a:srgbClr val="4ADE80"/>
                </a:solidFill>
                <a:latin typeface="Consolas" pitchFamily="34" charset="0"/>
              </a:rPr>
              <a:t>/</a:t>
            </a:r>
            <a:r>
              <a:rPr lang="es-CO" sz="1100" dirty="0" err="1">
                <a:solidFill>
                  <a:srgbClr val="4ADE80"/>
                </a:solidFill>
                <a:latin typeface="Consolas" pitchFamily="34" charset="0"/>
              </a:rPr>
              <a:t>lib</a:t>
            </a:r>
            <a:r>
              <a:rPr lang="es-CO" sz="1100" dirty="0">
                <a:solidFill>
                  <a:srgbClr val="4ADE80"/>
                </a:solidFill>
                <a:latin typeface="Consolas" pitchFamily="34" charset="0"/>
              </a:rPr>
              <a:t>/</a:t>
            </a:r>
            <a:r>
              <a:rPr lang="es-CO" sz="1100" dirty="0" err="1">
                <a:solidFill>
                  <a:srgbClr val="4ADE80"/>
                </a:solidFill>
                <a:latin typeface="Consolas" pitchFamily="34" charset="0"/>
              </a:rPr>
              <a:t>spark</a:t>
            </a:r>
            <a:r>
              <a:rPr lang="es-CO" sz="1100" dirty="0">
                <a:solidFill>
                  <a:srgbClr val="4ADE80"/>
                </a:solidFill>
                <a:latin typeface="Consolas" pitchFamily="34" charset="0"/>
              </a:rPr>
              <a:t>/</a:t>
            </a:r>
            <a:r>
              <a:rPr lang="es-CO" sz="1100" dirty="0" err="1">
                <a:solidFill>
                  <a:srgbClr val="4ADE80"/>
                </a:solidFill>
                <a:latin typeface="Consolas" pitchFamily="34" charset="0"/>
              </a:rPr>
              <a:t>python</a:t>
            </a:r>
            <a:r>
              <a:rPr lang="es-CO" sz="1100" dirty="0">
                <a:solidFill>
                  <a:srgbClr val="4ADE80"/>
                </a:solidFill>
                <a:latin typeface="Consolas" pitchFamily="34" charset="0"/>
              </a:rPr>
              <a:t>/</a:t>
            </a:r>
          </a:p>
          <a:p>
            <a:pPr>
              <a:lnSpc>
                <a:spcPct val="125000"/>
              </a:lnSpc>
            </a:pPr>
            <a:r>
              <a:rPr lang="es-CO" sz="1100" dirty="0" err="1">
                <a:solidFill>
                  <a:srgbClr val="4ADE80"/>
                </a:solidFill>
                <a:latin typeface="Consolas" pitchFamily="34" charset="0"/>
              </a:rPr>
              <a:t>pwd</a:t>
            </a:r>
            <a:endParaRPr lang="es-CO" sz="1100" dirty="0">
              <a:solidFill>
                <a:srgbClr val="4ADE80"/>
              </a:solidFill>
              <a:latin typeface="Consolas" pitchFamily="34" charset="0"/>
            </a:endParaRPr>
          </a:p>
          <a:p>
            <a:pPr>
              <a:lnSpc>
                <a:spcPct val="125000"/>
              </a:lnSpc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</a:rPr>
              <a:t>PYTHONPATH=$PYTHONPATH:/</a:t>
            </a:r>
            <a:r>
              <a:rPr lang="en-US" sz="1100" dirty="0" err="1">
                <a:solidFill>
                  <a:srgbClr val="4ADE80"/>
                </a:solidFill>
                <a:latin typeface="Consolas" pitchFamily="34" charset="0"/>
              </a:rPr>
              <a:t>usr</a:t>
            </a:r>
            <a:r>
              <a:rPr lang="en-US" sz="1100" dirty="0">
                <a:solidFill>
                  <a:srgbClr val="4ADE80"/>
                </a:solidFill>
                <a:latin typeface="Consolas" pitchFamily="34" charset="0"/>
              </a:rPr>
              <a:t>/lib/spark/python/:/</a:t>
            </a:r>
            <a:r>
              <a:rPr lang="en-US" sz="1100" dirty="0" err="1">
                <a:solidFill>
                  <a:srgbClr val="4ADE80"/>
                </a:solidFill>
                <a:latin typeface="Consolas" pitchFamily="34" charset="0"/>
              </a:rPr>
              <a:t>usr</a:t>
            </a:r>
            <a:r>
              <a:rPr lang="en-US" sz="1100" dirty="0">
                <a:solidFill>
                  <a:srgbClr val="4ADE80"/>
                </a:solidFill>
                <a:latin typeface="Consolas" pitchFamily="34" charset="0"/>
              </a:rPr>
              <a:t>/lib/spark/python/lib/py4j-src.zip python3 -c "import </a:t>
            </a:r>
            <a:r>
              <a:rPr lang="en-US" sz="1100" dirty="0" err="1">
                <a:solidFill>
                  <a:srgbClr val="4ADE80"/>
                </a:solidFill>
                <a:latin typeface="Consolas" pitchFamily="34" charset="0"/>
              </a:rPr>
              <a:t>pyspark</a:t>
            </a:r>
            <a:r>
              <a:rPr lang="en-US" sz="1100" dirty="0">
                <a:solidFill>
                  <a:srgbClr val="4ADE80"/>
                </a:solidFill>
                <a:latin typeface="Consolas" pitchFamily="34" charset="0"/>
              </a:rPr>
              <a:t>; print('</a:t>
            </a:r>
            <a:r>
              <a:rPr lang="en-US" sz="1100" dirty="0" err="1">
                <a:solidFill>
                  <a:srgbClr val="4ADE80"/>
                </a:solidFill>
                <a:latin typeface="Consolas" pitchFamily="34" charset="0"/>
              </a:rPr>
              <a:t>PySpark</a:t>
            </a:r>
            <a:r>
              <a:rPr lang="en-US" sz="1100" dirty="0">
                <a:solidFill>
                  <a:srgbClr val="4ADE80"/>
                </a:solidFill>
                <a:latin typeface="Consolas" pitchFamily="34" charset="0"/>
              </a:rPr>
              <a:t> </a:t>
            </a:r>
            <a:r>
              <a:rPr lang="en-US" sz="1100" dirty="0" err="1">
                <a:solidFill>
                  <a:srgbClr val="4ADE80"/>
                </a:solidFill>
                <a:latin typeface="Consolas" pitchFamily="34" charset="0"/>
              </a:rPr>
              <a:t>versión</a:t>
            </a:r>
            <a:r>
              <a:rPr lang="en-US" sz="1100" dirty="0">
                <a:solidFill>
                  <a:srgbClr val="4ADE80"/>
                </a:solidFill>
                <a:latin typeface="Consolas" pitchFamily="34" charset="0"/>
              </a:rPr>
              <a:t>:', </a:t>
            </a:r>
            <a:r>
              <a:rPr lang="en-US" sz="1100" dirty="0" err="1">
                <a:solidFill>
                  <a:srgbClr val="4ADE80"/>
                </a:solidFill>
                <a:latin typeface="Consolas" pitchFamily="34" charset="0"/>
              </a:rPr>
              <a:t>pyspark</a:t>
            </a:r>
            <a:r>
              <a:rPr lang="en-US" sz="1100" dirty="0">
                <a:solidFill>
                  <a:srgbClr val="4ADE80"/>
                </a:solidFill>
                <a:latin typeface="Consolas" pitchFamily="34" charset="0"/>
              </a:rPr>
              <a:t>.__version__)"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537738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Variables de entorno</a:t>
            </a:r>
            <a:endParaRPr lang="en-US" sz="1350"/>
          </a:p>
        </p:txBody>
      </p:sp>
      <p:sp>
        <p:nvSpPr>
          <p:cNvPr id="13" name="Shape 11"/>
          <p:cNvSpPr/>
          <p:nvPr/>
        </p:nvSpPr>
        <p:spPr>
          <a:xfrm>
            <a:off x="457200" y="5715710"/>
            <a:ext cx="9426102" cy="1142290"/>
          </a:xfrm>
          <a:prstGeom prst="roundRect">
            <a:avLst>
              <a:gd name="adj" fmla="val 11429"/>
            </a:avLst>
          </a:prstGeom>
          <a:solidFill>
            <a:srgbClr val="10151C"/>
          </a:solidFill>
          <a:ln w="12700">
            <a:solidFill>
              <a:srgbClr val="000000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685800" y="576072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r>
              <a:rPr lang="en-US" sz="12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'export SPARK_HOME=/</a:t>
            </a:r>
            <a:r>
              <a:rPr lang="en-US" sz="1250" dirty="0" err="1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usr</a:t>
            </a:r>
            <a:r>
              <a:rPr lang="en-US" sz="12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/lib/spark' &gt;&gt; ~/.</a:t>
            </a:r>
            <a:r>
              <a:rPr lang="en-US" sz="1250" dirty="0" err="1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bashrc</a:t>
            </a:r>
            <a:endParaRPr lang="en-US" sz="1250" dirty="0">
              <a:solidFill>
                <a:srgbClr val="4ADE80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>
              <a:lnSpc>
                <a:spcPct val="125000"/>
              </a:lnSpc>
            </a:pPr>
            <a:r>
              <a:rPr lang="en-US" sz="12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'export PYTHONPATH=$SPARK_HOME/python:$SPARK_HOME/python/lib/py4j-src.zip:$PYTHONPATH' &gt;&gt; ~/.</a:t>
            </a:r>
            <a:r>
              <a:rPr lang="en-US" sz="1250" dirty="0" err="1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bashrc</a:t>
            </a:r>
            <a:endParaRPr lang="en-US" sz="1250" dirty="0">
              <a:solidFill>
                <a:srgbClr val="4ADE80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>
              <a:lnSpc>
                <a:spcPct val="125000"/>
              </a:lnSpc>
            </a:pPr>
            <a:r>
              <a:rPr lang="en-US" sz="12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~/.</a:t>
            </a:r>
            <a:r>
              <a:rPr lang="en-US" sz="1250" dirty="0" err="1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bashrc</a:t>
            </a:r>
            <a:endParaRPr lang="en-US" sz="1250" dirty="0">
              <a:solidFill>
                <a:srgbClr val="4ADE80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 | grep -</a:t>
            </a:r>
            <a:r>
              <a:rPr lang="en-US" sz="1250" dirty="0" err="1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iE</a:t>
            </a:r>
            <a:r>
              <a:rPr lang="en-US" sz="12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'SPARK|HADOOP|HDFS|JAVA'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EMR en AWS Academy · Complemento</a:t>
            </a:r>
            <a:endParaRPr lang="en-US" sz="900"/>
          </a:p>
        </p:txBody>
      </p:sp>
      <p:sp>
        <p:nvSpPr>
          <p:cNvPr id="16" name="Text 14"/>
          <p:cNvSpPr/>
          <p:nvPr/>
        </p:nvSpPr>
        <p:spPr>
          <a:xfrm>
            <a:off x="11247120" y="65105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6100" y="3076050"/>
            <a:ext cx="190500" cy="2000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409950" y="3036164"/>
            <a:ext cx="2190750" cy="2355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latin typeface="Plus Jakarta Sans"/>
              </a:rPr>
              <a:t>Requisito de Seguridad SSH: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28121" y="3276075"/>
            <a:ext cx="5010150" cy="4919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 dirty="0">
                <a:latin typeface="Plus Jakarta Sans"/>
              </a:rPr>
              <a:t>El </a:t>
            </a:r>
            <a:r>
              <a:rPr sz="1275" b="0" i="0" u="none" dirty="0" err="1">
                <a:latin typeface="Plus Jakarta Sans"/>
              </a:rPr>
              <a:t>cliente</a:t>
            </a:r>
            <a:r>
              <a:rPr sz="1275" b="0" i="0" u="none" dirty="0">
                <a:latin typeface="Plus Jakarta Sans"/>
              </a:rPr>
              <a:t> OpenSSH </a:t>
            </a:r>
            <a:r>
              <a:rPr sz="1275" b="0" i="0" u="none" dirty="0" err="1">
                <a:latin typeface="Plus Jakarta Sans"/>
              </a:rPr>
              <a:t>exige</a:t>
            </a:r>
            <a:r>
              <a:rPr sz="1275" b="0" i="0" u="none" dirty="0">
                <a:latin typeface="Plus Jakarta Sans"/>
              </a:rPr>
              <a:t> </a:t>
            </a:r>
            <a:r>
              <a:rPr sz="1275" b="0" i="0" u="none" dirty="0" err="1">
                <a:latin typeface="Plus Jakarta Sans"/>
              </a:rPr>
              <a:t>que</a:t>
            </a:r>
            <a:r>
              <a:rPr sz="1275" b="0" i="0" u="none" dirty="0">
                <a:latin typeface="Plus Jakarta Sans"/>
              </a:rPr>
              <a:t> el </a:t>
            </a:r>
            <a:r>
              <a:rPr sz="1275" b="0" i="0" u="none" dirty="0" err="1">
                <a:latin typeface="Plus Jakarta Sans"/>
              </a:rPr>
              <a:t>archivo</a:t>
            </a:r>
            <a:r>
              <a:rPr sz="1275" b="0" i="0" u="none" dirty="0">
                <a:latin typeface="Plus Jakarta Sans"/>
              </a:rPr>
              <a:t> .</a:t>
            </a:r>
            <a:r>
              <a:rPr sz="1275" b="0" i="0" u="none" dirty="0" err="1">
                <a:latin typeface="Plus Jakarta Sans"/>
              </a:rPr>
              <a:t>pem</a:t>
            </a:r>
            <a:r>
              <a:rPr sz="1275" b="0" i="0" u="none" dirty="0">
                <a:latin typeface="Plus Jakarta Sans"/>
              </a:rPr>
              <a:t> solo sea legible </a:t>
            </a:r>
            <a:r>
              <a:rPr sz="1275" b="0" i="0" u="none" dirty="0" err="1">
                <a:latin typeface="Plus Jakarta Sans"/>
              </a:rPr>
              <a:t>por</a:t>
            </a:r>
            <a:r>
              <a:rPr sz="1275" b="0" i="0" u="none" dirty="0">
                <a:latin typeface="Plus Jakarta Sans"/>
              </a:rPr>
              <a:t> el </a:t>
            </a:r>
            <a:r>
              <a:rPr sz="1275" b="0" i="0" u="none" dirty="0" err="1">
                <a:latin typeface="Plus Jakarta Sans"/>
              </a:rPr>
              <a:t>usuario</a:t>
            </a:r>
            <a:r>
              <a:rPr sz="1275" b="0" i="0" u="none" dirty="0">
                <a:latin typeface="Plus Jakarta Sans"/>
              </a:rPr>
              <a:t> </a:t>
            </a:r>
            <a:r>
              <a:rPr sz="1275" b="0" i="0" u="none" dirty="0" err="1">
                <a:latin typeface="Plus Jakarta Sans"/>
              </a:rPr>
              <a:t>dueño</a:t>
            </a:r>
            <a:r>
              <a:rPr sz="1275" b="0" i="0" u="none" dirty="0">
                <a:latin typeface="Plus Jakarta Sans"/>
              </a:rPr>
              <a:t>, </a:t>
            </a:r>
            <a:r>
              <a:rPr sz="1275" b="0" i="0" u="none" dirty="0" err="1">
                <a:latin typeface="Plus Jakarta Sans"/>
              </a:rPr>
              <a:t>rechazándolo</a:t>
            </a:r>
            <a:r>
              <a:rPr sz="1275" b="0" i="0" u="none" dirty="0">
                <a:latin typeface="Plus Jakarta Sans"/>
              </a:rPr>
              <a:t> </a:t>
            </a:r>
            <a:r>
              <a:rPr sz="1275" b="0" i="0" u="none" dirty="0" err="1">
                <a:latin typeface="Plus Jakarta Sans"/>
              </a:rPr>
              <a:t>si</a:t>
            </a:r>
            <a:r>
              <a:rPr sz="1275" b="0" i="0" u="none" dirty="0">
                <a:latin typeface="Plus Jakarta Sans"/>
              </a:rPr>
              <a:t> </a:t>
            </a:r>
            <a:r>
              <a:rPr sz="1275" b="0" i="0" u="none" dirty="0" err="1">
                <a:latin typeface="Plus Jakarta Sans"/>
              </a:rPr>
              <a:t>otros</a:t>
            </a:r>
            <a:r>
              <a:rPr sz="1275" b="0" i="0" u="none" dirty="0">
                <a:latin typeface="Plus Jakarta Sans"/>
              </a:rPr>
              <a:t> </a:t>
            </a:r>
            <a:r>
              <a:rPr sz="1275" b="0" i="0" u="none" dirty="0" err="1">
                <a:latin typeface="Plus Jakarta Sans"/>
              </a:rPr>
              <a:t>usuarios</a:t>
            </a:r>
            <a:r>
              <a:rPr sz="1275" b="0" i="0" u="none" dirty="0">
                <a:latin typeface="Plus Jakarta Sans"/>
              </a:rPr>
              <a:t> o el </a:t>
            </a:r>
            <a:r>
              <a:rPr sz="1275" b="0" i="0" u="none" dirty="0" err="1">
                <a:latin typeface="Plus Jakarta Sans"/>
              </a:rPr>
              <a:t>grupo</a:t>
            </a:r>
            <a:r>
              <a:rPr sz="1275" b="0" i="0" u="none" dirty="0">
                <a:latin typeface="Plus Jakarta Sans"/>
              </a:rPr>
              <a:t> </a:t>
            </a:r>
            <a:r>
              <a:rPr sz="1275" b="0" i="0" u="none" dirty="0" err="1">
                <a:latin typeface="Plus Jakarta Sans"/>
              </a:rPr>
              <a:t>heredan</a:t>
            </a:r>
            <a:r>
              <a:rPr sz="1275" b="0" i="0" u="none" dirty="0">
                <a:latin typeface="Plus Jakarta Sans"/>
              </a:rPr>
              <a:t> </a:t>
            </a:r>
            <a:r>
              <a:rPr sz="1275" b="0" i="0" u="none" dirty="0" err="1">
                <a:latin typeface="Plus Jakarta Sans"/>
              </a:rPr>
              <a:t>permisos</a:t>
            </a:r>
            <a:r>
              <a:rPr sz="1275" b="0" i="0" u="none" dirty="0">
                <a:latin typeface="Plus Jakarta Sans"/>
              </a:rPr>
              <a:t>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6100" y="4257745"/>
            <a:ext cx="219075" cy="2000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438525" y="4252983"/>
            <a:ext cx="1724025" cy="2355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latin typeface="Plus Jakarta Sans"/>
              </a:rPr>
              <a:t>Herencia de Permisos: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38525" y="4492894"/>
            <a:ext cx="4981575" cy="4919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 dirty="0">
                <a:latin typeface="Plus Jakarta Sans"/>
              </a:rPr>
              <a:t>Al </a:t>
            </a:r>
            <a:r>
              <a:rPr sz="1275" b="0" i="0" u="none" dirty="0" err="1">
                <a:latin typeface="Plus Jakarta Sans"/>
              </a:rPr>
              <a:t>copiar</a:t>
            </a:r>
            <a:r>
              <a:rPr sz="1275" b="0" i="0" u="none" dirty="0">
                <a:latin typeface="Plus Jakarta Sans"/>
              </a:rPr>
              <a:t> </a:t>
            </a:r>
            <a:r>
              <a:rPr sz="1275" b="0" i="0" u="none" dirty="0" err="1">
                <a:latin typeface="Plus Jakarta Sans"/>
              </a:rPr>
              <a:t>archivos</a:t>
            </a:r>
            <a:r>
              <a:rPr sz="1275" b="0" i="0" u="none" dirty="0">
                <a:latin typeface="Plus Jakarta Sans"/>
              </a:rPr>
              <a:t> a </a:t>
            </a:r>
            <a:r>
              <a:rPr sz="1275" b="0" i="0" u="none" dirty="0" err="1">
                <a:latin typeface="Plus Jakarta Sans"/>
              </a:rPr>
              <a:t>carpetas</a:t>
            </a:r>
            <a:r>
              <a:rPr sz="1275" b="0" i="0" u="none" dirty="0">
                <a:latin typeface="Plus Jakarta Sans"/>
              </a:rPr>
              <a:t> </a:t>
            </a:r>
            <a:r>
              <a:rPr sz="1275" b="0" i="0" u="none" dirty="0" err="1">
                <a:latin typeface="Plus Jakarta Sans"/>
              </a:rPr>
              <a:t>como</a:t>
            </a:r>
            <a:r>
              <a:rPr sz="1275" b="0" i="0" u="none" dirty="0">
                <a:latin typeface="Plus Jakarta Sans"/>
              </a:rPr>
              <a:t> Downloads o $</a:t>
            </a:r>
            <a:r>
              <a:rPr sz="1275" b="0" i="0" u="none" dirty="0" err="1">
                <a:latin typeface="Plus Jakarta Sans"/>
              </a:rPr>
              <a:t>env:TEMP</a:t>
            </a:r>
            <a:r>
              <a:rPr sz="1275" b="0" i="0" u="none" dirty="0">
                <a:latin typeface="Plus Jakarta Sans"/>
              </a:rPr>
              <a:t>, el </a:t>
            </a:r>
            <a:r>
              <a:rPr sz="1275" b="0" i="0" u="none" dirty="0" err="1">
                <a:latin typeface="Plus Jakarta Sans"/>
              </a:rPr>
              <a:t>archivo</a:t>
            </a:r>
            <a:r>
              <a:rPr sz="1275" b="0" i="0" u="none" dirty="0">
                <a:latin typeface="Plus Jakarta Sans"/>
              </a:rPr>
              <a:t> </a:t>
            </a:r>
            <a:r>
              <a:rPr sz="1275" b="0" i="0" u="none" dirty="0" err="1">
                <a:latin typeface="Plus Jakarta Sans"/>
              </a:rPr>
              <a:t>hereda</a:t>
            </a:r>
            <a:r>
              <a:rPr sz="1275" b="0" i="0" u="none" dirty="0">
                <a:latin typeface="Plus Jakarta Sans"/>
              </a:rPr>
              <a:t> </a:t>
            </a:r>
            <a:r>
              <a:rPr sz="1275" b="0" i="0" u="none" dirty="0" err="1">
                <a:latin typeface="Plus Jakarta Sans"/>
              </a:rPr>
              <a:t>accesos</a:t>
            </a:r>
            <a:r>
              <a:rPr sz="1275" b="0" i="0" u="none" dirty="0">
                <a:latin typeface="Plus Jakarta Sans"/>
              </a:rPr>
              <a:t> del </a:t>
            </a:r>
            <a:r>
              <a:rPr sz="1275" b="0" i="0" u="none" dirty="0" err="1">
                <a:latin typeface="Plus Jakarta Sans"/>
              </a:rPr>
              <a:t>sistema</a:t>
            </a:r>
            <a:r>
              <a:rPr sz="1275" b="0" i="0" u="none" dirty="0">
                <a:latin typeface="Plus Jakarta Sans"/>
              </a:rPr>
              <a:t> y de </a:t>
            </a:r>
            <a:r>
              <a:rPr sz="1275" b="0" i="0" u="none" dirty="0" err="1">
                <a:latin typeface="Plus Jakarta Sans"/>
              </a:rPr>
              <a:t>administradores</a:t>
            </a:r>
            <a:r>
              <a:rPr sz="1275" b="0" i="0" u="none" dirty="0">
                <a:latin typeface="Plus Jakarta Sans"/>
              </a:rPr>
              <a:t>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6100" y="5215603"/>
            <a:ext cx="238125" cy="2000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457575" y="5210841"/>
            <a:ext cx="1857375" cy="2355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latin typeface="Plus Jakarta Sans"/>
              </a:rPr>
              <a:t>Solución en PowerShell: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7575" y="5450752"/>
            <a:ext cx="4962525" cy="4919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latin typeface="Plus Jakarta Sans"/>
              </a:rPr>
              <a:t>Utilizar el comando nativo icacls para romper la herencia y restringir el archivo exclusivamente a tu usuario actual.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" y="1014730"/>
            <a:ext cx="1160145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1" i="0" u="none" strike="noStrike" cap="none">
                <a:solidFill>
                  <a:srgbClr val="9200EE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L="914400" marR="0" lvl="1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t>El </a:t>
            </a:r>
            <a:r>
              <a:rPr err="1"/>
              <a:t>Problema</a:t>
            </a:r>
            <a:r>
              <a:t> de </a:t>
            </a:r>
            <a:endParaRPr lang="es-ES"/>
          </a:p>
          <a:p>
            <a:r>
              <a:rPr err="1"/>
              <a:t>Permisos</a:t>
            </a:r>
            <a:r>
              <a:t> </a:t>
            </a:r>
            <a:r>
              <a:rPr err="1"/>
              <a:t>en</a:t>
            </a:r>
            <a:r>
              <a:t> Windows</a:t>
            </a:r>
            <a:r>
              <a:rPr lang="es-ES"/>
              <a:t> en la UNAB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776" y="1929553"/>
            <a:ext cx="3793398" cy="476049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8882" y="1929553"/>
            <a:ext cx="3530649" cy="492844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6023" y="1929553"/>
            <a:ext cx="3530649" cy="320627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749" y="4144712"/>
            <a:ext cx="2978199" cy="110323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2998" y="4144712"/>
            <a:ext cx="2978199" cy="2217726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2248" y="3885750"/>
            <a:ext cx="2978199" cy="1250074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3749" y="2205778"/>
            <a:ext cx="476250" cy="452145"/>
          </a:xfrm>
          <a:prstGeom prst="rect">
            <a:avLst/>
          </a:prstGeom>
          <a:solidFill>
            <a:srgbClr val="FFA502"/>
          </a:solidFill>
        </p:spPr>
      </p:pic>
      <p:sp>
        <p:nvSpPr>
          <p:cNvPr id="10" name="TextBox 9"/>
          <p:cNvSpPr txBox="1"/>
          <p:nvPr/>
        </p:nvSpPr>
        <p:spPr>
          <a:xfrm>
            <a:off x="763749" y="2872528"/>
            <a:ext cx="3127109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Plus Jakarta Sans"/>
              </a:rPr>
              <a:t>1. Mover el Archivo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749" y="3253528"/>
            <a:ext cx="2978199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Copia la llave privada al directorio temporal de tu usuario para trabajar sobre él de manera aislada.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22998" y="2205778"/>
            <a:ext cx="476250" cy="452145"/>
          </a:xfrm>
          <a:prstGeom prst="rect">
            <a:avLst/>
          </a:prstGeom>
          <a:solidFill>
            <a:srgbClr val="FFA502"/>
          </a:solidFill>
        </p:spPr>
      </p:pic>
      <p:sp>
        <p:nvSpPr>
          <p:cNvPr id="13" name="TextBox 12"/>
          <p:cNvSpPr txBox="1"/>
          <p:nvPr/>
        </p:nvSpPr>
        <p:spPr>
          <a:xfrm>
            <a:off x="4522998" y="2872528"/>
            <a:ext cx="3127109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Plus Jakarta Sans"/>
              </a:rPr>
              <a:t>2. Limpiar Permisos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2998" y="3253528"/>
            <a:ext cx="2978199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Elimina la herencia de permisos y concede acceso exclusivo de lectura a tu usuario actual.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82248" y="2205778"/>
            <a:ext cx="476250" cy="452145"/>
          </a:xfrm>
          <a:prstGeom prst="rect">
            <a:avLst/>
          </a:prstGeom>
          <a:solidFill>
            <a:srgbClr val="FFA502"/>
          </a:solidFill>
        </p:spPr>
      </p:pic>
      <p:sp>
        <p:nvSpPr>
          <p:cNvPr id="16" name="TextBox 15"/>
          <p:cNvSpPr txBox="1"/>
          <p:nvPr/>
        </p:nvSpPr>
        <p:spPr>
          <a:xfrm>
            <a:off x="8282248" y="2872528"/>
            <a:ext cx="3127109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Plus Jakarta Sans"/>
              </a:rPr>
              <a:t>3. Conectar vía SSH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2248" y="3253528"/>
            <a:ext cx="2978199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Ejecuta la conexión SSH utilizando la llave privada recién protegida y limpia.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1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646823" y="2329603"/>
            <a:ext cx="228600" cy="21703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377498" y="2329603"/>
            <a:ext cx="285750" cy="21703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71500" y="476250"/>
            <a:ext cx="11601450" cy="1354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1" i="0" u="none" strike="noStrike" cap="none">
                <a:solidFill>
                  <a:srgbClr val="9200EE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L="914400" marR="0" lvl="1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err="1"/>
              <a:t>Proceso</a:t>
            </a:r>
            <a:r>
              <a:t> de </a:t>
            </a:r>
            <a:endParaRPr lang="es-ES"/>
          </a:p>
          <a:p>
            <a:r>
              <a:rPr err="1"/>
              <a:t>Reparación</a:t>
            </a:r>
            <a:r>
              <a:t> </a:t>
            </a:r>
            <a:r>
              <a:rPr err="1"/>
              <a:t>en</a:t>
            </a:r>
            <a:r>
              <a:t> 3 Pasos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6C866DAE-1DDF-DA58-ECA5-17AEB1A98973}"/>
              </a:ext>
            </a:extLst>
          </p:cNvPr>
          <p:cNvSpPr txBox="1"/>
          <p:nvPr/>
        </p:nvSpPr>
        <p:spPr>
          <a:xfrm>
            <a:off x="792705" y="4324554"/>
            <a:ext cx="384459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400" dirty="0" err="1">
                <a:solidFill>
                  <a:schemeClr val="bg1"/>
                </a:solidFill>
              </a:rPr>
              <a:t>Copy</a:t>
            </a:r>
            <a:r>
              <a:rPr lang="es-CO" sz="1400" dirty="0">
                <a:solidFill>
                  <a:schemeClr val="bg1"/>
                </a:solidFill>
              </a:rPr>
              <a:t>-Item "</a:t>
            </a:r>
            <a:r>
              <a:rPr lang="es-CO" sz="1400" dirty="0" err="1">
                <a:solidFill>
                  <a:schemeClr val="bg1"/>
                </a:solidFill>
              </a:rPr>
              <a:t>prueba.pem</a:t>
            </a:r>
            <a:r>
              <a:rPr lang="es-CO" sz="1400" dirty="0">
                <a:solidFill>
                  <a:schemeClr val="bg1"/>
                </a:solidFill>
              </a:rPr>
              <a:t>" "$</a:t>
            </a:r>
            <a:r>
              <a:rPr lang="es-CO" sz="1400" dirty="0" err="1">
                <a:solidFill>
                  <a:schemeClr val="bg1"/>
                </a:solidFill>
              </a:rPr>
              <a:t>env:TEMP</a:t>
            </a:r>
            <a:r>
              <a:rPr lang="es-CO" sz="1400" dirty="0">
                <a:solidFill>
                  <a:schemeClr val="bg1"/>
                </a:solidFill>
              </a:rPr>
              <a:t>\</a:t>
            </a:r>
            <a:r>
              <a:rPr lang="es-CO" sz="1400" dirty="0" err="1">
                <a:solidFill>
                  <a:schemeClr val="bg1"/>
                </a:solidFill>
              </a:rPr>
              <a:t>prueba.pem</a:t>
            </a:r>
            <a:r>
              <a:rPr lang="es-CO" sz="1400" dirty="0">
                <a:solidFill>
                  <a:schemeClr val="bg1"/>
                </a:solidFill>
              </a:rPr>
              <a:t>“</a:t>
            </a:r>
          </a:p>
          <a:p>
            <a:endParaRPr lang="es-CO" sz="1400" dirty="0">
              <a:solidFill>
                <a:schemeClr val="bg1"/>
              </a:solidFill>
            </a:endParaRPr>
          </a:p>
          <a:p>
            <a:r>
              <a:rPr lang="en-US" sz="1400" dirty="0">
                <a:solidFill>
                  <a:schemeClr val="bg1"/>
                </a:solidFill>
              </a:rPr>
              <a:t>Test-Path "$</a:t>
            </a:r>
            <a:r>
              <a:rPr lang="en-US" sz="1400" dirty="0" err="1">
                <a:solidFill>
                  <a:schemeClr val="bg1"/>
                </a:solidFill>
              </a:rPr>
              <a:t>env:TEMP</a:t>
            </a:r>
            <a:r>
              <a:rPr lang="en-US" sz="1400" dirty="0">
                <a:solidFill>
                  <a:schemeClr val="bg1"/>
                </a:solidFill>
              </a:rPr>
              <a:t>\</a:t>
            </a:r>
            <a:r>
              <a:rPr lang="en-US" sz="1400" dirty="0" err="1">
                <a:solidFill>
                  <a:schemeClr val="bg1"/>
                </a:solidFill>
              </a:rPr>
              <a:t>prueba.pem</a:t>
            </a:r>
            <a:r>
              <a:rPr lang="en-US" sz="1400" dirty="0">
                <a:solidFill>
                  <a:schemeClr val="bg1"/>
                </a:solidFill>
              </a:rPr>
              <a:t>"</a:t>
            </a:r>
            <a:endParaRPr lang="es-CO" sz="1400" dirty="0">
              <a:solidFill>
                <a:schemeClr val="bg1"/>
              </a:solidFill>
            </a:endParaRP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E826A77B-B1DA-2363-E787-E45B965FFE80}"/>
              </a:ext>
            </a:extLst>
          </p:cNvPr>
          <p:cNvSpPr txBox="1"/>
          <p:nvPr/>
        </p:nvSpPr>
        <p:spPr>
          <a:xfrm>
            <a:off x="4546984" y="4082203"/>
            <a:ext cx="3127109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100" dirty="0">
                <a:solidFill>
                  <a:schemeClr val="bg1"/>
                </a:solidFill>
              </a:rPr>
              <a:t># 1. Quitar la herencia de permisos del archivo</a:t>
            </a:r>
          </a:p>
          <a:p>
            <a:r>
              <a:rPr lang="es-CO" sz="1100" dirty="0" err="1">
                <a:solidFill>
                  <a:schemeClr val="bg1"/>
                </a:solidFill>
              </a:rPr>
              <a:t>icacls</a:t>
            </a:r>
            <a:r>
              <a:rPr lang="es-CO" sz="1100" dirty="0">
                <a:solidFill>
                  <a:schemeClr val="bg1"/>
                </a:solidFill>
              </a:rPr>
              <a:t> "$</a:t>
            </a:r>
            <a:r>
              <a:rPr lang="es-CO" sz="1100" dirty="0" err="1">
                <a:solidFill>
                  <a:schemeClr val="bg1"/>
                </a:solidFill>
              </a:rPr>
              <a:t>env:TEMP</a:t>
            </a:r>
            <a:r>
              <a:rPr lang="es-CO" sz="1100" dirty="0">
                <a:solidFill>
                  <a:schemeClr val="bg1"/>
                </a:solidFill>
              </a:rPr>
              <a:t>\</a:t>
            </a:r>
            <a:r>
              <a:rPr lang="es-CO" sz="1100" dirty="0" err="1">
                <a:solidFill>
                  <a:schemeClr val="bg1"/>
                </a:solidFill>
              </a:rPr>
              <a:t>prueba.pem</a:t>
            </a:r>
            <a:r>
              <a:rPr lang="es-CO" sz="1100" dirty="0">
                <a:solidFill>
                  <a:schemeClr val="bg1"/>
                </a:solidFill>
              </a:rPr>
              <a:t>" /</a:t>
            </a:r>
            <a:r>
              <a:rPr lang="es-CO" sz="1100" dirty="0" err="1">
                <a:solidFill>
                  <a:schemeClr val="bg1"/>
                </a:solidFill>
              </a:rPr>
              <a:t>inheritance:r</a:t>
            </a:r>
            <a:endParaRPr lang="es-CO" sz="1100" dirty="0">
              <a:solidFill>
                <a:schemeClr val="bg1"/>
              </a:solidFill>
            </a:endParaRPr>
          </a:p>
          <a:p>
            <a:endParaRPr lang="es-CO" sz="1100" dirty="0">
              <a:solidFill>
                <a:schemeClr val="bg1"/>
              </a:solidFill>
            </a:endParaRPr>
          </a:p>
          <a:p>
            <a:r>
              <a:rPr lang="es-CO" sz="1100" dirty="0">
                <a:solidFill>
                  <a:schemeClr val="bg1"/>
                </a:solidFill>
              </a:rPr>
              <a:t># 2. Asignar permiso de lectura exclusivo a tu usuario actual</a:t>
            </a:r>
          </a:p>
          <a:p>
            <a:r>
              <a:rPr lang="es-CO" sz="1100" dirty="0" err="1">
                <a:solidFill>
                  <a:schemeClr val="bg1"/>
                </a:solidFill>
              </a:rPr>
              <a:t>icacls</a:t>
            </a:r>
            <a:r>
              <a:rPr lang="es-CO" sz="1100" dirty="0">
                <a:solidFill>
                  <a:schemeClr val="bg1"/>
                </a:solidFill>
              </a:rPr>
              <a:t> "$</a:t>
            </a:r>
            <a:r>
              <a:rPr lang="es-CO" sz="1100" dirty="0" err="1">
                <a:solidFill>
                  <a:schemeClr val="bg1"/>
                </a:solidFill>
              </a:rPr>
              <a:t>env:TEMP</a:t>
            </a:r>
            <a:r>
              <a:rPr lang="es-CO" sz="1100" dirty="0">
                <a:solidFill>
                  <a:schemeClr val="bg1"/>
                </a:solidFill>
              </a:rPr>
              <a:t>\</a:t>
            </a:r>
            <a:r>
              <a:rPr lang="es-CO" sz="1100" dirty="0" err="1">
                <a:solidFill>
                  <a:schemeClr val="bg1"/>
                </a:solidFill>
              </a:rPr>
              <a:t>prueba.pem</a:t>
            </a:r>
            <a:r>
              <a:rPr lang="es-CO" sz="1100" dirty="0">
                <a:solidFill>
                  <a:schemeClr val="bg1"/>
                </a:solidFill>
              </a:rPr>
              <a:t>" /</a:t>
            </a:r>
            <a:r>
              <a:rPr lang="es-CO" sz="1100" dirty="0" err="1">
                <a:solidFill>
                  <a:schemeClr val="bg1"/>
                </a:solidFill>
              </a:rPr>
              <a:t>grant:r</a:t>
            </a:r>
            <a:r>
              <a:rPr lang="es-CO" sz="1100" dirty="0">
                <a:solidFill>
                  <a:schemeClr val="bg1"/>
                </a:solidFill>
              </a:rPr>
              <a:t> "$($</a:t>
            </a:r>
            <a:r>
              <a:rPr lang="es-CO" sz="1100" dirty="0" err="1">
                <a:solidFill>
                  <a:schemeClr val="bg1"/>
                </a:solidFill>
              </a:rPr>
              <a:t>env:USERNAME</a:t>
            </a:r>
            <a:r>
              <a:rPr lang="es-CO" sz="1100" dirty="0">
                <a:solidFill>
                  <a:schemeClr val="bg1"/>
                </a:solidFill>
              </a:rPr>
              <a:t>):(R)"</a:t>
            </a:r>
          </a:p>
          <a:p>
            <a:endParaRPr lang="es-CO" sz="1100" dirty="0">
              <a:solidFill>
                <a:schemeClr val="bg1"/>
              </a:solidFill>
            </a:endParaRPr>
          </a:p>
          <a:p>
            <a:r>
              <a:rPr lang="es-CO" sz="1100" dirty="0">
                <a:solidFill>
                  <a:schemeClr val="bg1"/>
                </a:solidFill>
              </a:rPr>
              <a:t># 3. Eliminar accesos de otros usuarios genéricos (como '</a:t>
            </a:r>
            <a:r>
              <a:rPr lang="es-CO" sz="1100" dirty="0" err="1">
                <a:solidFill>
                  <a:schemeClr val="bg1"/>
                </a:solidFill>
              </a:rPr>
              <a:t>Everyone</a:t>
            </a:r>
            <a:r>
              <a:rPr lang="es-CO" sz="1100" dirty="0">
                <a:solidFill>
                  <a:schemeClr val="bg1"/>
                </a:solidFill>
              </a:rPr>
              <a:t>' o 'Todos')</a:t>
            </a:r>
          </a:p>
          <a:p>
            <a:r>
              <a:rPr lang="es-CO" sz="1100" dirty="0" err="1">
                <a:solidFill>
                  <a:schemeClr val="bg1"/>
                </a:solidFill>
              </a:rPr>
              <a:t>icacls</a:t>
            </a:r>
            <a:r>
              <a:rPr lang="es-CO" sz="1100" dirty="0">
                <a:solidFill>
                  <a:schemeClr val="bg1"/>
                </a:solidFill>
              </a:rPr>
              <a:t> "$</a:t>
            </a:r>
            <a:r>
              <a:rPr lang="es-CO" sz="1100" dirty="0" err="1">
                <a:solidFill>
                  <a:schemeClr val="bg1"/>
                </a:solidFill>
              </a:rPr>
              <a:t>env:TEMP</a:t>
            </a:r>
            <a:r>
              <a:rPr lang="es-CO" sz="1100" dirty="0">
                <a:solidFill>
                  <a:schemeClr val="bg1"/>
                </a:solidFill>
              </a:rPr>
              <a:t>\</a:t>
            </a:r>
            <a:r>
              <a:rPr lang="es-CO" sz="1100" dirty="0" err="1">
                <a:solidFill>
                  <a:schemeClr val="bg1"/>
                </a:solidFill>
              </a:rPr>
              <a:t>prueba.pem</a:t>
            </a:r>
            <a:r>
              <a:rPr lang="es-CO" sz="1100" dirty="0">
                <a:solidFill>
                  <a:schemeClr val="bg1"/>
                </a:solidFill>
              </a:rPr>
              <a:t>" /</a:t>
            </a:r>
            <a:r>
              <a:rPr lang="es-CO" sz="1100" dirty="0" err="1">
                <a:solidFill>
                  <a:schemeClr val="bg1"/>
                </a:solidFill>
              </a:rPr>
              <a:t>remove</a:t>
            </a:r>
            <a:r>
              <a:rPr lang="es-CO" sz="1100" dirty="0">
                <a:solidFill>
                  <a:schemeClr val="bg1"/>
                </a:solidFill>
              </a:rPr>
              <a:t> "</a:t>
            </a:r>
            <a:r>
              <a:rPr lang="es-CO" sz="1100" dirty="0" err="1">
                <a:solidFill>
                  <a:schemeClr val="bg1"/>
                </a:solidFill>
              </a:rPr>
              <a:t>Everyone</a:t>
            </a:r>
            <a:r>
              <a:rPr lang="es-CO" sz="1100" dirty="0">
                <a:solidFill>
                  <a:schemeClr val="bg1"/>
                </a:solidFill>
              </a:rPr>
              <a:t>" "Todos"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08FBB437-E101-6277-7F9D-526D3D7CB5FE}"/>
              </a:ext>
            </a:extLst>
          </p:cNvPr>
          <p:cNvSpPr txBox="1"/>
          <p:nvPr/>
        </p:nvSpPr>
        <p:spPr>
          <a:xfrm>
            <a:off x="8520373" y="4030410"/>
            <a:ext cx="22314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200" dirty="0" err="1">
                <a:solidFill>
                  <a:schemeClr val="bg1"/>
                </a:solidFill>
              </a:rPr>
              <a:t>ssh</a:t>
            </a:r>
            <a:r>
              <a:rPr lang="es-CO" sz="1200" dirty="0">
                <a:solidFill>
                  <a:schemeClr val="bg1"/>
                </a:solidFill>
              </a:rPr>
              <a:t> -i "$</a:t>
            </a:r>
            <a:r>
              <a:rPr lang="es-CO" sz="1200" dirty="0" err="1">
                <a:solidFill>
                  <a:schemeClr val="bg1"/>
                </a:solidFill>
              </a:rPr>
              <a:t>env:TEMP</a:t>
            </a:r>
            <a:r>
              <a:rPr lang="es-CO" sz="1200" dirty="0">
                <a:solidFill>
                  <a:schemeClr val="bg1"/>
                </a:solidFill>
              </a:rPr>
              <a:t>\</a:t>
            </a:r>
            <a:r>
              <a:rPr lang="es-CO" sz="1200" dirty="0" err="1">
                <a:solidFill>
                  <a:schemeClr val="bg1"/>
                </a:solidFill>
              </a:rPr>
              <a:t>prueba.pem</a:t>
            </a:r>
            <a:r>
              <a:rPr lang="es-CO" sz="1200" dirty="0">
                <a:solidFill>
                  <a:schemeClr val="bg1"/>
                </a:solidFill>
              </a:rPr>
              <a:t>" ec2-user@&lt;IP_O_DNS_DE_TU_MASTER_NODE&gt;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4224" y="4238624"/>
            <a:ext cx="5674921" cy="87658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75724" y="2466142"/>
            <a:ext cx="7440551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1" i="0" u="none" strike="noStrike" cap="none">
                <a:solidFill>
                  <a:srgbClr val="9200EE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L="914400" marR="0" lvl="1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t>¡Llave SSH </a:t>
            </a:r>
            <a:r>
              <a:rPr err="1"/>
              <a:t>Asegurada</a:t>
            </a:r>
            <a: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7875" y="3219450"/>
            <a:ext cx="8096250" cy="281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latin typeface="Plus Jakarta Sans"/>
              </a:rPr>
              <a:t>Este </a:t>
            </a:r>
            <a:r>
              <a:rPr sz="1500" b="0" i="0" u="none" err="1">
                <a:latin typeface="Plus Jakarta Sans"/>
              </a:rPr>
              <a:t>procedimiento</a:t>
            </a:r>
            <a:r>
              <a:rPr sz="1500" b="0" i="0" u="none">
                <a:latin typeface="Plus Jakarta Sans"/>
              </a:rPr>
              <a:t> es el </a:t>
            </a:r>
            <a:r>
              <a:rPr sz="1500" b="0" i="0" u="none" err="1">
                <a:latin typeface="Plus Jakarta Sans"/>
              </a:rPr>
              <a:t>equivalente</a:t>
            </a:r>
            <a:r>
              <a:rPr sz="1500" b="0" i="0" u="none">
                <a:latin typeface="Plus Jakarta Sans"/>
              </a:rPr>
              <a:t> </a:t>
            </a:r>
            <a:r>
              <a:rPr sz="1500" b="0" i="0" u="none" err="1">
                <a:latin typeface="Plus Jakarta Sans"/>
              </a:rPr>
              <a:t>en</a:t>
            </a:r>
            <a:r>
              <a:rPr sz="1500" b="0" i="0" u="none">
                <a:latin typeface="Plus Jakarta Sans"/>
              </a:rPr>
              <a:t> Windows al </a:t>
            </a:r>
            <a:r>
              <a:rPr sz="1500" b="0" i="0" u="none" err="1">
                <a:latin typeface="Plus Jakarta Sans"/>
              </a:rPr>
              <a:t>comando</a:t>
            </a:r>
            <a:r>
              <a:rPr sz="1500" b="0" i="0" u="none">
                <a:latin typeface="Plus Jakarta Sans"/>
              </a:rPr>
              <a:t> </a:t>
            </a:r>
            <a:r>
              <a:rPr sz="1500" b="0" i="0" u="none" err="1">
                <a:latin typeface="Plus Jakarta Sans"/>
              </a:rPr>
              <a:t>chmod</a:t>
            </a:r>
            <a:r>
              <a:rPr sz="1500" b="0" i="0" u="none">
                <a:latin typeface="Plus Jakarta Sans"/>
              </a:rPr>
              <a:t> 400 </a:t>
            </a:r>
            <a:r>
              <a:rPr sz="1500" b="0" i="0" u="none" err="1">
                <a:latin typeface="Plus Jakarta Sans"/>
              </a:rPr>
              <a:t>prueba.pem</a:t>
            </a:r>
            <a:r>
              <a:rPr sz="1500" b="0" i="0" u="none">
                <a:latin typeface="Plus Jakarta Sans"/>
              </a:rPr>
              <a:t> de Linux/macOS.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5200" y="4391025"/>
            <a:ext cx="49530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Fira Code"/>
              </a:rPr>
              <a:t># Comando listo para conectar a tu servidor EC2 / servidor remoto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05200" y="4591050"/>
            <a:ext cx="2286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38BDF8"/>
                </a:solidFill>
                <a:latin typeface="Fira Code"/>
              </a:rPr>
              <a:t>ssh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0" y="4591050"/>
            <a:ext cx="1524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34D399"/>
                </a:solidFill>
                <a:latin typeface="Fira Code"/>
              </a:rPr>
              <a:t>-i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38600" y="4591050"/>
            <a:ext cx="9144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FBCFE8"/>
                </a:solidFill>
                <a:latin typeface="Fira Code"/>
              </a:rPr>
              <a:t>"prueba.pem"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4591050"/>
            <a:ext cx="36576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 dirty="0">
                <a:solidFill>
                  <a:srgbClr val="FBCFE8"/>
                </a:solidFill>
                <a:latin typeface="Fira Code"/>
              </a:rPr>
              <a:t>ubuntu@ec2-100-31-117-99.compute-1.amazonaws.com</a:t>
            </a:r>
          </a:p>
        </p:txBody>
      </p:sp>
      <p:pic>
        <p:nvPicPr>
          <p:cNvPr id="3" name="Picture 3" descr="image.png">
            <a:extLst>
              <a:ext uri="{FF2B5EF4-FFF2-40B4-BE49-F238E27FC236}">
                <a16:creationId xmlns:a16="http://schemas.microsoft.com/office/drawing/2014/main" id="{DC37AB02-40EF-C017-85CC-C5A3D68E23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4224" y="5557351"/>
            <a:ext cx="5674921" cy="1076714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0AFE1DDF-B997-CDC6-E557-3275886F18B9}"/>
              </a:ext>
            </a:extLst>
          </p:cNvPr>
          <p:cNvSpPr txBox="1"/>
          <p:nvPr/>
        </p:nvSpPr>
        <p:spPr>
          <a:xfrm>
            <a:off x="3789006" y="5557351"/>
            <a:ext cx="4385388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050" dirty="0">
                <a:solidFill>
                  <a:schemeClr val="bg1"/>
                </a:solidFill>
              </a:rPr>
              <a:t># Instalar </a:t>
            </a:r>
            <a:r>
              <a:rPr lang="es-CO" sz="1050" dirty="0" err="1">
                <a:solidFill>
                  <a:schemeClr val="bg1"/>
                </a:solidFill>
              </a:rPr>
              <a:t>jupyter</a:t>
            </a:r>
            <a:r>
              <a:rPr lang="es-CO" sz="1050" dirty="0">
                <a:solidFill>
                  <a:schemeClr val="bg1"/>
                </a:solidFill>
              </a:rPr>
              <a:t> de forma rápida</a:t>
            </a:r>
          </a:p>
          <a:p>
            <a:r>
              <a:rPr lang="es-CO" sz="1050" dirty="0">
                <a:solidFill>
                  <a:schemeClr val="bg1"/>
                </a:solidFill>
              </a:rPr>
              <a:t>pip3 </a:t>
            </a:r>
            <a:r>
              <a:rPr lang="es-CO" sz="1050" dirty="0" err="1">
                <a:solidFill>
                  <a:schemeClr val="bg1"/>
                </a:solidFill>
              </a:rPr>
              <a:t>install</a:t>
            </a:r>
            <a:r>
              <a:rPr lang="es-CO" sz="1050" dirty="0">
                <a:solidFill>
                  <a:schemeClr val="bg1"/>
                </a:solidFill>
              </a:rPr>
              <a:t> </a:t>
            </a:r>
            <a:r>
              <a:rPr lang="es-CO" sz="1050" dirty="0" err="1">
                <a:solidFill>
                  <a:schemeClr val="bg1"/>
                </a:solidFill>
              </a:rPr>
              <a:t>jupyter</a:t>
            </a:r>
            <a:r>
              <a:rPr lang="es-CO" sz="1050" dirty="0">
                <a:solidFill>
                  <a:schemeClr val="bg1"/>
                </a:solidFill>
              </a:rPr>
              <a:t> </a:t>
            </a:r>
            <a:r>
              <a:rPr lang="es-CO" sz="1050" dirty="0" err="1">
                <a:solidFill>
                  <a:schemeClr val="bg1"/>
                </a:solidFill>
              </a:rPr>
              <a:t>jupyterlab</a:t>
            </a:r>
            <a:endParaRPr lang="es-CO" sz="1050" dirty="0">
              <a:solidFill>
                <a:schemeClr val="bg1"/>
              </a:solidFill>
            </a:endParaRPr>
          </a:p>
          <a:p>
            <a:endParaRPr lang="es-CO" sz="1050" dirty="0">
              <a:solidFill>
                <a:schemeClr val="bg1"/>
              </a:solidFill>
            </a:endParaRPr>
          </a:p>
          <a:p>
            <a:r>
              <a:rPr lang="es-CO" sz="1050" dirty="0">
                <a:solidFill>
                  <a:schemeClr val="bg1"/>
                </a:solidFill>
              </a:rPr>
              <a:t># Iniciar </a:t>
            </a:r>
            <a:r>
              <a:rPr lang="es-CO" sz="1050" dirty="0" err="1">
                <a:solidFill>
                  <a:schemeClr val="bg1"/>
                </a:solidFill>
              </a:rPr>
              <a:t>Jupyter</a:t>
            </a:r>
            <a:r>
              <a:rPr lang="es-CO" sz="1050" dirty="0">
                <a:solidFill>
                  <a:schemeClr val="bg1"/>
                </a:solidFill>
              </a:rPr>
              <a:t> escuchando en el puerto 8888 sin abrir navegador local</a:t>
            </a:r>
          </a:p>
          <a:p>
            <a:r>
              <a:rPr lang="es-CO" sz="1050" dirty="0" err="1">
                <a:solidFill>
                  <a:schemeClr val="bg1"/>
                </a:solidFill>
              </a:rPr>
              <a:t>jupyter</a:t>
            </a:r>
            <a:r>
              <a:rPr lang="es-CO" sz="1050" dirty="0">
                <a:solidFill>
                  <a:schemeClr val="bg1"/>
                </a:solidFill>
              </a:rPr>
              <a:t> </a:t>
            </a:r>
            <a:r>
              <a:rPr lang="es-CO" sz="1050" dirty="0" err="1">
                <a:solidFill>
                  <a:schemeClr val="bg1"/>
                </a:solidFill>
              </a:rPr>
              <a:t>lab</a:t>
            </a:r>
            <a:r>
              <a:rPr lang="es-CO" sz="1050" dirty="0">
                <a:solidFill>
                  <a:schemeClr val="bg1"/>
                </a:solidFill>
              </a:rPr>
              <a:t> --</a:t>
            </a:r>
            <a:r>
              <a:rPr lang="es-CO" sz="1050" dirty="0" err="1">
                <a:solidFill>
                  <a:schemeClr val="bg1"/>
                </a:solidFill>
              </a:rPr>
              <a:t>ip</a:t>
            </a:r>
            <a:r>
              <a:rPr lang="es-CO" sz="1050" dirty="0">
                <a:solidFill>
                  <a:schemeClr val="bg1"/>
                </a:solidFill>
              </a:rPr>
              <a:t>=0.0.0.0 --</a:t>
            </a:r>
            <a:r>
              <a:rPr lang="es-CO" sz="1050" dirty="0" err="1">
                <a:solidFill>
                  <a:schemeClr val="bg1"/>
                </a:solidFill>
              </a:rPr>
              <a:t>port</a:t>
            </a:r>
            <a:r>
              <a:rPr lang="es-CO" sz="1050" dirty="0">
                <a:solidFill>
                  <a:schemeClr val="bg1"/>
                </a:solidFill>
              </a:rPr>
              <a:t>=8888 --no-browser --</a:t>
            </a:r>
            <a:r>
              <a:rPr lang="es-CO" sz="1050" dirty="0" err="1">
                <a:solidFill>
                  <a:schemeClr val="bg1"/>
                </a:solidFill>
              </a:rPr>
              <a:t>AllowRoot</a:t>
            </a:r>
            <a:endParaRPr lang="es-CO" sz="10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5448"/>
            <a:ext cx="950976" cy="292608"/>
          </a:xfrm>
          <a:prstGeom prst="roundRect">
            <a:avLst>
              <a:gd name="adj" fmla="val 50000"/>
            </a:avLst>
          </a:prstGeom>
          <a:solidFill>
            <a:srgbClr val="FFA502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155448"/>
            <a:ext cx="950976" cy="292608"/>
          </a:xfrm>
          <a:prstGeom prst="rect">
            <a:avLst/>
          </a:prstGeom>
          <a:solidFill>
            <a:srgbClr val="FFA50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5</a:t>
            </a:r>
            <a:endParaRPr lang="en-US" sz="1100"/>
          </a:p>
        </p:txBody>
      </p:sp>
      <p:sp>
        <p:nvSpPr>
          <p:cNvPr id="4" name="Text 2"/>
          <p:cNvSpPr/>
          <p:nvPr/>
        </p:nvSpPr>
        <p:spPr>
          <a:xfrm>
            <a:off x="934922" y="313301"/>
            <a:ext cx="1078992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indent="-228600">
              <a:buClr>
                <a:srgbClr val="000000"/>
              </a:buClr>
              <a:buSzPts val="4400"/>
            </a:pPr>
            <a:r>
              <a:rPr lang="en-US" sz="3600" b="1">
                <a:solidFill>
                  <a:srgbClr val="9200EE"/>
                </a:solidFill>
                <a:latin typeface="Montserrat Black"/>
                <a:sym typeface="Montserrat Black"/>
              </a:rPr>
              <a:t>Túnel SSH: exponer </a:t>
            </a:r>
            <a:r>
              <a:rPr lang="en-US" sz="3600" b="1" err="1">
                <a:solidFill>
                  <a:srgbClr val="9200EE"/>
                </a:solidFill>
                <a:latin typeface="Montserrat Black"/>
                <a:sym typeface="Montserrat Black"/>
              </a:rPr>
              <a:t>los</a:t>
            </a:r>
            <a:r>
              <a:rPr lang="en-US" sz="3600" b="1">
                <a:solidFill>
                  <a:srgbClr val="9200EE"/>
                </a:solidFill>
                <a:latin typeface="Montserrat Black"/>
                <a:sym typeface="Montserrat Black"/>
              </a:rPr>
              <a:t> </a:t>
            </a:r>
          </a:p>
          <a:p>
            <a:pPr marL="457200" indent="-228600">
              <a:buClr>
                <a:srgbClr val="000000"/>
              </a:buClr>
              <a:buSzPts val="4400"/>
            </a:pPr>
            <a:r>
              <a:rPr lang="en-US" sz="3600" b="1" err="1">
                <a:solidFill>
                  <a:srgbClr val="9200EE"/>
                </a:solidFill>
                <a:latin typeface="Montserrat Black"/>
                <a:sym typeface="Montserrat Black"/>
              </a:rPr>
              <a:t>servicios</a:t>
            </a:r>
            <a:r>
              <a:rPr lang="en-US" sz="3600" b="1">
                <a:solidFill>
                  <a:srgbClr val="9200EE"/>
                </a:solidFill>
                <a:latin typeface="Montserrat Black"/>
                <a:sym typeface="Montserrat Black"/>
              </a:rPr>
              <a:t> web en </a:t>
            </a:r>
            <a:r>
              <a:rPr lang="en-US" sz="3600" b="1" err="1">
                <a:solidFill>
                  <a:srgbClr val="9200EE"/>
                </a:solidFill>
                <a:latin typeface="Montserrat Black"/>
                <a:sym typeface="Montserrat Black"/>
              </a:rPr>
              <a:t>tu</a:t>
            </a:r>
            <a:r>
              <a:rPr lang="en-US" sz="3600" b="1">
                <a:solidFill>
                  <a:srgbClr val="9200EE"/>
                </a:solidFill>
                <a:latin typeface="Montserrat Black"/>
                <a:sym typeface="Montserrat Black"/>
              </a:rPr>
              <a:t> PC</a:t>
            </a:r>
          </a:p>
        </p:txBody>
      </p:sp>
      <p:sp>
        <p:nvSpPr>
          <p:cNvPr id="5" name="Text 3"/>
          <p:cNvSpPr/>
          <p:nvPr/>
        </p:nvSpPr>
        <p:spPr>
          <a:xfrm>
            <a:off x="487680" y="1415034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 este comando desde la terminal de tu computador local (no dentro del master)</a:t>
            </a:r>
            <a:endParaRPr lang="en-US" sz="1300"/>
          </a:p>
        </p:txBody>
      </p:sp>
      <p:sp>
        <p:nvSpPr>
          <p:cNvPr id="6" name="Shape 4"/>
          <p:cNvSpPr/>
          <p:nvPr/>
        </p:nvSpPr>
        <p:spPr>
          <a:xfrm>
            <a:off x="274320" y="2209151"/>
            <a:ext cx="6175118" cy="2331720"/>
          </a:xfrm>
          <a:prstGeom prst="roundRect">
            <a:avLst>
              <a:gd name="adj" fmla="val 3137"/>
            </a:avLst>
          </a:prstGeom>
          <a:solidFill>
            <a:srgbClr val="10151C"/>
          </a:solidFill>
          <a:ln w="12700">
            <a:solidFill>
              <a:srgbClr val="000000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O" dirty="0"/>
          </a:p>
        </p:txBody>
      </p:sp>
      <p:sp>
        <p:nvSpPr>
          <p:cNvPr id="7" name="Text 5"/>
          <p:cNvSpPr/>
          <p:nvPr/>
        </p:nvSpPr>
        <p:spPr>
          <a:xfrm>
            <a:off x="502920" y="2391253"/>
            <a:ext cx="5593080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r>
              <a:rPr lang="pt-BR" sz="1200" dirty="0" err="1">
                <a:solidFill>
                  <a:srgbClr val="4ADE80"/>
                </a:solidFill>
                <a:latin typeface="Consolas" pitchFamily="34" charset="0"/>
              </a:rPr>
              <a:t>ssh</a:t>
            </a:r>
            <a:r>
              <a:rPr lang="pt-BR" sz="1200" dirty="0">
                <a:solidFill>
                  <a:srgbClr val="4ADE80"/>
                </a:solidFill>
                <a:latin typeface="Consolas" pitchFamily="34" charset="0"/>
              </a:rPr>
              <a:t> -i "$</a:t>
            </a:r>
            <a:r>
              <a:rPr lang="pt-BR" sz="1200" dirty="0" err="1">
                <a:solidFill>
                  <a:srgbClr val="4ADE80"/>
                </a:solidFill>
                <a:latin typeface="Consolas" pitchFamily="34" charset="0"/>
              </a:rPr>
              <a:t>env:TEMP</a:t>
            </a:r>
            <a:r>
              <a:rPr lang="pt-BR" sz="1200" dirty="0">
                <a:solidFill>
                  <a:srgbClr val="4ADE80"/>
                </a:solidFill>
                <a:latin typeface="Consolas" pitchFamily="34" charset="0"/>
              </a:rPr>
              <a:t>\</a:t>
            </a:r>
            <a:r>
              <a:rPr lang="pt-BR" sz="1200" dirty="0" err="1">
                <a:solidFill>
                  <a:srgbClr val="4ADE80"/>
                </a:solidFill>
                <a:latin typeface="Consolas" pitchFamily="34" charset="0"/>
              </a:rPr>
              <a:t>lleve.pem</a:t>
            </a:r>
            <a:r>
              <a:rPr lang="pt-BR" sz="1200" dirty="0">
                <a:solidFill>
                  <a:srgbClr val="4ADE80"/>
                </a:solidFill>
                <a:latin typeface="Consolas" pitchFamily="34" charset="0"/>
              </a:rPr>
              <a:t>" -L 8088:172.31.16.4:8088 -L 9870:172.31.16.4:9870 -L 8998:172.31.16.4:8998 -L 18080:172.31.16.4:18080 </a:t>
            </a:r>
            <a:r>
              <a:rPr lang="es-CO" sz="1200" dirty="0">
                <a:solidFill>
                  <a:srgbClr val="4ADE80"/>
                </a:solidFill>
                <a:latin typeface="Consolas" pitchFamily="34" charset="0"/>
              </a:rPr>
              <a:t>-L 8888:localhost:8888 </a:t>
            </a:r>
            <a:r>
              <a:rPr lang="pt-BR" sz="1200" dirty="0">
                <a:solidFill>
                  <a:srgbClr val="4ADE80"/>
                </a:solidFill>
                <a:latin typeface="Consolas" pitchFamily="34" charset="0"/>
              </a:rPr>
              <a:t>ec2-user@</a:t>
            </a:r>
            <a:r>
              <a:rPr lang="es-CO" sz="1200" dirty="0">
                <a:solidFill>
                  <a:srgbClr val="4ADE80"/>
                </a:solidFill>
                <a:latin typeface="Consolas" pitchFamily="34" charset="0"/>
              </a:rPr>
              <a:t>ec2-54-221-131-91.compute-1.amazonaws.com</a:t>
            </a:r>
            <a:endParaRPr lang="en-US" sz="1200" dirty="0">
              <a:solidFill>
                <a:srgbClr val="4ADE80"/>
              </a:solidFill>
              <a:latin typeface="Consolas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710139" y="2209151"/>
            <a:ext cx="42062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01600" dist="25400" dir="5400000" algn="bl" rotWithShape="0">
              <a:srgbClr val="1B2A41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6938739" y="2346311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-L puerto_local:IP_destino:puerto_destino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6938739" y="2712071"/>
            <a:ext cx="37947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b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b="1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privada del master</a:t>
            </a:r>
            <a:r>
              <a:rPr lang="en-US" sz="105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172.31.13.216 (cámbiala por la tuya)
</a:t>
            </a:r>
            <a:r>
              <a:rPr lang="en-US" sz="1050" b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b="1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127.0.0.1</a:t>
            </a:r>
            <a:r>
              <a:rPr lang="en-US" sz="105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JupyterHub y Livy escuchan en el propio master
</a:t>
            </a:r>
            <a:r>
              <a:rPr lang="en-US" sz="1050" b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b="1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emrkeys.pem</a:t>
            </a:r>
            <a:r>
              <a:rPr lang="en-US" sz="105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tu llave .pem descargada de AWS Academy
</a:t>
            </a:r>
            <a:r>
              <a:rPr lang="en-US" sz="1050" b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b="1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ec2-user@...</a:t>
            </a:r>
            <a:r>
              <a:rPr lang="en-US" sz="105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DNS público del master (Instance summary)</a:t>
            </a:r>
            <a:endParaRPr lang="en-US" sz="1050"/>
          </a:p>
        </p:txBody>
      </p:sp>
      <p:sp>
        <p:nvSpPr>
          <p:cNvPr id="11" name="Shape 9"/>
          <p:cNvSpPr/>
          <p:nvPr/>
        </p:nvSpPr>
        <p:spPr>
          <a:xfrm>
            <a:off x="274320" y="4741261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1B2A4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594360" y="4741261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</a:t>
            </a:r>
            <a:r>
              <a:rPr lang="en-US" sz="12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Mantén esta terminal abierta mientras uses las interfaces web. Si la cierras, el túnel se corta y las páginas dejan de cargar.</a:t>
            </a:r>
            <a:endParaRPr lang="en-US" sz="1300"/>
          </a:p>
        </p:txBody>
      </p:sp>
      <p:sp>
        <p:nvSpPr>
          <p:cNvPr id="13" name="Text 11"/>
          <p:cNvSpPr/>
          <p:nvPr/>
        </p:nvSpPr>
        <p:spPr>
          <a:xfrm>
            <a:off x="274320" y="5701381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</a:t>
            </a:r>
            <a:r>
              <a:rPr lang="en-US" sz="1250" i="1" dirty="0" err="1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</a:t>
            </a: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</a:t>
            </a:r>
            <a:r>
              <a:rPr lang="en-US" sz="1250" i="1" dirty="0" err="1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</a:t>
            </a: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i="1" dirty="0" err="1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</a:t>
            </a: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localhost, </a:t>
            </a:r>
            <a:r>
              <a:rPr lang="en-US" sz="1250" i="1" dirty="0" err="1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</a:t>
            </a: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IP interna: el </a:t>
            </a:r>
            <a:r>
              <a:rPr lang="en-US" sz="1250" i="1" dirty="0" err="1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túnel</a:t>
            </a: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i="1" dirty="0" err="1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redirige</a:t>
            </a: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 </a:t>
            </a:r>
            <a:r>
              <a:rPr lang="en-US" sz="1250" i="1" dirty="0" err="1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tráfico</a:t>
            </a: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250" i="1" dirty="0" err="1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</a:t>
            </a: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i="1" dirty="0" err="1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</a:t>
            </a: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local </a:t>
            </a:r>
            <a:r>
              <a:rPr lang="en-US" sz="1250" i="1" dirty="0" err="1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hacia</a:t>
            </a: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 </a:t>
            </a:r>
            <a:r>
              <a:rPr lang="en-US" sz="1250" i="1" dirty="0" err="1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</a:t>
            </a: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AWS.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EMR en AWS Academy · Complemento</a:t>
            </a:r>
            <a:endParaRPr lang="en-US" sz="900"/>
          </a:p>
        </p:txBody>
      </p:sp>
      <p:sp>
        <p:nvSpPr>
          <p:cNvPr id="15" name="Text 13"/>
          <p:cNvSpPr/>
          <p:nvPr/>
        </p:nvSpPr>
        <p:spPr>
          <a:xfrm>
            <a:off x="11247120" y="65105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97864" cy="292608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197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100"/>
          </a:p>
        </p:txBody>
      </p:sp>
      <p:sp>
        <p:nvSpPr>
          <p:cNvPr id="4" name="Text 2"/>
          <p:cNvSpPr/>
          <p:nvPr/>
        </p:nvSpPr>
        <p:spPr>
          <a:xfrm>
            <a:off x="155643" y="656643"/>
            <a:ext cx="10515600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indent="-228600">
              <a:buClr>
                <a:srgbClr val="000000"/>
              </a:buClr>
              <a:buSzPts val="4400"/>
            </a:pPr>
            <a:r>
              <a:rPr lang="en-US" sz="4000" b="1">
                <a:solidFill>
                  <a:srgbClr val="9200EE"/>
                </a:solidFill>
                <a:latin typeface="Montserrat Black"/>
                <a:sym typeface="Montserrat Black"/>
              </a:rPr>
              <a:t>Cómo abrir </a:t>
            </a:r>
            <a:r>
              <a:rPr lang="en-US" sz="4000" b="1" err="1">
                <a:solidFill>
                  <a:srgbClr val="9200EE"/>
                </a:solidFill>
                <a:latin typeface="Montserrat Black"/>
                <a:sym typeface="Montserrat Black"/>
              </a:rPr>
              <a:t>cada</a:t>
            </a:r>
            <a:r>
              <a:rPr lang="en-US" sz="4000" b="1">
                <a:solidFill>
                  <a:srgbClr val="9200EE"/>
                </a:solidFill>
                <a:latin typeface="Montserrat Black"/>
                <a:sym typeface="Montserrat Black"/>
              </a:rPr>
              <a:t> </a:t>
            </a:r>
          </a:p>
          <a:p>
            <a:pPr marL="457200" indent="-228600">
              <a:buClr>
                <a:srgbClr val="000000"/>
              </a:buClr>
              <a:buSzPts val="4400"/>
            </a:pPr>
            <a:r>
              <a:rPr lang="en-US" sz="4000" b="1" err="1">
                <a:solidFill>
                  <a:srgbClr val="9200EE"/>
                </a:solidFill>
                <a:latin typeface="Montserrat Black"/>
                <a:sym typeface="Montserrat Black"/>
              </a:rPr>
              <a:t>servicio</a:t>
            </a:r>
            <a:r>
              <a:rPr lang="en-US" sz="4000" b="1">
                <a:solidFill>
                  <a:srgbClr val="9200EE"/>
                </a:solidFill>
                <a:latin typeface="Montserrat Black"/>
                <a:sym typeface="Montserrat Black"/>
              </a:rPr>
              <a:t> en </a:t>
            </a:r>
            <a:r>
              <a:rPr lang="en-US" sz="4000" b="1" err="1">
                <a:solidFill>
                  <a:srgbClr val="9200EE"/>
                </a:solidFill>
                <a:latin typeface="Montserrat Black"/>
                <a:sym typeface="Montserrat Black"/>
              </a:rPr>
              <a:t>tu</a:t>
            </a:r>
            <a:r>
              <a:rPr lang="en-US" sz="4000" b="1">
                <a:solidFill>
                  <a:srgbClr val="9200EE"/>
                </a:solidFill>
                <a:latin typeface="Montserrat Black"/>
                <a:sym typeface="Montserrat Black"/>
              </a:rPr>
              <a:t> </a:t>
            </a:r>
            <a:r>
              <a:rPr lang="en-US" sz="4000" b="1" err="1">
                <a:solidFill>
                  <a:srgbClr val="9200EE"/>
                </a:solidFill>
                <a:latin typeface="Montserrat Black"/>
                <a:sym typeface="Montserrat Black"/>
              </a:rPr>
              <a:t>navegador</a:t>
            </a:r>
            <a:endParaRPr lang="en-US" sz="4000" b="1">
              <a:solidFill>
                <a:srgbClr val="9200EE"/>
              </a:solidFill>
              <a:latin typeface="Montserrat Black"/>
              <a:sym typeface="Montserrat Black"/>
            </a:endParaRPr>
          </a:p>
        </p:txBody>
      </p:sp>
      <p:sp>
        <p:nvSpPr>
          <p:cNvPr id="5" name="Text 3"/>
          <p:cNvSpPr/>
          <p:nvPr/>
        </p:nvSpPr>
        <p:spPr>
          <a:xfrm>
            <a:off x="320040" y="1773741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vez el túnel esté activo, ingresa estas direcciones en tu navegador local</a:t>
            </a:r>
            <a:endParaRPr lang="en-US" sz="1300"/>
          </a:p>
        </p:txBody>
      </p:sp>
      <p:sp>
        <p:nvSpPr>
          <p:cNvPr id="6" name="Shape 4"/>
          <p:cNvSpPr/>
          <p:nvPr/>
        </p:nvSpPr>
        <p:spPr>
          <a:xfrm>
            <a:off x="320040" y="2148645"/>
            <a:ext cx="10351203" cy="621792"/>
          </a:xfrm>
          <a:prstGeom prst="roundRect">
            <a:avLst>
              <a:gd name="adj" fmla="val 7353"/>
            </a:avLst>
          </a:prstGeom>
          <a:solidFill>
            <a:srgbClr val="1B2A4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548640" y="2148645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</a:t>
            </a:r>
            <a:endParaRPr lang="en-US" sz="1300"/>
          </a:p>
        </p:txBody>
      </p:sp>
      <p:sp>
        <p:nvSpPr>
          <p:cNvPr id="8" name="Text 6"/>
          <p:cNvSpPr/>
          <p:nvPr/>
        </p:nvSpPr>
        <p:spPr>
          <a:xfrm>
            <a:off x="4572000" y="2148645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en tu navegador</a:t>
            </a:r>
            <a:endParaRPr lang="en-US" sz="1300"/>
          </a:p>
        </p:txBody>
      </p:sp>
      <p:sp>
        <p:nvSpPr>
          <p:cNvPr id="9" name="Text 7"/>
          <p:cNvSpPr/>
          <p:nvPr/>
        </p:nvSpPr>
        <p:spPr>
          <a:xfrm>
            <a:off x="7859949" y="2125784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</a:t>
            </a:r>
            <a:endParaRPr lang="en-US" sz="1300"/>
          </a:p>
        </p:txBody>
      </p:sp>
      <p:sp>
        <p:nvSpPr>
          <p:cNvPr id="10" name="Shape 8"/>
          <p:cNvSpPr/>
          <p:nvPr/>
        </p:nvSpPr>
        <p:spPr>
          <a:xfrm>
            <a:off x="320040" y="2861877"/>
            <a:ext cx="10351203" cy="6583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548640" y="2861877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YARN ResourceManager</a:t>
            </a:r>
            <a:endParaRPr lang="en-US" sz="1300"/>
          </a:p>
        </p:txBody>
      </p:sp>
      <p:sp>
        <p:nvSpPr>
          <p:cNvPr id="12" name="Text 10"/>
          <p:cNvSpPr/>
          <p:nvPr/>
        </p:nvSpPr>
        <p:spPr>
          <a:xfrm>
            <a:off x="4572000" y="2861877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40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http://localhost:8088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59949" y="2994464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DCE3E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7859949" y="299446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1100"/>
          </a:p>
        </p:txBody>
      </p:sp>
      <p:sp>
        <p:nvSpPr>
          <p:cNvPr id="15" name="Shape 13"/>
          <p:cNvSpPr/>
          <p:nvPr/>
        </p:nvSpPr>
        <p:spPr>
          <a:xfrm>
            <a:off x="320040" y="3575109"/>
            <a:ext cx="10351203" cy="658368"/>
          </a:xfrm>
          <a:prstGeom prst="rect">
            <a:avLst/>
          </a:prstGeom>
          <a:solidFill>
            <a:srgbClr val="EEF2F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548640" y="3575109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 NameNode</a:t>
            </a:r>
            <a:endParaRPr lang="en-US" sz="1300"/>
          </a:p>
        </p:txBody>
      </p:sp>
      <p:sp>
        <p:nvSpPr>
          <p:cNvPr id="17" name="Text 15"/>
          <p:cNvSpPr/>
          <p:nvPr/>
        </p:nvSpPr>
        <p:spPr>
          <a:xfrm>
            <a:off x="4572000" y="3575109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40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http://localhost:9870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859949" y="3707696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DCE3E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7859949" y="370769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1100"/>
          </a:p>
        </p:txBody>
      </p:sp>
      <p:sp>
        <p:nvSpPr>
          <p:cNvPr id="20" name="Shape 18"/>
          <p:cNvSpPr/>
          <p:nvPr/>
        </p:nvSpPr>
        <p:spPr>
          <a:xfrm>
            <a:off x="320040" y="4288341"/>
            <a:ext cx="10351203" cy="6583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548640" y="4288341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History Server</a:t>
            </a:r>
            <a:endParaRPr lang="en-US" sz="1300"/>
          </a:p>
        </p:txBody>
      </p:sp>
      <p:sp>
        <p:nvSpPr>
          <p:cNvPr id="22" name="Text 20"/>
          <p:cNvSpPr/>
          <p:nvPr/>
        </p:nvSpPr>
        <p:spPr>
          <a:xfrm>
            <a:off x="4572000" y="4288341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40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http://localhost:18080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859949" y="4420928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DCE3E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7859949" y="442092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1100"/>
          </a:p>
        </p:txBody>
      </p:sp>
      <p:sp>
        <p:nvSpPr>
          <p:cNvPr id="25" name="Shape 23"/>
          <p:cNvSpPr/>
          <p:nvPr/>
        </p:nvSpPr>
        <p:spPr>
          <a:xfrm>
            <a:off x="320040" y="5001573"/>
            <a:ext cx="10351203" cy="658368"/>
          </a:xfrm>
          <a:prstGeom prst="rect">
            <a:avLst/>
          </a:prstGeom>
          <a:solidFill>
            <a:srgbClr val="EEF2F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548640" y="5001573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JupyterHub</a:t>
            </a:r>
            <a:endParaRPr lang="en-US" sz="1300"/>
          </a:p>
        </p:txBody>
      </p:sp>
      <p:sp>
        <p:nvSpPr>
          <p:cNvPr id="27" name="Text 25"/>
          <p:cNvSpPr/>
          <p:nvPr/>
        </p:nvSpPr>
        <p:spPr>
          <a:xfrm>
            <a:off x="4572000" y="5001573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40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https://localhost:8443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859949" y="513416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7859949" y="51341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*</a:t>
            </a:r>
            <a:endParaRPr lang="en-US" sz="1100"/>
          </a:p>
        </p:txBody>
      </p:sp>
      <p:sp>
        <p:nvSpPr>
          <p:cNvPr id="30" name="Text 28"/>
          <p:cNvSpPr/>
          <p:nvPr/>
        </p:nvSpPr>
        <p:spPr>
          <a:xfrm>
            <a:off x="320040" y="569671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i="1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JupyterHub usa un certificado autofirmado: el navegador mostrará una advertencia de seguridad — puedes ignorarla y continuar ("Avanzado → Continuar a localhost").</a:t>
            </a:r>
            <a:endParaRPr lang="en-US" sz="1200"/>
          </a:p>
        </p:txBody>
      </p:sp>
      <p:sp>
        <p:nvSpPr>
          <p:cNvPr id="31" name="Text 29"/>
          <p:cNvSpPr/>
          <p:nvPr/>
        </p:nvSpPr>
        <p:spPr>
          <a:xfrm>
            <a:off x="320040" y="6583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EMR en AWS Academy · Complemento</a:t>
            </a:r>
            <a:endParaRPr lang="en-US" sz="900"/>
          </a:p>
        </p:txBody>
      </p:sp>
      <p:sp>
        <p:nvSpPr>
          <p:cNvPr id="32" name="Text 30"/>
          <p:cNvSpPr/>
          <p:nvPr/>
        </p:nvSpPr>
        <p:spPr>
          <a:xfrm>
            <a:off x="11109960" y="65836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13"/>
          <p:cNvSpPr/>
          <p:nvPr/>
        </p:nvSpPr>
        <p:spPr>
          <a:xfrm>
            <a:off x="91440" y="720566"/>
            <a:ext cx="8412480" cy="2708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indent="-228600">
              <a:buClr>
                <a:srgbClr val="000000"/>
              </a:buClr>
              <a:buSzPts val="4400"/>
            </a:pPr>
            <a:r>
              <a:rPr lang="en-US" sz="4400" b="1">
                <a:solidFill>
                  <a:srgbClr val="9200EE"/>
                </a:solidFill>
                <a:latin typeface="Montserrat Black"/>
                <a:sym typeface="Montserrat Black"/>
              </a:rPr>
              <a:t>Conectar VS Code al </a:t>
            </a:r>
            <a:r>
              <a:rPr lang="en-US" sz="4400" b="1" err="1">
                <a:solidFill>
                  <a:srgbClr val="9200EE"/>
                </a:solidFill>
                <a:latin typeface="Montserrat Black"/>
                <a:sym typeface="Montserrat Black"/>
              </a:rPr>
              <a:t>JupyterHub</a:t>
            </a:r>
            <a:endParaRPr lang="en-US" sz="4400" b="1">
              <a:solidFill>
                <a:srgbClr val="9200EE"/>
              </a:solidFill>
              <a:latin typeface="Montserrat Black"/>
              <a:sym typeface="Montserrat Black"/>
            </a:endParaRPr>
          </a:p>
          <a:p>
            <a:pPr marL="457200" indent="-228600">
              <a:buClr>
                <a:srgbClr val="000000"/>
              </a:buClr>
              <a:buSzPts val="4400"/>
            </a:pPr>
            <a:r>
              <a:rPr lang="en-US" sz="4400" b="1">
                <a:solidFill>
                  <a:srgbClr val="9200EE"/>
                </a:solidFill>
                <a:latin typeface="Montserrat Black"/>
                <a:sym typeface="Montserrat Black"/>
              </a:rPr>
              <a:t>que ya corre en el </a:t>
            </a:r>
            <a:r>
              <a:rPr lang="en-US" sz="4400" b="1" err="1">
                <a:solidFill>
                  <a:srgbClr val="9200EE"/>
                </a:solidFill>
                <a:latin typeface="Montserrat Black"/>
                <a:sym typeface="Montserrat Black"/>
              </a:rPr>
              <a:t>clúster</a:t>
            </a:r>
            <a:r>
              <a:rPr lang="en-US" sz="4400" b="1">
                <a:solidFill>
                  <a:srgbClr val="9200EE"/>
                </a:solidFill>
                <a:latin typeface="Montserrat Black"/>
                <a:sym typeface="Montserrat Black"/>
              </a:rPr>
              <a:t> EMR</a:t>
            </a:r>
          </a:p>
        </p:txBody>
      </p:sp>
      <p:sp>
        <p:nvSpPr>
          <p:cNvPr id="16" name="Text 14"/>
          <p:cNvSpPr/>
          <p:nvPr/>
        </p:nvSpPr>
        <p:spPr>
          <a:xfrm>
            <a:off x="1545053" y="420624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CO" b="1" dirty="0"/>
              <a:t>Conectar VS Code por SSH con la extensión Remote - SSH </a:t>
            </a:r>
          </a:p>
          <a:p>
            <a:r>
              <a:rPr lang="es-CO" b="1" dirty="0"/>
              <a:t>VS Code ejecuta su servidor de </a:t>
            </a:r>
            <a:r>
              <a:rPr lang="es-CO" b="1" dirty="0" err="1"/>
              <a:t>Jupyter</a:t>
            </a:r>
            <a:r>
              <a:rPr lang="es-CO" b="1" dirty="0"/>
              <a:t> localmente mediante SSH</a:t>
            </a:r>
            <a:r>
              <a:rPr lang="es-CO" dirty="0"/>
              <a:t>, utilizando el entorno de Python y </a:t>
            </a:r>
            <a:r>
              <a:rPr lang="es-CO" dirty="0" err="1"/>
              <a:t>PySpark</a:t>
            </a:r>
            <a:r>
              <a:rPr lang="es-CO" dirty="0"/>
              <a:t> del nodo máster. </a:t>
            </a:r>
          </a:p>
          <a:p>
            <a:r>
              <a:rPr lang="es-CO" dirty="0"/>
              <a:t>No requiere instalar servidores web en AWS de </a:t>
            </a:r>
            <a:r>
              <a:rPr lang="es-CO" dirty="0" err="1"/>
              <a:t>Jupyter</a:t>
            </a:r>
            <a:r>
              <a:rPr lang="es-CO" dirty="0"/>
              <a:t>.</a:t>
            </a:r>
          </a:p>
          <a:p>
            <a:pPr lvl="0"/>
            <a:r>
              <a:rPr lang="es-CO" b="1" dirty="0"/>
              <a:t>Instalar extensiones en VS Code local:</a:t>
            </a:r>
            <a:endParaRPr lang="es-CO" dirty="0"/>
          </a:p>
          <a:p>
            <a:pPr lvl="1"/>
            <a:r>
              <a:rPr lang="es-CO" b="1" dirty="0"/>
              <a:t>Remote - SSH</a:t>
            </a:r>
            <a:r>
              <a:rPr lang="es-CO" dirty="0"/>
              <a:t> (ms-</a:t>
            </a:r>
            <a:r>
              <a:rPr lang="es-CO" dirty="0" err="1"/>
              <a:t>vscode</a:t>
            </a:r>
            <a:r>
              <a:rPr lang="es-CO" dirty="0"/>
              <a:t>-</a:t>
            </a:r>
            <a:r>
              <a:rPr lang="es-CO" dirty="0" err="1"/>
              <a:t>remote.remote-ssh</a:t>
            </a:r>
            <a:r>
              <a:rPr lang="es-CO" dirty="0"/>
              <a:t>)</a:t>
            </a:r>
          </a:p>
          <a:p>
            <a:pPr lvl="1"/>
            <a:r>
              <a:rPr lang="es-CO" b="1" dirty="0" err="1"/>
              <a:t>Jupyter</a:t>
            </a:r>
            <a:r>
              <a:rPr lang="es-CO" dirty="0"/>
              <a:t> (ms-</a:t>
            </a:r>
            <a:r>
              <a:rPr lang="es-CO" dirty="0" err="1"/>
              <a:t>toolsai.jupyter</a:t>
            </a:r>
            <a:r>
              <a:rPr lang="es-CO" dirty="0"/>
              <a:t>)</a:t>
            </a:r>
          </a:p>
          <a:p>
            <a:pPr lvl="1"/>
            <a:r>
              <a:rPr lang="es-CO" b="1" dirty="0"/>
              <a:t>Python</a:t>
            </a:r>
            <a:r>
              <a:rPr lang="es-CO" dirty="0"/>
              <a:t> (ms-</a:t>
            </a:r>
            <a:r>
              <a:rPr lang="es-CO" dirty="0" err="1"/>
              <a:t>python.python</a:t>
            </a:r>
            <a:r>
              <a:rPr lang="es-CO" dirty="0"/>
              <a:t>)</a:t>
            </a:r>
          </a:p>
          <a:p>
            <a:pPr lvl="0"/>
            <a:r>
              <a:rPr lang="es-CO" b="1" dirty="0"/>
              <a:t>Configurar tu archivo SSH en tu PC (C:\</a:t>
            </a:r>
            <a:r>
              <a:rPr lang="es-CO" b="1" dirty="0" err="1"/>
              <a:t>Users</a:t>
            </a:r>
            <a:r>
              <a:rPr lang="es-CO" b="1" dirty="0"/>
              <a:t>\TU_USUARIO\.</a:t>
            </a:r>
            <a:r>
              <a:rPr lang="es-CO" b="1" dirty="0" err="1"/>
              <a:t>ssh</a:t>
            </a:r>
            <a:r>
              <a:rPr lang="es-CO" b="1" dirty="0"/>
              <a:t>\</a:t>
            </a:r>
            <a:r>
              <a:rPr lang="es-CO" b="1" dirty="0" err="1"/>
              <a:t>config</a:t>
            </a:r>
            <a:r>
              <a:rPr lang="es-CO" b="1" dirty="0"/>
              <a:t>):</a:t>
            </a:r>
            <a:endParaRPr lang="es-CO" dirty="0"/>
          </a:p>
          <a:p>
            <a:pPr marL="0" indent="0">
              <a:lnSpc>
                <a:spcPct val="120000"/>
              </a:lnSpc>
              <a:buNone/>
            </a:pP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6080760"/>
            <a:ext cx="1280160" cy="0"/>
          </a:xfrm>
          <a:prstGeom prst="line">
            <a:avLst/>
          </a:prstGeom>
          <a:noFill/>
          <a:ln w="317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640080" y="6172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Continuación del túnel SSH y monitoreo web</a:t>
            </a:r>
            <a:endParaRPr lang="en-US" sz="120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5F39195-A56E-706D-E738-D16448FDB4EE}"/>
              </a:ext>
            </a:extLst>
          </p:cNvPr>
          <p:cNvSpPr txBox="1"/>
          <p:nvPr/>
        </p:nvSpPr>
        <p:spPr>
          <a:xfrm>
            <a:off x="2420331" y="5896094"/>
            <a:ext cx="6367806" cy="64633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s-CO" dirty="0"/>
              <a:t>[</a:t>
            </a:r>
            <a:r>
              <a:rPr lang="es-CO" dirty="0" err="1"/>
              <a:t>System.IO.Path</a:t>
            </a:r>
            <a:r>
              <a:rPr lang="es-CO" dirty="0"/>
              <a:t>]::</a:t>
            </a:r>
            <a:r>
              <a:rPr lang="es-CO" dirty="0" err="1"/>
              <a:t>GetFullPath</a:t>
            </a:r>
            <a:r>
              <a:rPr lang="es-CO" dirty="0"/>
              <a:t>("$</a:t>
            </a:r>
            <a:r>
              <a:rPr lang="es-CO" dirty="0" err="1"/>
              <a:t>env:TEMP</a:t>
            </a:r>
            <a:r>
              <a:rPr lang="es-CO" dirty="0"/>
              <a:t>\</a:t>
            </a:r>
            <a:r>
              <a:rPr lang="es-CO" dirty="0" err="1"/>
              <a:t>lleve.pem</a:t>
            </a:r>
            <a:r>
              <a:rPr lang="es-CO" dirty="0"/>
              <a:t>")</a:t>
            </a:r>
          </a:p>
          <a:p>
            <a:r>
              <a:rPr lang="es-CO" dirty="0"/>
              <a:t>D:\Users\adiaz\AppData\Local\Temp\lleve.pem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7288F5C1-BBD5-B0E5-3E12-626D0CF30C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354" y="137682"/>
            <a:ext cx="6885275" cy="1354217"/>
          </a:xfrm>
        </p:spPr>
        <p:txBody>
          <a:bodyPr/>
          <a:lstStyle/>
          <a:p>
            <a:r>
              <a:rPr lang="es-ES" dirty="0"/>
              <a:t>Instalar </a:t>
            </a:r>
            <a:r>
              <a:rPr lang="es-ES" dirty="0" err="1"/>
              <a:t>jupyer</a:t>
            </a:r>
            <a:r>
              <a:rPr lang="es-ES" dirty="0"/>
              <a:t> en el </a:t>
            </a:r>
          </a:p>
          <a:p>
            <a:r>
              <a:rPr lang="es-ES" dirty="0"/>
              <a:t>servidor</a:t>
            </a:r>
            <a:endParaRPr lang="es-CO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B2627AA-AD17-8B99-A0ED-7FC7166CD144}"/>
              </a:ext>
            </a:extLst>
          </p:cNvPr>
          <p:cNvSpPr txBox="1"/>
          <p:nvPr/>
        </p:nvSpPr>
        <p:spPr>
          <a:xfrm>
            <a:off x="3367726" y="1945791"/>
            <a:ext cx="6358378" cy="36933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s-CO" dirty="0" err="1"/>
              <a:t>pip</a:t>
            </a:r>
            <a:r>
              <a:rPr lang="es-CO" dirty="0"/>
              <a:t> </a:t>
            </a:r>
            <a:r>
              <a:rPr lang="es-CO" dirty="0" err="1"/>
              <a:t>install</a:t>
            </a:r>
            <a:r>
              <a:rPr lang="es-CO" dirty="0"/>
              <a:t> notebook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D8362C5-37FE-13B4-82DB-BD5BB3E2FAD5}"/>
              </a:ext>
            </a:extLst>
          </p:cNvPr>
          <p:cNvSpPr txBox="1"/>
          <p:nvPr/>
        </p:nvSpPr>
        <p:spPr>
          <a:xfrm>
            <a:off x="3367726" y="2514566"/>
            <a:ext cx="6358378" cy="36933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s-CO" dirty="0" err="1"/>
              <a:t>jupyter</a:t>
            </a:r>
            <a:r>
              <a:rPr lang="es-CO" dirty="0"/>
              <a:t> notebook --no-browser --</a:t>
            </a:r>
            <a:r>
              <a:rPr lang="es-CO" dirty="0" err="1"/>
              <a:t>port</a:t>
            </a:r>
            <a:r>
              <a:rPr lang="es-CO" dirty="0"/>
              <a:t>=8888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DF52E0B-8B30-EAD8-1119-286A2214F403}"/>
              </a:ext>
            </a:extLst>
          </p:cNvPr>
          <p:cNvSpPr txBox="1"/>
          <p:nvPr/>
        </p:nvSpPr>
        <p:spPr>
          <a:xfrm>
            <a:off x="3301738" y="4296157"/>
            <a:ext cx="6358378" cy="92333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s-CO" dirty="0"/>
              <a:t>/</a:t>
            </a:r>
            <a:r>
              <a:rPr lang="es-CO" dirty="0" err="1"/>
              <a:t>mnt</a:t>
            </a:r>
            <a:r>
              <a:rPr lang="es-CO" dirty="0"/>
              <a:t>/notebook-</a:t>
            </a:r>
            <a:r>
              <a:rPr lang="es-CO" dirty="0" err="1"/>
              <a:t>env</a:t>
            </a:r>
            <a:r>
              <a:rPr lang="es-CO" dirty="0"/>
              <a:t>/</a:t>
            </a:r>
            <a:r>
              <a:rPr lang="es-CO" dirty="0" err="1"/>
              <a:t>bin</a:t>
            </a:r>
            <a:r>
              <a:rPr lang="es-CO" dirty="0"/>
              <a:t>/</a:t>
            </a:r>
            <a:r>
              <a:rPr lang="es-CO" dirty="0" err="1"/>
              <a:t>pip</a:t>
            </a:r>
            <a:r>
              <a:rPr lang="es-CO" dirty="0"/>
              <a:t> </a:t>
            </a:r>
            <a:r>
              <a:rPr lang="es-CO" dirty="0" err="1"/>
              <a:t>install</a:t>
            </a:r>
            <a:r>
              <a:rPr lang="es-CO" dirty="0"/>
              <a:t> </a:t>
            </a:r>
            <a:r>
              <a:rPr lang="es-CO" dirty="0" err="1"/>
              <a:t>pyspark</a:t>
            </a:r>
            <a:r>
              <a:rPr lang="es-CO" dirty="0"/>
              <a:t> </a:t>
            </a:r>
            <a:r>
              <a:rPr lang="es-CO" dirty="0" err="1"/>
              <a:t>findspark</a:t>
            </a:r>
            <a:r>
              <a:rPr lang="es-CO" dirty="0"/>
              <a:t> </a:t>
            </a:r>
            <a:r>
              <a:rPr lang="es-CO" dirty="0" err="1"/>
              <a:t>ipykernel</a:t>
            </a:r>
            <a:endParaRPr lang="es-CO" dirty="0"/>
          </a:p>
          <a:p>
            <a:r>
              <a:rPr lang="es-CO" dirty="0"/>
              <a:t>/</a:t>
            </a:r>
            <a:r>
              <a:rPr lang="es-CO" dirty="0" err="1"/>
              <a:t>mnt</a:t>
            </a:r>
            <a:r>
              <a:rPr lang="es-CO" dirty="0"/>
              <a:t>/notebook-</a:t>
            </a:r>
            <a:r>
              <a:rPr lang="es-CO" dirty="0" err="1"/>
              <a:t>env</a:t>
            </a:r>
            <a:r>
              <a:rPr lang="es-CO" dirty="0"/>
              <a:t>/</a:t>
            </a:r>
            <a:r>
              <a:rPr lang="es-CO" dirty="0" err="1"/>
              <a:t>bin</a:t>
            </a:r>
            <a:r>
              <a:rPr lang="es-CO" dirty="0"/>
              <a:t>/</a:t>
            </a:r>
            <a:r>
              <a:rPr lang="es-CO" dirty="0" err="1"/>
              <a:t>python</a:t>
            </a:r>
            <a:r>
              <a:rPr lang="es-CO" dirty="0"/>
              <a:t> -m </a:t>
            </a:r>
            <a:r>
              <a:rPr lang="es-CO" dirty="0" err="1"/>
              <a:t>ipykernel</a:t>
            </a:r>
            <a:r>
              <a:rPr lang="es-CO" dirty="0"/>
              <a:t> </a:t>
            </a:r>
            <a:r>
              <a:rPr lang="es-CO" dirty="0" err="1"/>
              <a:t>install</a:t>
            </a:r>
            <a:r>
              <a:rPr lang="es-CO" dirty="0"/>
              <a:t> --</a:t>
            </a:r>
            <a:r>
              <a:rPr lang="es-CO" dirty="0" err="1"/>
              <a:t>user</a:t>
            </a:r>
            <a:r>
              <a:rPr lang="es-CO" dirty="0"/>
              <a:t> --</a:t>
            </a:r>
            <a:r>
              <a:rPr lang="es-CO" dirty="0" err="1"/>
              <a:t>name</a:t>
            </a:r>
            <a:r>
              <a:rPr lang="es-CO" dirty="0"/>
              <a:t>=notebook-</a:t>
            </a:r>
            <a:r>
              <a:rPr lang="es-CO" dirty="0" err="1"/>
              <a:t>env</a:t>
            </a:r>
            <a:r>
              <a:rPr lang="es-CO" dirty="0"/>
              <a:t> --</a:t>
            </a:r>
            <a:r>
              <a:rPr lang="es-CO" dirty="0" err="1"/>
              <a:t>display-name</a:t>
            </a:r>
            <a:r>
              <a:rPr lang="es-CO" dirty="0"/>
              <a:t> "Python (</a:t>
            </a:r>
            <a:r>
              <a:rPr lang="es-CO" dirty="0" err="1"/>
              <a:t>BigData</a:t>
            </a:r>
            <a:r>
              <a:rPr lang="es-CO" dirty="0"/>
              <a:t> Spark)"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7352336-1123-0D84-B8EE-146F5A1B557E}"/>
              </a:ext>
            </a:extLst>
          </p:cNvPr>
          <p:cNvSpPr txBox="1"/>
          <p:nvPr/>
        </p:nvSpPr>
        <p:spPr>
          <a:xfrm>
            <a:off x="3367726" y="3053403"/>
            <a:ext cx="6358378" cy="36933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s-CO" dirty="0"/>
              <a:t>sudo </a:t>
            </a:r>
            <a:r>
              <a:rPr lang="es-CO" dirty="0" err="1"/>
              <a:t>chmod</a:t>
            </a:r>
            <a:r>
              <a:rPr lang="es-CO" dirty="0"/>
              <a:t> +x /mnt/notebook-env/bin/kernel_launcher.sh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88DCB10-1B5C-ED59-DF44-834C115EE960}"/>
              </a:ext>
            </a:extLst>
          </p:cNvPr>
          <p:cNvSpPr txBox="1"/>
          <p:nvPr/>
        </p:nvSpPr>
        <p:spPr>
          <a:xfrm>
            <a:off x="3367726" y="3622178"/>
            <a:ext cx="6358378" cy="36933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s-CO" dirty="0"/>
              <a:t>sudo </a:t>
            </a:r>
            <a:r>
              <a:rPr lang="es-CO" dirty="0" err="1"/>
              <a:t>chown</a:t>
            </a:r>
            <a:r>
              <a:rPr lang="es-CO" dirty="0"/>
              <a:t> -R $USER:$USER /</a:t>
            </a:r>
            <a:r>
              <a:rPr lang="es-CO" dirty="0" err="1"/>
              <a:t>mnt</a:t>
            </a:r>
            <a:r>
              <a:rPr lang="es-CO" dirty="0"/>
              <a:t>/notebook-</a:t>
            </a:r>
            <a:r>
              <a:rPr lang="es-CO" dirty="0" err="1"/>
              <a:t>env</a:t>
            </a:r>
            <a:endParaRPr lang="es-CO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F1D2BFFD-00CF-E501-F1ED-3DFC6B41488B}"/>
              </a:ext>
            </a:extLst>
          </p:cNvPr>
          <p:cNvSpPr txBox="1"/>
          <p:nvPr/>
        </p:nvSpPr>
        <p:spPr>
          <a:xfrm>
            <a:off x="3301738" y="5524134"/>
            <a:ext cx="6358378" cy="92333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s-CO" dirty="0"/>
              <a:t>sudo </a:t>
            </a:r>
            <a:r>
              <a:rPr lang="es-CO" dirty="0" err="1"/>
              <a:t>update</a:t>
            </a:r>
            <a:r>
              <a:rPr lang="es-CO" dirty="0"/>
              <a:t>-alternatives --</a:t>
            </a:r>
            <a:r>
              <a:rPr lang="es-CO" dirty="0" err="1"/>
              <a:t>config</a:t>
            </a:r>
            <a:r>
              <a:rPr lang="es-CO" dirty="0"/>
              <a:t> java</a:t>
            </a:r>
          </a:p>
          <a:p>
            <a:r>
              <a:rPr lang="es-CO" dirty="0"/>
              <a:t># O consulta las rutas instaladas:</a:t>
            </a:r>
          </a:p>
          <a:p>
            <a:r>
              <a:rPr lang="es-CO" dirty="0" err="1"/>
              <a:t>ls</a:t>
            </a:r>
            <a:r>
              <a:rPr lang="es-CO" dirty="0"/>
              <a:t> /</a:t>
            </a:r>
            <a:r>
              <a:rPr lang="es-CO" dirty="0" err="1"/>
              <a:t>usr</a:t>
            </a:r>
            <a:r>
              <a:rPr lang="es-CO" dirty="0"/>
              <a:t>/</a:t>
            </a:r>
            <a:r>
              <a:rPr lang="es-CO" dirty="0" err="1"/>
              <a:t>lib</a:t>
            </a:r>
            <a:r>
              <a:rPr lang="es-CO" dirty="0"/>
              <a:t>/</a:t>
            </a:r>
            <a:r>
              <a:rPr lang="es-CO" dirty="0" err="1"/>
              <a:t>jvm</a:t>
            </a:r>
            <a:r>
              <a:rPr lang="es-CO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11982429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15568" cy="292608"/>
          </a:xfrm>
          <a:prstGeom prst="roundRect">
            <a:avLst>
              <a:gd name="adj" fmla="val 50000"/>
            </a:avLst>
          </a:prstGeom>
          <a:solidFill>
            <a:srgbClr val="9200EE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CO">
              <a:solidFill>
                <a:srgbClr val="FFA502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FFA5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</a:t>
            </a:r>
            <a:endParaRPr lang="en-US" sz="1100">
              <a:solidFill>
                <a:srgbClr val="FFA502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0" y="92713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indent="-228600">
              <a:buClr>
                <a:srgbClr val="000000"/>
              </a:buClr>
              <a:buSzPts val="4400"/>
            </a:pPr>
            <a:r>
              <a:rPr lang="en-US" sz="4400" b="1" dirty="0" err="1">
                <a:solidFill>
                  <a:srgbClr val="9200EE"/>
                </a:solidFill>
                <a:latin typeface="Montserrat Black"/>
                <a:sym typeface="Montserrat Black"/>
              </a:rPr>
              <a:t>Cómo</a:t>
            </a:r>
            <a:r>
              <a:rPr lang="en-US" sz="4400" b="1" dirty="0">
                <a:solidFill>
                  <a:srgbClr val="9200EE"/>
                </a:solidFill>
                <a:latin typeface="Montserrat Black"/>
                <a:sym typeface="Montserrat Black"/>
              </a:rPr>
              <a:t> </a:t>
            </a:r>
            <a:r>
              <a:rPr lang="en-US" sz="4400" b="1" dirty="0" err="1">
                <a:solidFill>
                  <a:srgbClr val="9200EE"/>
                </a:solidFill>
                <a:latin typeface="Montserrat Black"/>
                <a:sym typeface="Montserrat Black"/>
              </a:rPr>
              <a:t>funciona</a:t>
            </a:r>
            <a:r>
              <a:rPr lang="en-US" sz="4400" b="1" dirty="0">
                <a:solidFill>
                  <a:srgbClr val="9200EE"/>
                </a:solidFill>
                <a:latin typeface="Montserrat Black"/>
                <a:sym typeface="Montserrat Black"/>
              </a:rPr>
              <a:t> </a:t>
            </a:r>
            <a:r>
              <a:rPr lang="en-US" sz="4400" b="1" dirty="0" err="1">
                <a:solidFill>
                  <a:srgbClr val="9200EE"/>
                </a:solidFill>
                <a:latin typeface="Montserrat Black"/>
                <a:sym typeface="Montserrat Black"/>
              </a:rPr>
              <a:t>JupyterHub</a:t>
            </a:r>
            <a:r>
              <a:rPr lang="en-US" sz="4400" b="1" dirty="0">
                <a:solidFill>
                  <a:srgbClr val="9200EE"/>
                </a:solidFill>
                <a:latin typeface="Montserrat Black"/>
                <a:sym typeface="Montserrat Black"/>
              </a:rPr>
              <a:t> </a:t>
            </a:r>
            <a:r>
              <a:rPr lang="en-US" sz="4400" b="1" dirty="0" err="1">
                <a:solidFill>
                  <a:srgbClr val="9200EE"/>
                </a:solidFill>
                <a:latin typeface="Montserrat Black"/>
                <a:sym typeface="Montserrat Black"/>
              </a:rPr>
              <a:t>por</a:t>
            </a:r>
            <a:r>
              <a:rPr lang="en-US" sz="4400" b="1" dirty="0">
                <a:solidFill>
                  <a:srgbClr val="9200EE"/>
                </a:solidFill>
                <a:latin typeface="Montserrat Black"/>
                <a:sym typeface="Montserrat Black"/>
              </a:rPr>
              <a:t> </a:t>
            </a:r>
            <a:r>
              <a:rPr lang="en-US" sz="4400" b="1" dirty="0" err="1">
                <a:solidFill>
                  <a:srgbClr val="9200EE"/>
                </a:solidFill>
                <a:latin typeface="Montserrat Black"/>
                <a:sym typeface="Montserrat Black"/>
              </a:rPr>
              <a:t>dentro</a:t>
            </a:r>
            <a:endParaRPr lang="en-US" sz="4400" b="1" dirty="0">
              <a:solidFill>
                <a:srgbClr val="9200EE"/>
              </a:solidFill>
              <a:latin typeface="Montserrat Black"/>
              <a:sym typeface="Montserrat Black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EMR en AWS Academy · Complemento</a:t>
            </a:r>
            <a:endParaRPr lang="en-US" sz="900"/>
          </a:p>
        </p:txBody>
      </p:sp>
      <p:sp>
        <p:nvSpPr>
          <p:cNvPr id="22" name="Text 20"/>
          <p:cNvSpPr/>
          <p:nvPr/>
        </p:nvSpPr>
        <p:spPr>
          <a:xfrm>
            <a:off x="11247120" y="65105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A59BB235-FB1E-2DED-02EB-C361F10D2BCE}"/>
              </a:ext>
            </a:extLst>
          </p:cNvPr>
          <p:cNvSpPr/>
          <p:nvPr/>
        </p:nvSpPr>
        <p:spPr>
          <a:xfrm>
            <a:off x="2045616" y="2281287"/>
            <a:ext cx="6363093" cy="144230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O" sz="1600" i="1" dirty="0"/>
              <a:t>Host </a:t>
            </a:r>
            <a:r>
              <a:rPr lang="es-CO" sz="1600" i="1" dirty="0" err="1"/>
              <a:t>emr</a:t>
            </a:r>
            <a:r>
              <a:rPr lang="es-CO" sz="1600" i="1" dirty="0"/>
              <a:t>-master</a:t>
            </a:r>
          </a:p>
          <a:p>
            <a:r>
              <a:rPr lang="es-CO" sz="1600" i="1" dirty="0"/>
              <a:t>    </a:t>
            </a:r>
            <a:r>
              <a:rPr lang="es-CO" sz="1600" i="1" dirty="0" err="1"/>
              <a:t>HostName</a:t>
            </a:r>
            <a:r>
              <a:rPr lang="es-CO" sz="1600" i="1" dirty="0"/>
              <a:t> ec2-52-200-3-133.compute-1.amazonaws.com</a:t>
            </a:r>
          </a:p>
          <a:p>
            <a:r>
              <a:rPr lang="es-CO" sz="1600" i="1" dirty="0"/>
              <a:t>    </a:t>
            </a:r>
            <a:r>
              <a:rPr lang="es-CO" sz="1600" i="1" dirty="0" err="1"/>
              <a:t>User</a:t>
            </a:r>
            <a:r>
              <a:rPr lang="es-CO" sz="1600" i="1" dirty="0"/>
              <a:t> ec2-user</a:t>
            </a:r>
          </a:p>
          <a:p>
            <a:r>
              <a:rPr lang="es-CO" sz="1600" i="1" dirty="0"/>
              <a:t>    </a:t>
            </a:r>
            <a:r>
              <a:rPr lang="es-CO" sz="1600" i="1" dirty="0" err="1"/>
              <a:t>IdentityFile</a:t>
            </a:r>
            <a:r>
              <a:rPr lang="es-CO" sz="1600" i="1" dirty="0"/>
              <a:t> "C:\ruta\a\tu\llave.pem"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D8C39D06-88EF-3042-E7CA-BD723851D466}"/>
                  </a:ext>
                </a:extLst>
              </p:cNvPr>
              <p:cNvSpPr txBox="1"/>
              <p:nvPr/>
            </p:nvSpPr>
            <p:spPr>
              <a:xfrm>
                <a:off x="1906571" y="4049433"/>
                <a:ext cx="6414940" cy="2308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s-CO" b="1" dirty="0">
                    <a:effectLst/>
                    <a:latin typeface="Google Sans Text"/>
                  </a:rPr>
                  <a:t>Conectarte desde VS Code:</a:t>
                </a:r>
                <a:endParaRPr lang="es-CO" dirty="0">
                  <a:effectLst/>
                  <a:latin typeface="Google Sans Text"/>
                </a:endParaRP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s-CO" dirty="0">
                    <a:effectLst/>
                    <a:latin typeface="Google Sans Text"/>
                  </a:rPr>
                  <a:t>Presiona </a:t>
                </a:r>
                <a:r>
                  <a:rPr lang="es-CO" dirty="0" err="1">
                    <a:effectLst/>
                    <a:latin typeface="Google Sans Text"/>
                  </a:rPr>
                  <a:t>Ctrl</a:t>
                </a:r>
                <a:r>
                  <a:rPr lang="es-CO" dirty="0">
                    <a:effectLst/>
                    <a:latin typeface="Google Sans Text"/>
                  </a:rPr>
                  <a:t> + Shift + P </a:t>
                </a:r>
                <a14:m>
                  <m:oMath xmlns:m="http://schemas.openxmlformats.org/officeDocument/2006/math">
                    <m:r>
                      <a:rPr lang="es-CO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s-CO" b="1" dirty="0">
                    <a:effectLst/>
                    <a:latin typeface="Google Sans Text"/>
                  </a:rPr>
                  <a:t>Remote-SSH: </a:t>
                </a:r>
                <a:r>
                  <a:rPr lang="es-CO" b="1" dirty="0" err="1">
                    <a:effectLst/>
                    <a:latin typeface="Google Sans Text"/>
                  </a:rPr>
                  <a:t>Connect</a:t>
                </a:r>
                <a:r>
                  <a:rPr lang="es-CO" b="1" dirty="0">
                    <a:effectLst/>
                    <a:latin typeface="Google Sans Text"/>
                  </a:rPr>
                  <a:t> </a:t>
                </a:r>
                <a:r>
                  <a:rPr lang="es-CO" b="1" dirty="0" err="1">
                    <a:effectLst/>
                    <a:latin typeface="Google Sans Text"/>
                  </a:rPr>
                  <a:t>to</a:t>
                </a:r>
                <a:r>
                  <a:rPr lang="es-CO" b="1" dirty="0">
                    <a:effectLst/>
                    <a:latin typeface="Google Sans Text"/>
                  </a:rPr>
                  <a:t> Host...</a:t>
                </a:r>
                <a:r>
                  <a:rPr lang="es-CO" dirty="0">
                    <a:effectLst/>
                    <a:latin typeface="Google Sans Text"/>
                  </a:rPr>
                  <a:t> </a:t>
                </a:r>
                <a14:m>
                  <m:oMath xmlns:m="http://schemas.openxmlformats.org/officeDocument/2006/math">
                    <m:r>
                      <a:rPr lang="es-CO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s-CO" dirty="0">
                    <a:effectLst/>
                    <a:latin typeface="Google Sans Text"/>
                  </a:rPr>
                  <a:t>Elige </a:t>
                </a:r>
                <a:r>
                  <a:rPr lang="es-CO" dirty="0" err="1">
                    <a:effectLst/>
                    <a:latin typeface="Google Sans Text"/>
                  </a:rPr>
                  <a:t>emr</a:t>
                </a:r>
                <a:r>
                  <a:rPr lang="es-CO" dirty="0">
                    <a:effectLst/>
                    <a:latin typeface="Google Sans Text"/>
                  </a:rPr>
                  <a:t>-master.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s-CO" dirty="0">
                    <a:effectLst/>
                    <a:latin typeface="Google Sans Text"/>
                  </a:rPr>
                  <a:t>Una vez conectado, abre cualquier cuaderno .</a:t>
                </a:r>
                <a:r>
                  <a:rPr lang="es-CO" dirty="0" err="1">
                    <a:effectLst/>
                    <a:latin typeface="Google Sans Text"/>
                  </a:rPr>
                  <a:t>ipynb</a:t>
                </a:r>
                <a:r>
                  <a:rPr lang="es-CO" dirty="0">
                    <a:effectLst/>
                    <a:latin typeface="Google Sans Text"/>
                  </a:rPr>
                  <a:t> en VS Code.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s-CO" dirty="0">
                    <a:effectLst/>
                    <a:latin typeface="Google Sans Text"/>
                  </a:rPr>
                  <a:t>Selecciona el </a:t>
                </a:r>
                <a:r>
                  <a:rPr lang="es-CO" b="1" dirty="0" err="1">
                    <a:effectLst/>
                    <a:latin typeface="Google Sans Text"/>
                  </a:rPr>
                  <a:t>Kernel</a:t>
                </a:r>
                <a:r>
                  <a:rPr lang="es-CO" b="1" dirty="0">
                    <a:effectLst/>
                    <a:latin typeface="Google Sans Text"/>
                  </a:rPr>
                  <a:t> de Python/</a:t>
                </a:r>
                <a:r>
                  <a:rPr lang="es-CO" b="1" dirty="0" err="1">
                    <a:effectLst/>
                    <a:latin typeface="Google Sans Text"/>
                  </a:rPr>
                  <a:t>PySpark</a:t>
                </a:r>
                <a:r>
                  <a:rPr lang="es-CO" dirty="0">
                    <a:effectLst/>
                    <a:latin typeface="Google Sans Text"/>
                  </a:rPr>
                  <a:t> del sistema remoto (por ejemplo, el </a:t>
                </a:r>
                <a:r>
                  <a:rPr lang="es-CO" dirty="0" err="1">
                    <a:effectLst/>
                    <a:latin typeface="Google Sans Text"/>
                  </a:rPr>
                  <a:t>interpreter</a:t>
                </a:r>
                <a:r>
                  <a:rPr lang="es-CO" dirty="0">
                    <a:effectLst/>
                    <a:latin typeface="Google Sans Text"/>
                  </a:rPr>
                  <a:t> /</a:t>
                </a:r>
                <a:r>
                  <a:rPr lang="es-CO" dirty="0" err="1">
                    <a:effectLst/>
                    <a:latin typeface="Google Sans Text"/>
                  </a:rPr>
                  <a:t>usr</a:t>
                </a:r>
                <a:r>
                  <a:rPr lang="es-CO" dirty="0">
                    <a:effectLst/>
                    <a:latin typeface="Google Sans Text"/>
                  </a:rPr>
                  <a:t>/</a:t>
                </a:r>
                <a:r>
                  <a:rPr lang="es-CO" dirty="0" err="1">
                    <a:effectLst/>
                    <a:latin typeface="Google Sans Text"/>
                  </a:rPr>
                  <a:t>bin</a:t>
                </a:r>
                <a:r>
                  <a:rPr lang="es-CO" dirty="0">
                    <a:effectLst/>
                    <a:latin typeface="Google Sans Text"/>
                  </a:rPr>
                  <a:t>/python3 del servidor EMR).</a:t>
                </a:r>
              </a:p>
            </p:txBody>
          </p:sp>
        </mc:Choice>
        <mc:Fallback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D8C39D06-88EF-3042-E7CA-BD723851D4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6571" y="4049433"/>
                <a:ext cx="6414940" cy="2308324"/>
              </a:xfrm>
              <a:prstGeom prst="rect">
                <a:avLst/>
              </a:prstGeom>
              <a:blipFill>
                <a:blip r:embed="rId3"/>
                <a:stretch>
                  <a:fillRect l="-856" t="-1319" b="-3166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798B6-1287-211A-3564-C6842C525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8EEF2D0-21C1-35F2-E31D-57DF7C1E970B}"/>
              </a:ext>
            </a:extLst>
          </p:cNvPr>
          <p:cNvSpPr/>
          <p:nvPr/>
        </p:nvSpPr>
        <p:spPr>
          <a:xfrm>
            <a:off x="457200" y="384048"/>
            <a:ext cx="1115568" cy="292608"/>
          </a:xfrm>
          <a:prstGeom prst="roundRect">
            <a:avLst>
              <a:gd name="adj" fmla="val 50000"/>
            </a:avLst>
          </a:prstGeom>
          <a:solidFill>
            <a:srgbClr val="9200EE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CO">
              <a:solidFill>
                <a:srgbClr val="FFA502"/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2658922-6CE1-288E-1AEF-E5D586A9E4E6}"/>
              </a:ext>
            </a:extLst>
          </p:cNvPr>
          <p:cNvSpPr/>
          <p:nvPr/>
        </p:nvSpPr>
        <p:spPr>
          <a:xfrm>
            <a:off x="457200" y="384048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FFA5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</a:t>
            </a:r>
            <a:endParaRPr lang="en-US" sz="1100">
              <a:solidFill>
                <a:srgbClr val="FFA502"/>
              </a:solidFill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BFBFAF2-6860-6E63-6B02-70B007DF95AD}"/>
              </a:ext>
            </a:extLst>
          </p:cNvPr>
          <p:cNvSpPr/>
          <p:nvPr/>
        </p:nvSpPr>
        <p:spPr>
          <a:xfrm>
            <a:off x="0" y="92713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indent="-228600">
              <a:buClr>
                <a:srgbClr val="000000"/>
              </a:buClr>
              <a:buSzPts val="4400"/>
            </a:pPr>
            <a:r>
              <a:rPr lang="en-US" sz="4400" b="1" dirty="0" err="1">
                <a:solidFill>
                  <a:srgbClr val="9200EE"/>
                </a:solidFill>
                <a:latin typeface="Montserrat Black"/>
                <a:sym typeface="Montserrat Black"/>
              </a:rPr>
              <a:t>Cómo</a:t>
            </a:r>
            <a:r>
              <a:rPr lang="en-US" sz="4400" b="1" dirty="0">
                <a:solidFill>
                  <a:srgbClr val="9200EE"/>
                </a:solidFill>
                <a:latin typeface="Montserrat Black"/>
                <a:sym typeface="Montserrat Black"/>
              </a:rPr>
              <a:t> </a:t>
            </a:r>
            <a:r>
              <a:rPr lang="en-US" sz="4400" b="1" dirty="0" err="1">
                <a:solidFill>
                  <a:srgbClr val="9200EE"/>
                </a:solidFill>
                <a:latin typeface="Montserrat Black"/>
                <a:sym typeface="Montserrat Black"/>
              </a:rPr>
              <a:t>funciona</a:t>
            </a:r>
            <a:r>
              <a:rPr lang="en-US" sz="4400" b="1" dirty="0">
                <a:solidFill>
                  <a:srgbClr val="9200EE"/>
                </a:solidFill>
                <a:latin typeface="Montserrat Black"/>
                <a:sym typeface="Montserrat Black"/>
              </a:rPr>
              <a:t> </a:t>
            </a:r>
            <a:r>
              <a:rPr lang="en-US" sz="4400" b="1" dirty="0" err="1">
                <a:solidFill>
                  <a:srgbClr val="9200EE"/>
                </a:solidFill>
                <a:latin typeface="Montserrat Black"/>
                <a:sym typeface="Montserrat Black"/>
              </a:rPr>
              <a:t>JupyterHub</a:t>
            </a:r>
            <a:r>
              <a:rPr lang="en-US" sz="4400" b="1" dirty="0">
                <a:solidFill>
                  <a:srgbClr val="9200EE"/>
                </a:solidFill>
                <a:latin typeface="Montserrat Black"/>
                <a:sym typeface="Montserrat Black"/>
              </a:rPr>
              <a:t> </a:t>
            </a:r>
            <a:r>
              <a:rPr lang="en-US" sz="4400" b="1" dirty="0" err="1">
                <a:solidFill>
                  <a:srgbClr val="9200EE"/>
                </a:solidFill>
                <a:latin typeface="Montserrat Black"/>
                <a:sym typeface="Montserrat Black"/>
              </a:rPr>
              <a:t>por</a:t>
            </a:r>
            <a:r>
              <a:rPr lang="en-US" sz="4400" b="1" dirty="0">
                <a:solidFill>
                  <a:srgbClr val="9200EE"/>
                </a:solidFill>
                <a:latin typeface="Montserrat Black"/>
                <a:sym typeface="Montserrat Black"/>
              </a:rPr>
              <a:t> </a:t>
            </a:r>
            <a:r>
              <a:rPr lang="en-US" sz="4400" b="1" dirty="0" err="1">
                <a:solidFill>
                  <a:srgbClr val="9200EE"/>
                </a:solidFill>
                <a:latin typeface="Montserrat Black"/>
                <a:sym typeface="Montserrat Black"/>
              </a:rPr>
              <a:t>dentro</a:t>
            </a:r>
            <a:endParaRPr lang="en-US" sz="4400" b="1" dirty="0">
              <a:solidFill>
                <a:srgbClr val="9200EE"/>
              </a:solidFill>
              <a:latin typeface="Montserrat Black"/>
              <a:sym typeface="Montserrat Black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3149B77C-1D3D-64A8-627D-A9867232527F}"/>
              </a:ext>
            </a:extLst>
          </p:cNvPr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EMR en AWS Academy · Complemento</a:t>
            </a:r>
            <a:endParaRPr lang="en-US" sz="90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3CDF4920-DE1E-E455-45E5-67646F11A05D}"/>
              </a:ext>
            </a:extLst>
          </p:cNvPr>
          <p:cNvSpPr/>
          <p:nvPr/>
        </p:nvSpPr>
        <p:spPr>
          <a:xfrm>
            <a:off x="11247120" y="65105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6D1200E8-351A-C9A6-D017-B0DFF62B429E}"/>
              </a:ext>
            </a:extLst>
          </p:cNvPr>
          <p:cNvSpPr/>
          <p:nvPr/>
        </p:nvSpPr>
        <p:spPr>
          <a:xfrm>
            <a:off x="2045616" y="2281287"/>
            <a:ext cx="6363093" cy="144230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O" sz="1600" i="1" dirty="0" err="1"/>
              <a:t>jupyter</a:t>
            </a:r>
            <a:r>
              <a:rPr lang="es-CO" sz="1600" i="1" dirty="0"/>
              <a:t> notebook --no-browser --</a:t>
            </a:r>
            <a:r>
              <a:rPr lang="es-CO" sz="1600" i="1" dirty="0" err="1"/>
              <a:t>port</a:t>
            </a:r>
            <a:r>
              <a:rPr lang="es-CO" sz="1600" i="1" dirty="0"/>
              <a:t>=8888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712497AC-030A-9CAF-EA40-3E18F980232D}"/>
              </a:ext>
            </a:extLst>
          </p:cNvPr>
          <p:cNvSpPr txBox="1"/>
          <p:nvPr/>
        </p:nvSpPr>
        <p:spPr>
          <a:xfrm>
            <a:off x="1774595" y="3925205"/>
            <a:ext cx="786902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s-CO" dirty="0"/>
              <a:t>La consola te generará un enlace con un token de acceso parecido a este: [http://127.0.0.1:8888/?token=abcdef123456](http://127.0.0.1:8888/?token=abcdef123456)...</a:t>
            </a:r>
          </a:p>
          <a:p>
            <a:pPr lvl="0"/>
            <a:r>
              <a:rPr lang="es-CO" b="1" dirty="0"/>
              <a:t>Para usarlo en tu navegador local:</a:t>
            </a:r>
            <a:r>
              <a:rPr lang="es-CO" dirty="0"/>
              <a:t> Copia esa URL completa y pégala en Chrome/Edge en tu PC local.</a:t>
            </a:r>
          </a:p>
          <a:p>
            <a:pPr lvl="0"/>
            <a:r>
              <a:rPr lang="es-CO" b="1" dirty="0"/>
              <a:t>Para usarlo directo en VS Code local:</a:t>
            </a:r>
            <a:endParaRPr lang="es-CO" dirty="0"/>
          </a:p>
          <a:p>
            <a:pPr lvl="1"/>
            <a:r>
              <a:rPr lang="es-CO" dirty="0"/>
              <a:t>Abre un archivo .</a:t>
            </a:r>
            <a:r>
              <a:rPr lang="es-CO" dirty="0" err="1"/>
              <a:t>ipynb</a:t>
            </a:r>
            <a:r>
              <a:rPr lang="es-CO" dirty="0"/>
              <a:t> en tu VS Code local.</a:t>
            </a:r>
          </a:p>
          <a:p>
            <a:pPr lvl="1"/>
            <a:r>
              <a:rPr lang="es-CO" dirty="0"/>
              <a:t>Arriba a la derecha haz clic en </a:t>
            </a:r>
            <a:r>
              <a:rPr lang="es-CO" b="1" dirty="0" err="1"/>
              <a:t>Select</a:t>
            </a:r>
            <a:r>
              <a:rPr lang="es-CO" b="1" dirty="0"/>
              <a:t> </a:t>
            </a:r>
            <a:r>
              <a:rPr lang="es-CO" b="1" dirty="0" err="1"/>
              <a:t>Kernel</a:t>
            </a:r>
            <a:r>
              <a:rPr lang="es-CO" b="1" dirty="0"/>
              <a:t> &gt; </a:t>
            </a:r>
            <a:r>
              <a:rPr lang="es-CO" b="1" dirty="0" err="1"/>
              <a:t>Existing</a:t>
            </a:r>
            <a:r>
              <a:rPr lang="es-CO" b="1" dirty="0"/>
              <a:t> </a:t>
            </a:r>
            <a:r>
              <a:rPr lang="es-CO" b="1" dirty="0" err="1"/>
              <a:t>Jupyter</a:t>
            </a:r>
            <a:r>
              <a:rPr lang="es-CO" b="1" dirty="0"/>
              <a:t> Server...</a:t>
            </a:r>
            <a:endParaRPr lang="es-CO" dirty="0"/>
          </a:p>
          <a:p>
            <a:pPr lvl="1"/>
            <a:r>
              <a:rPr lang="es-CO" dirty="0"/>
              <a:t>Pega la URL del servidor con el token que te dio la terminal.</a:t>
            </a:r>
            <a:endParaRPr lang="es-CO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659459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FFA50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0A5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MANOS A LA OBRA · PASO 4</a:t>
            </a:r>
            <a:endParaRPr lang="en-US" sz="110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indent="-228600">
              <a:buClr>
                <a:srgbClr val="000000"/>
              </a:buClr>
              <a:buSzPts val="4400"/>
            </a:pPr>
            <a:r>
              <a:rPr lang="en-US" sz="4400" b="1">
                <a:solidFill>
                  <a:srgbClr val="9200EE"/>
                </a:solidFill>
                <a:latin typeface="Montserrat Black"/>
                <a:sym typeface="Montserrat Black"/>
              </a:rPr>
              <a:t>Entrenar en </a:t>
            </a:r>
            <a:r>
              <a:rPr lang="en-US" sz="4400" b="1" err="1">
                <a:solidFill>
                  <a:srgbClr val="9200EE"/>
                </a:solidFill>
                <a:latin typeface="Montserrat Black"/>
                <a:sym typeface="Montserrat Black"/>
              </a:rPr>
              <a:t>remoto</a:t>
            </a:r>
            <a:r>
              <a:rPr lang="en-US" sz="4400" b="1">
                <a:solidFill>
                  <a:srgbClr val="9200EE"/>
                </a:solidFill>
                <a:latin typeface="Montserrat Black"/>
                <a:sym typeface="Montserrat Black"/>
              </a:rPr>
              <a:t> </a:t>
            </a:r>
          </a:p>
          <a:p>
            <a:pPr marL="457200" indent="-228600">
              <a:buClr>
                <a:srgbClr val="000000"/>
              </a:buClr>
              <a:buSzPts val="4400"/>
            </a:pPr>
            <a:r>
              <a:rPr lang="en-US" sz="4400" b="1">
                <a:solidFill>
                  <a:srgbClr val="9200EE"/>
                </a:solidFill>
                <a:latin typeface="Montserrat Black"/>
                <a:sym typeface="Montserrat Black"/>
              </a:rPr>
              <a:t>con </a:t>
            </a:r>
            <a:r>
              <a:rPr lang="en-US" sz="4400" b="1" err="1">
                <a:solidFill>
                  <a:srgbClr val="9200EE"/>
                </a:solidFill>
                <a:latin typeface="Montserrat Black"/>
                <a:sym typeface="Montserrat Black"/>
              </a:rPr>
              <a:t>JupyterHub</a:t>
            </a:r>
            <a:endParaRPr lang="en-US" sz="4400" b="1">
              <a:solidFill>
                <a:srgbClr val="9200EE"/>
              </a:solidFill>
              <a:latin typeface="Montserrat Black"/>
              <a:sym typeface="Montserrat Black"/>
            </a:endParaRPr>
          </a:p>
        </p:txBody>
      </p:sp>
      <p:sp>
        <p:nvSpPr>
          <p:cNvPr id="5" name="Text 3"/>
          <p:cNvSpPr/>
          <p:nvPr/>
        </p:nvSpPr>
        <p:spPr>
          <a:xfrm>
            <a:off x="502920" y="2709657"/>
            <a:ext cx="5486400" cy="3099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30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EMR incluye JupyterHub (o JupyterEnterpriseGateway) preinstalado y conectado a Spark/Livy: cada notebook envía el trabajo al clúster, no a tu PC.</a:t>
            </a:r>
            <a:endParaRPr lang="en-US" sz="130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30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túnel SSH del paso anterior, abres https://localhost:9443 en el navegador de tu computador y accedes a JupyterHub del master.</a:t>
            </a:r>
            <a:endParaRPr lang="en-US" sz="130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30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Inicias sesión con el usuario configurado en EMR y creas un notebook con kernel "PySpark": Spark ya viene inicializado (SparkSession disponible como spark).</a:t>
            </a:r>
            <a:endParaRPr lang="en-US" sz="130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30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cómputo pesado —lectura de datos, transformaciones, entrenamiento del modelo— corre en los nodos core/task; tu laptop solo muestra los resultados.</a:t>
            </a:r>
            <a:endParaRPr lang="en-US" sz="1300"/>
          </a:p>
        </p:txBody>
      </p:sp>
      <p:sp>
        <p:nvSpPr>
          <p:cNvPr id="6" name="Shape 4"/>
          <p:cNvSpPr/>
          <p:nvPr/>
        </p:nvSpPr>
        <p:spPr>
          <a:xfrm>
            <a:off x="5943599" y="2140601"/>
            <a:ext cx="5590515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9AA7BD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6217920" y="2323481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PC  ⇄  Clúster EMR</a:t>
            </a:r>
            <a:endParaRPr lang="en-US" sz="1400"/>
          </a:p>
        </p:txBody>
      </p:sp>
      <p:sp>
        <p:nvSpPr>
          <p:cNvPr id="8" name="Shape 6"/>
          <p:cNvSpPr/>
          <p:nvPr/>
        </p:nvSpPr>
        <p:spPr>
          <a:xfrm>
            <a:off x="6217920" y="2872121"/>
            <a:ext cx="2103120" cy="822960"/>
          </a:xfrm>
          <a:prstGeom prst="roundRect">
            <a:avLst>
              <a:gd name="adj" fmla="val 8889"/>
            </a:avLst>
          </a:prstGeom>
          <a:solidFill>
            <a:srgbClr val="FBEAD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6217920" y="2872121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computador</a:t>
            </a:r>
            <a:endParaRPr lang="en-US" sz="1050"/>
          </a:p>
          <a:p>
            <a:pPr marL="0" indent="0" algn="ctr">
              <a:buNone/>
            </a:pPr>
            <a:r>
              <a:rPr lang="en-US" sz="105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(VS Code / navegador)</a:t>
            </a:r>
            <a:endParaRPr lang="en-US" sz="1050"/>
          </a:p>
        </p:txBody>
      </p:sp>
      <p:sp>
        <p:nvSpPr>
          <p:cNvPr id="10" name="Shape 8"/>
          <p:cNvSpPr/>
          <p:nvPr/>
        </p:nvSpPr>
        <p:spPr>
          <a:xfrm>
            <a:off x="8321040" y="3237881"/>
            <a:ext cx="960120" cy="0"/>
          </a:xfrm>
          <a:prstGeom prst="line">
            <a:avLst/>
          </a:prstGeom>
          <a:noFill/>
          <a:ln w="25400">
            <a:solidFill>
              <a:srgbClr val="0E7C86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8275320" y="2945273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túnel SSH</a:t>
            </a:r>
            <a:endParaRPr lang="en-US" sz="950"/>
          </a:p>
        </p:txBody>
      </p:sp>
      <p:sp>
        <p:nvSpPr>
          <p:cNvPr id="12" name="Shape 10"/>
          <p:cNvSpPr/>
          <p:nvPr/>
        </p:nvSpPr>
        <p:spPr>
          <a:xfrm>
            <a:off x="9281160" y="2872121"/>
            <a:ext cx="1783080" cy="822960"/>
          </a:xfrm>
          <a:prstGeom prst="roundRect">
            <a:avLst>
              <a:gd name="adj" fmla="val 8889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9281160" y="2872121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 Master</a:t>
            </a:r>
            <a:endParaRPr lang="en-US" sz="1000"/>
          </a:p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JupyterHub + Livy</a:t>
            </a:r>
            <a:endParaRPr lang="en-US" sz="1000"/>
          </a:p>
        </p:txBody>
      </p:sp>
      <p:sp>
        <p:nvSpPr>
          <p:cNvPr id="14" name="Shape 12"/>
          <p:cNvSpPr/>
          <p:nvPr/>
        </p:nvSpPr>
        <p:spPr>
          <a:xfrm>
            <a:off x="10149840" y="3695081"/>
            <a:ext cx="457200" cy="621792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6217920" y="4335161"/>
            <a:ext cx="1691640" cy="777240"/>
          </a:xfrm>
          <a:prstGeom prst="roundRect">
            <a:avLst>
              <a:gd name="adj" fmla="val 8235"/>
            </a:avLst>
          </a:prstGeom>
          <a:solidFill>
            <a:srgbClr val="D9EEE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6217920" y="4335161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0A5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 Core 1</a:t>
            </a:r>
            <a:endParaRPr lang="en-US" sz="950"/>
          </a:p>
          <a:p>
            <a:pPr marL="0" indent="0" algn="ctr">
              <a:buNone/>
            </a:pPr>
            <a:r>
              <a:rPr lang="en-US" sz="950" b="1">
                <a:solidFill>
                  <a:srgbClr val="0A5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Executors Spark</a:t>
            </a:r>
            <a:endParaRPr lang="en-US" sz="950"/>
          </a:p>
        </p:txBody>
      </p:sp>
      <p:sp>
        <p:nvSpPr>
          <p:cNvPr id="17" name="Shape 15"/>
          <p:cNvSpPr/>
          <p:nvPr/>
        </p:nvSpPr>
        <p:spPr>
          <a:xfrm flipV="1">
            <a:off x="7059169" y="3713369"/>
            <a:ext cx="3090666" cy="621792"/>
          </a:xfrm>
          <a:prstGeom prst="line">
            <a:avLst/>
          </a:prstGeom>
          <a:noFill/>
          <a:ln w="1905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7955280" y="4335161"/>
            <a:ext cx="1691640" cy="777240"/>
          </a:xfrm>
          <a:prstGeom prst="roundRect">
            <a:avLst>
              <a:gd name="adj" fmla="val 8235"/>
            </a:avLst>
          </a:prstGeom>
          <a:solidFill>
            <a:srgbClr val="D9EEE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7955280" y="4335161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0A5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 Core 2</a:t>
            </a:r>
            <a:endParaRPr lang="en-US" sz="950"/>
          </a:p>
          <a:p>
            <a:pPr marL="0" indent="0" algn="ctr">
              <a:buNone/>
            </a:pPr>
            <a:r>
              <a:rPr lang="en-US" sz="950" b="1">
                <a:solidFill>
                  <a:srgbClr val="0A5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Executors Spark</a:t>
            </a:r>
            <a:endParaRPr lang="en-US" sz="950"/>
          </a:p>
        </p:txBody>
      </p:sp>
      <p:sp>
        <p:nvSpPr>
          <p:cNvPr id="20" name="Shape 18"/>
          <p:cNvSpPr/>
          <p:nvPr/>
        </p:nvSpPr>
        <p:spPr>
          <a:xfrm flipV="1">
            <a:off x="8778240" y="3713369"/>
            <a:ext cx="1371594" cy="621792"/>
          </a:xfrm>
          <a:prstGeom prst="line">
            <a:avLst/>
          </a:prstGeom>
          <a:noFill/>
          <a:ln w="1905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9692640" y="4335161"/>
            <a:ext cx="1691640" cy="777240"/>
          </a:xfrm>
          <a:prstGeom prst="roundRect">
            <a:avLst>
              <a:gd name="adj" fmla="val 8235"/>
            </a:avLst>
          </a:prstGeom>
          <a:solidFill>
            <a:srgbClr val="D9EEE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9692640" y="4335161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0A5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 Core 3</a:t>
            </a:r>
            <a:endParaRPr lang="en-US" sz="950"/>
          </a:p>
          <a:p>
            <a:pPr marL="0" indent="0" algn="ctr">
              <a:buNone/>
            </a:pPr>
            <a:r>
              <a:rPr lang="en-US" sz="950" b="1">
                <a:solidFill>
                  <a:srgbClr val="0A5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Executors Spark</a:t>
            </a:r>
            <a:endParaRPr lang="en-US" sz="950"/>
          </a:p>
        </p:txBody>
      </p:sp>
      <p:sp>
        <p:nvSpPr>
          <p:cNvPr id="24" name="Text 22"/>
          <p:cNvSpPr/>
          <p:nvPr/>
        </p:nvSpPr>
        <p:spPr>
          <a:xfrm>
            <a:off x="6217920" y="5341001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notebook vive en tu navegador; la ejecución de PySpark ocurre físicamente en los nodos del clúster.</a:t>
            </a:r>
            <a:endParaRPr lang="en-US" sz="1100"/>
          </a:p>
        </p:txBody>
      </p:sp>
      <p:sp>
        <p:nvSpPr>
          <p:cNvPr id="25" name="Text 23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en AWS · EMR + PySpark ML</a:t>
            </a:r>
            <a:endParaRPr lang="en-US" sz="900"/>
          </a:p>
        </p:txBody>
      </p:sp>
      <p:sp>
        <p:nvSpPr>
          <p:cNvPr id="26" name="Text 24"/>
          <p:cNvSpPr/>
          <p:nvPr/>
        </p:nvSpPr>
        <p:spPr>
          <a:xfrm>
            <a:off x="7955280" y="652881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UNAB · Ingeniería de Sistemas</a:t>
            </a:r>
            <a:endParaRPr lang="en-US" sz="900"/>
          </a:p>
        </p:txBody>
      </p:sp>
      <p:sp>
        <p:nvSpPr>
          <p:cNvPr id="27" name="Text 25"/>
          <p:cNvSpPr/>
          <p:nvPr/>
        </p:nvSpPr>
        <p:spPr>
          <a:xfrm>
            <a:off x="1161288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D9EEE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0A5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PRÁCTICO</a:t>
            </a:r>
            <a:endParaRPr lang="en-US" sz="1100"/>
          </a:p>
        </p:txBody>
      </p:sp>
      <p:sp>
        <p:nvSpPr>
          <p:cNvPr id="4" name="Text 2"/>
          <p:cNvSpPr/>
          <p:nvPr/>
        </p:nvSpPr>
        <p:spPr>
          <a:xfrm>
            <a:off x="389299" y="665430"/>
            <a:ext cx="11064240" cy="1354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indent="-228600">
              <a:buClr>
                <a:srgbClr val="000000"/>
              </a:buClr>
              <a:buSzPts val="4400"/>
            </a:pPr>
            <a:r>
              <a:rPr lang="en-US" sz="4400" b="1">
                <a:solidFill>
                  <a:srgbClr val="9200EE"/>
                </a:solidFill>
                <a:latin typeface="Montserrat Black"/>
                <a:sym typeface="Montserrat Black"/>
              </a:rPr>
              <a:t>Pipeline de Machine </a:t>
            </a:r>
          </a:p>
          <a:p>
            <a:pPr marL="457200" indent="-228600">
              <a:buClr>
                <a:srgbClr val="000000"/>
              </a:buClr>
              <a:buSzPts val="4400"/>
            </a:pPr>
            <a:r>
              <a:rPr lang="en-US" sz="4400" b="1">
                <a:solidFill>
                  <a:srgbClr val="9200EE"/>
                </a:solidFill>
                <a:latin typeface="Montserrat Black"/>
                <a:sym typeface="Montserrat Black"/>
              </a:rPr>
              <a:t>Learning con </a:t>
            </a:r>
            <a:r>
              <a:rPr lang="en-US" sz="4400" b="1" err="1">
                <a:solidFill>
                  <a:srgbClr val="9200EE"/>
                </a:solidFill>
                <a:latin typeface="Montserrat Black"/>
                <a:sym typeface="Montserrat Black"/>
              </a:rPr>
              <a:t>PySpark</a:t>
            </a:r>
            <a:r>
              <a:rPr lang="en-US" sz="4400" b="1">
                <a:solidFill>
                  <a:srgbClr val="9200EE"/>
                </a:solidFill>
                <a:latin typeface="Montserrat Black"/>
                <a:sym typeface="Montserrat Black"/>
              </a:rPr>
              <a:t> </a:t>
            </a:r>
            <a:r>
              <a:rPr lang="en-US" sz="4400" b="1" err="1">
                <a:solidFill>
                  <a:srgbClr val="9200EE"/>
                </a:solidFill>
                <a:latin typeface="Montserrat Black"/>
                <a:sym typeface="Montserrat Black"/>
              </a:rPr>
              <a:t>MLlib</a:t>
            </a:r>
            <a:endParaRPr lang="en-US" sz="4400" b="1">
              <a:solidFill>
                <a:srgbClr val="9200EE"/>
              </a:solidFill>
              <a:latin typeface="Montserrat Black"/>
              <a:sym typeface="Montserrat Black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17899" y="2148840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9AA7BD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800779" y="2221992"/>
            <a:ext cx="4983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0A5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SparkSession</a:t>
            </a:r>
            <a:endParaRPr lang="en-US" sz="1250"/>
          </a:p>
        </p:txBody>
      </p:sp>
      <p:sp>
        <p:nvSpPr>
          <p:cNvPr id="7" name="Text 5"/>
          <p:cNvSpPr/>
          <p:nvPr/>
        </p:nvSpPr>
        <p:spPr>
          <a:xfrm>
            <a:off x="800779" y="2514600"/>
            <a:ext cx="4983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entrada a Spark; ya disponible como "spark" en el kernel PySpark de JupyterHub.</a:t>
            </a:r>
            <a:endParaRPr lang="en-US" sz="1050"/>
          </a:p>
        </p:txBody>
      </p:sp>
      <p:sp>
        <p:nvSpPr>
          <p:cNvPr id="8" name="Shape 6"/>
          <p:cNvSpPr/>
          <p:nvPr/>
        </p:nvSpPr>
        <p:spPr>
          <a:xfrm>
            <a:off x="6287179" y="2148840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9AA7BD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6470059" y="2221992"/>
            <a:ext cx="4983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0A5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Carga de datos</a:t>
            </a:r>
            <a:endParaRPr lang="en-US" sz="1250"/>
          </a:p>
        </p:txBody>
      </p:sp>
      <p:sp>
        <p:nvSpPr>
          <p:cNvPr id="10" name="Text 8"/>
          <p:cNvSpPr/>
          <p:nvPr/>
        </p:nvSpPr>
        <p:spPr>
          <a:xfrm>
            <a:off x="6470059" y="2514600"/>
            <a:ext cx="4983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spark.read.csv() leyendo directamente la URL de GitHub, con sep=";" y header=True, distribuido entre los nodos.</a:t>
            </a:r>
            <a:endParaRPr lang="en-US" sz="1050"/>
          </a:p>
        </p:txBody>
      </p:sp>
      <p:sp>
        <p:nvSpPr>
          <p:cNvPr id="11" name="Shape 9"/>
          <p:cNvSpPr/>
          <p:nvPr/>
        </p:nvSpPr>
        <p:spPr>
          <a:xfrm>
            <a:off x="617899" y="3200400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9AA7BD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800779" y="3273552"/>
            <a:ext cx="4983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0A5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Exploración (EDA)</a:t>
            </a:r>
            <a:endParaRPr lang="en-US" sz="1250"/>
          </a:p>
        </p:txBody>
      </p:sp>
      <p:sp>
        <p:nvSpPr>
          <p:cNvPr id="13" name="Text 11"/>
          <p:cNvSpPr/>
          <p:nvPr/>
        </p:nvSpPr>
        <p:spPr>
          <a:xfrm>
            <a:off x="800779" y="3566160"/>
            <a:ext cx="4983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printSchema(), describe(), conteo de nulos por columna — todo ejecutado en paralelo sobre el clúster.</a:t>
            </a:r>
            <a:endParaRPr lang="en-US" sz="1050"/>
          </a:p>
        </p:txBody>
      </p:sp>
      <p:sp>
        <p:nvSpPr>
          <p:cNvPr id="14" name="Shape 12"/>
          <p:cNvSpPr/>
          <p:nvPr/>
        </p:nvSpPr>
        <p:spPr>
          <a:xfrm>
            <a:off x="6287179" y="3200400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9AA7BD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6470059" y="3273552"/>
            <a:ext cx="4983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0A5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Limpieza</a:t>
            </a:r>
            <a:endParaRPr lang="en-US" sz="1250"/>
          </a:p>
        </p:txBody>
      </p:sp>
      <p:sp>
        <p:nvSpPr>
          <p:cNvPr id="16" name="Text 14"/>
          <p:cNvSpPr/>
          <p:nvPr/>
        </p:nvSpPr>
        <p:spPr>
          <a:xfrm>
            <a:off x="6470059" y="3566160"/>
            <a:ext cx="4983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o imputar nulos, convertir tipos de datos (precios y áreas a numérico).</a:t>
            </a:r>
            <a:endParaRPr lang="en-US" sz="1050"/>
          </a:p>
        </p:txBody>
      </p:sp>
      <p:sp>
        <p:nvSpPr>
          <p:cNvPr id="17" name="Shape 15"/>
          <p:cNvSpPr/>
          <p:nvPr/>
        </p:nvSpPr>
        <p:spPr>
          <a:xfrm>
            <a:off x="617899" y="4251960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9AA7BD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800779" y="4325112"/>
            <a:ext cx="4983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0A5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Ingeniería de características</a:t>
            </a:r>
            <a:endParaRPr lang="en-US" sz="1250"/>
          </a:p>
        </p:txBody>
      </p:sp>
      <p:sp>
        <p:nvSpPr>
          <p:cNvPr id="19" name="Text 17"/>
          <p:cNvSpPr/>
          <p:nvPr/>
        </p:nvSpPr>
        <p:spPr>
          <a:xfrm>
            <a:off x="800779" y="4617720"/>
            <a:ext cx="4983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StringIndexer + OneHotEncoder para variables categóricas; VectorAssembler para unir todo en una columna "features".</a:t>
            </a:r>
            <a:endParaRPr lang="en-US" sz="1050"/>
          </a:p>
        </p:txBody>
      </p:sp>
      <p:sp>
        <p:nvSpPr>
          <p:cNvPr id="20" name="Shape 18"/>
          <p:cNvSpPr/>
          <p:nvPr/>
        </p:nvSpPr>
        <p:spPr>
          <a:xfrm>
            <a:off x="6287179" y="4251960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9AA7BD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6470059" y="4325112"/>
            <a:ext cx="4983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0A5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Train / test split</a:t>
            </a:r>
            <a:endParaRPr lang="en-US" sz="1250"/>
          </a:p>
        </p:txBody>
      </p:sp>
      <p:sp>
        <p:nvSpPr>
          <p:cNvPr id="22" name="Text 20"/>
          <p:cNvSpPr/>
          <p:nvPr/>
        </p:nvSpPr>
        <p:spPr>
          <a:xfrm>
            <a:off x="6470059" y="4617720"/>
            <a:ext cx="4983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randomSplit([0.8, 0.2]) — 80% para entrenar, 20% para evaluar.</a:t>
            </a:r>
            <a:endParaRPr lang="en-US" sz="1050"/>
          </a:p>
        </p:txBody>
      </p:sp>
      <p:sp>
        <p:nvSpPr>
          <p:cNvPr id="23" name="Shape 21"/>
          <p:cNvSpPr/>
          <p:nvPr/>
        </p:nvSpPr>
        <p:spPr>
          <a:xfrm>
            <a:off x="617899" y="5303520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9AA7BD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800779" y="5376672"/>
            <a:ext cx="4983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0A5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Modelo</a:t>
            </a:r>
            <a:endParaRPr lang="en-US" sz="1250"/>
          </a:p>
        </p:txBody>
      </p:sp>
      <p:sp>
        <p:nvSpPr>
          <p:cNvPr id="25" name="Text 23"/>
          <p:cNvSpPr/>
          <p:nvPr/>
        </p:nvSpPr>
        <p:spPr>
          <a:xfrm>
            <a:off x="800779" y="5669280"/>
            <a:ext cx="4983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RandomForestRegressor o LinearRegression de pyspark.ml.regression, entrenado sobre "features" para predecir "Precio".</a:t>
            </a:r>
            <a:endParaRPr lang="en-US" sz="1050"/>
          </a:p>
        </p:txBody>
      </p:sp>
      <p:sp>
        <p:nvSpPr>
          <p:cNvPr id="26" name="Shape 24"/>
          <p:cNvSpPr/>
          <p:nvPr/>
        </p:nvSpPr>
        <p:spPr>
          <a:xfrm>
            <a:off x="6287179" y="5303520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9AA7BD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6470059" y="5376672"/>
            <a:ext cx="4983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0A5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Evaluación</a:t>
            </a:r>
            <a:endParaRPr lang="en-US" sz="1250"/>
          </a:p>
        </p:txBody>
      </p:sp>
      <p:sp>
        <p:nvSpPr>
          <p:cNvPr id="28" name="Text 26"/>
          <p:cNvSpPr/>
          <p:nvPr/>
        </p:nvSpPr>
        <p:spPr>
          <a:xfrm>
            <a:off x="6470059" y="5669280"/>
            <a:ext cx="4983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RegressionEvaluator con métricas RMSE y R² sobre el conjunto de prueba.</a:t>
            </a:r>
            <a:endParaRPr lang="en-US" sz="1050"/>
          </a:p>
        </p:txBody>
      </p:sp>
      <p:sp>
        <p:nvSpPr>
          <p:cNvPr id="29" name="Text 27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en AWS · EMR + PySpark ML</a:t>
            </a:r>
            <a:endParaRPr lang="en-US" sz="900"/>
          </a:p>
        </p:txBody>
      </p:sp>
      <p:sp>
        <p:nvSpPr>
          <p:cNvPr id="30" name="Text 28"/>
          <p:cNvSpPr/>
          <p:nvPr/>
        </p:nvSpPr>
        <p:spPr>
          <a:xfrm>
            <a:off x="7955280" y="652881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UNAB · Ingeniería de Sistemas</a:t>
            </a:r>
            <a:endParaRPr lang="en-US" sz="900"/>
          </a:p>
        </p:txBody>
      </p:sp>
      <p:sp>
        <p:nvSpPr>
          <p:cNvPr id="31" name="Text 29"/>
          <p:cNvSpPr/>
          <p:nvPr/>
        </p:nvSpPr>
        <p:spPr>
          <a:xfrm>
            <a:off x="1161288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FFA50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0A5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PRÁCTICO</a:t>
            </a:r>
            <a:endParaRPr lang="en-US" sz="1100"/>
          </a:p>
        </p:txBody>
      </p:sp>
      <p:sp>
        <p:nvSpPr>
          <p:cNvPr id="4" name="Text 2"/>
          <p:cNvSpPr/>
          <p:nvPr/>
        </p:nvSpPr>
        <p:spPr>
          <a:xfrm>
            <a:off x="365760" y="1031371"/>
            <a:ext cx="11064240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indent="-228600">
              <a:buClr>
                <a:srgbClr val="000000"/>
              </a:buClr>
              <a:buSzPts val="4400"/>
            </a:pPr>
            <a:r>
              <a:rPr lang="en-US" sz="4400" b="1">
                <a:solidFill>
                  <a:srgbClr val="9200EE"/>
                </a:solidFill>
                <a:latin typeface="Montserrat Black"/>
                <a:sym typeface="Montserrat Black"/>
              </a:rPr>
              <a:t>El dataset: Peritazgo.csv</a:t>
            </a:r>
          </a:p>
        </p:txBody>
      </p:sp>
      <p:sp>
        <p:nvSpPr>
          <p:cNvPr id="5" name="Text 3"/>
          <p:cNvSpPr/>
          <p:nvPr/>
        </p:nvSpPr>
        <p:spPr>
          <a:xfrm>
            <a:off x="228600" y="2367662"/>
            <a:ext cx="5394960" cy="3493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280" b="1">
                <a:solidFill>
                  <a:srgbClr val="0A5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</a:t>
            </a:r>
            <a:endParaRPr lang="en-US" sz="1280"/>
          </a:p>
          <a:p>
            <a:pPr>
              <a:lnSpc>
                <a:spcPct val="125000"/>
              </a:lnSpc>
              <a:buSzPct val="100000"/>
            </a:pPr>
            <a:r>
              <a:rPr lang="en-US" sz="128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raw.githubusercontent.com/adiacla/bigdata/.../Peritazgo.csv — accesible directamente desde el clúster (no hace falta descargarlo a tu PC).</a:t>
            </a:r>
            <a:endParaRPr lang="en-US" sz="128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280" b="1">
                <a:solidFill>
                  <a:srgbClr val="0A5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</a:t>
            </a:r>
            <a:endParaRPr lang="en-US" sz="1280"/>
          </a:p>
          <a:p>
            <a:pPr>
              <a:lnSpc>
                <a:spcPct val="125000"/>
              </a:lnSpc>
              <a:buSzPct val="100000"/>
            </a:pPr>
            <a:r>
              <a:rPr lang="en-US" sz="128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de venta de propiedades con atributos físicos, de ubicación y de mercado — el escenario clásico de un "peritazgo" o avalúo inmobiliario.</a:t>
            </a:r>
            <a:endParaRPr lang="en-US" sz="128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280" b="1">
                <a:solidFill>
                  <a:srgbClr val="0A5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</a:t>
            </a:r>
            <a:endParaRPr lang="en-US" sz="1280"/>
          </a:p>
          <a:p>
            <a:pPr>
              <a:lnSpc>
                <a:spcPct val="125000"/>
              </a:lnSpc>
              <a:buSzPct val="100000"/>
            </a:pPr>
            <a:r>
              <a:rPr lang="en-US" sz="128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separado por punto y coma (;), con columnas en español: Suburbio, Direccion, Precio, habitaciones, Banos, AreaCons, Distancia, Region, entre otras.</a:t>
            </a:r>
            <a:endParaRPr lang="en-US" sz="128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280" b="1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del ejercicio</a:t>
            </a:r>
            <a:endParaRPr lang="en-US" sz="1280"/>
          </a:p>
          <a:p>
            <a:pPr>
              <a:lnSpc>
                <a:spcPct val="125000"/>
              </a:lnSpc>
              <a:buSzPct val="100000"/>
            </a:pPr>
            <a:r>
              <a:rPr lang="en-US" sz="128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Entrenar un modelo de regresión en PySpark MLlib que prediga la columna Precio a partir de las características de cada propiedad.</a:t>
            </a:r>
            <a:endParaRPr lang="en-US" sz="1280"/>
          </a:p>
        </p:txBody>
      </p:sp>
      <p:sp>
        <p:nvSpPr>
          <p:cNvPr id="6" name="Shape 4"/>
          <p:cNvSpPr/>
          <p:nvPr/>
        </p:nvSpPr>
        <p:spPr>
          <a:xfrm>
            <a:off x="5623560" y="1893034"/>
            <a:ext cx="530352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9AA7BD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5897880" y="2075914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Columnas principales</a:t>
            </a:r>
            <a:endParaRPr lang="en-US" sz="1400"/>
          </a:p>
        </p:txBody>
      </p:sp>
      <p:sp>
        <p:nvSpPr>
          <p:cNvPr id="8" name="Shape 6"/>
          <p:cNvSpPr/>
          <p:nvPr/>
        </p:nvSpPr>
        <p:spPr>
          <a:xfrm>
            <a:off x="5897880" y="2560546"/>
            <a:ext cx="109728" cy="109728"/>
          </a:xfrm>
          <a:prstGeom prst="round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6172200" y="245996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 </a:t>
            </a:r>
            <a:r>
              <a:rPr lang="en-US" sz="110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objetivo (target) — numérica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5897880" y="3063466"/>
            <a:ext cx="109728" cy="109728"/>
          </a:xfrm>
          <a:prstGeom prst="round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6172200" y="296288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habitaciones / Banos / Carros  </a:t>
            </a:r>
            <a:r>
              <a:rPr lang="en-US" sz="110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 numéricas de la propiedad</a:t>
            </a:r>
            <a:endParaRPr lang="en-US" sz="1200"/>
          </a:p>
        </p:txBody>
      </p:sp>
      <p:sp>
        <p:nvSpPr>
          <p:cNvPr id="12" name="Shape 10"/>
          <p:cNvSpPr/>
          <p:nvPr/>
        </p:nvSpPr>
        <p:spPr>
          <a:xfrm>
            <a:off x="5897880" y="3566386"/>
            <a:ext cx="109728" cy="109728"/>
          </a:xfrm>
          <a:prstGeom prst="round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6172200" y="346580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AreaCons / AreaNoConstruida  </a:t>
            </a:r>
            <a:r>
              <a:rPr lang="en-US" sz="110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construida y de terreno (m²)</a:t>
            </a:r>
            <a:endParaRPr lang="en-US" sz="1200"/>
          </a:p>
        </p:txBody>
      </p:sp>
      <p:sp>
        <p:nvSpPr>
          <p:cNvPr id="14" name="Shape 12"/>
          <p:cNvSpPr/>
          <p:nvPr/>
        </p:nvSpPr>
        <p:spPr>
          <a:xfrm>
            <a:off x="5897880" y="4069306"/>
            <a:ext cx="109728" cy="109728"/>
          </a:xfrm>
          <a:prstGeom prst="round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6172200" y="396872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Distancia  </a:t>
            </a:r>
            <a:r>
              <a:rPr lang="en-US" sz="110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Distancia al centro (km)</a:t>
            </a:r>
            <a:endParaRPr lang="en-US" sz="1200"/>
          </a:p>
        </p:txBody>
      </p:sp>
      <p:sp>
        <p:nvSpPr>
          <p:cNvPr id="16" name="Shape 14"/>
          <p:cNvSpPr/>
          <p:nvPr/>
        </p:nvSpPr>
        <p:spPr>
          <a:xfrm>
            <a:off x="5897880" y="4572226"/>
            <a:ext cx="109728" cy="109728"/>
          </a:xfrm>
          <a:prstGeom prst="round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6172200" y="447164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Suburbio / Region / Codigo postal  </a:t>
            </a:r>
            <a:r>
              <a:rPr lang="en-US" sz="110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categóricas de ubicación</a:t>
            </a:r>
            <a:endParaRPr lang="en-US" sz="1200"/>
          </a:p>
        </p:txBody>
      </p:sp>
      <p:sp>
        <p:nvSpPr>
          <p:cNvPr id="18" name="Shape 16"/>
          <p:cNvSpPr/>
          <p:nvPr/>
        </p:nvSpPr>
        <p:spPr>
          <a:xfrm>
            <a:off x="5897880" y="5075146"/>
            <a:ext cx="109728" cy="109728"/>
          </a:xfrm>
          <a:prstGeom prst="round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6172200" y="497456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/ Metodo / Vendedor  </a:t>
            </a:r>
            <a:r>
              <a:rPr lang="en-US" sz="110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categóricas del mercado</a:t>
            </a:r>
            <a:endParaRPr lang="en-US" sz="1200"/>
          </a:p>
        </p:txBody>
      </p:sp>
      <p:sp>
        <p:nvSpPr>
          <p:cNvPr id="20" name="Shape 18"/>
          <p:cNvSpPr/>
          <p:nvPr/>
        </p:nvSpPr>
        <p:spPr>
          <a:xfrm>
            <a:off x="5897880" y="5578066"/>
            <a:ext cx="109728" cy="109728"/>
          </a:xfrm>
          <a:prstGeom prst="round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6172200" y="547748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Latitud / Longitud  </a:t>
            </a:r>
            <a:r>
              <a:rPr lang="en-US" sz="110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Coordenadas geográficas</a:t>
            </a:r>
            <a:endParaRPr lang="en-US" sz="1200"/>
          </a:p>
        </p:txBody>
      </p:sp>
      <p:sp>
        <p:nvSpPr>
          <p:cNvPr id="22" name="Text 20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en AWS · EMR + PySpark ML</a:t>
            </a:r>
            <a:endParaRPr lang="en-US" sz="900"/>
          </a:p>
        </p:txBody>
      </p:sp>
      <p:sp>
        <p:nvSpPr>
          <p:cNvPr id="23" name="Text 21"/>
          <p:cNvSpPr/>
          <p:nvPr/>
        </p:nvSpPr>
        <p:spPr>
          <a:xfrm>
            <a:off x="7955280" y="652881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UNAB · Ingeniería de Sistemas</a:t>
            </a:r>
            <a:endParaRPr lang="en-US" sz="900"/>
          </a:p>
        </p:txBody>
      </p:sp>
      <p:sp>
        <p:nvSpPr>
          <p:cNvPr id="24" name="Text 22"/>
          <p:cNvSpPr/>
          <p:nvPr/>
        </p:nvSpPr>
        <p:spPr>
          <a:xfrm>
            <a:off x="1161288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FFA50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920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PRÁCTICO</a:t>
            </a:r>
            <a:endParaRPr lang="en-US" sz="1100">
              <a:solidFill>
                <a:srgbClr val="9200EE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05375" y="717733"/>
            <a:ext cx="11064240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indent="-228600">
              <a:buClr>
                <a:srgbClr val="000000"/>
              </a:buClr>
              <a:buSzPts val="4400"/>
            </a:pPr>
            <a:r>
              <a:rPr lang="en-US" sz="4000" b="1">
                <a:solidFill>
                  <a:srgbClr val="9200EE"/>
                </a:solidFill>
                <a:latin typeface="Montserrat Black"/>
                <a:sym typeface="Montserrat Black"/>
              </a:rPr>
              <a:t>Código de ejemplo: de </a:t>
            </a:r>
          </a:p>
          <a:p>
            <a:pPr marL="457200" indent="-228600">
              <a:buClr>
                <a:srgbClr val="000000"/>
              </a:buClr>
              <a:buSzPts val="4400"/>
            </a:pPr>
            <a:r>
              <a:rPr lang="en-US" sz="4000" b="1">
                <a:solidFill>
                  <a:srgbClr val="9200EE"/>
                </a:solidFill>
                <a:latin typeface="Montserrat Black"/>
                <a:sym typeface="Montserrat Black"/>
              </a:rPr>
              <a:t>la URL al </a:t>
            </a:r>
            <a:r>
              <a:rPr lang="en-US" sz="4000" b="1" err="1">
                <a:solidFill>
                  <a:srgbClr val="9200EE"/>
                </a:solidFill>
                <a:latin typeface="Montserrat Black"/>
                <a:sym typeface="Montserrat Black"/>
              </a:rPr>
              <a:t>modelo</a:t>
            </a:r>
            <a:r>
              <a:rPr lang="en-US" sz="4000" b="1">
                <a:solidFill>
                  <a:srgbClr val="9200EE"/>
                </a:solidFill>
                <a:latin typeface="Montserrat Black"/>
                <a:sym typeface="Montserrat Black"/>
              </a:rPr>
              <a:t> </a:t>
            </a:r>
            <a:r>
              <a:rPr lang="en-US" sz="4000" b="1" err="1">
                <a:solidFill>
                  <a:srgbClr val="9200EE"/>
                </a:solidFill>
                <a:latin typeface="Montserrat Black"/>
                <a:sym typeface="Montserrat Black"/>
              </a:rPr>
              <a:t>entrenado</a:t>
            </a:r>
            <a:endParaRPr lang="en-US" sz="4000" b="1">
              <a:solidFill>
                <a:srgbClr val="9200EE"/>
              </a:solidFill>
              <a:latin typeface="Montserrat Black"/>
              <a:sym typeface="Montserrat Black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05375" y="1910141"/>
            <a:ext cx="9872100" cy="4745139"/>
          </a:xfrm>
          <a:prstGeom prst="roundRect">
            <a:avLst>
              <a:gd name="adj" fmla="val 1455"/>
            </a:avLst>
          </a:prstGeom>
          <a:solidFill>
            <a:srgbClr val="0E1A30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9AA7BD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764295" y="2002059"/>
            <a:ext cx="10515600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r>
              <a:rPr lang="en-US" sz="1100" dirty="0" err="1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pyspark.sql</a:t>
            </a:r>
            <a:r>
              <a:rPr lang="en-US" sz="1100" dirty="0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import </a:t>
            </a:r>
            <a:r>
              <a:rPr lang="en-US" sz="1100" dirty="0" err="1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SparkSession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pyspark.ml import Pipeline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r>
              <a:rPr lang="en-US" sz="1100" dirty="0" err="1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pyspark.ml.feature</a:t>
            </a:r>
            <a:r>
              <a:rPr lang="en-US" sz="1100" dirty="0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import </a:t>
            </a:r>
            <a:r>
              <a:rPr lang="en-US" sz="1100" dirty="0" err="1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StringIndexer</a:t>
            </a:r>
            <a:r>
              <a:rPr lang="en-US" sz="1100" dirty="0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00" dirty="0" err="1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VectorAssembler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r>
              <a:rPr lang="en-US" sz="1100" dirty="0" err="1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pyspark.ml.regression</a:t>
            </a:r>
            <a:r>
              <a:rPr lang="en-US" sz="1100" dirty="0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import </a:t>
            </a:r>
            <a:r>
              <a:rPr lang="en-US" sz="1100" dirty="0" err="1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RandomForestRegressor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r>
              <a:rPr lang="en-US" sz="1100" dirty="0" err="1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pyspark.ml.evaluation</a:t>
            </a:r>
            <a:r>
              <a:rPr lang="en-US" sz="1100" dirty="0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import </a:t>
            </a:r>
            <a:r>
              <a:rPr lang="en-US" sz="1100" dirty="0" err="1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RegressionEvaluator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 err="1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</a:t>
            </a:r>
            <a:r>
              <a:rPr lang="en-US" sz="1100" dirty="0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"https://raw.githubusercontent.com/.../Peritazgo.csv"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 err="1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</a:t>
            </a:r>
            <a:r>
              <a:rPr lang="en-US" sz="1100" dirty="0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spark.read.csv(</a:t>
            </a:r>
            <a:r>
              <a:rPr lang="en-US" sz="1100" dirty="0" err="1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</a:t>
            </a:r>
            <a:r>
              <a:rPr lang="en-US" sz="1100" dirty="0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00" dirty="0" err="1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sep</a:t>
            </a:r>
            <a:r>
              <a:rPr lang="en-US" sz="1100" dirty="0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=";", header=True, </a:t>
            </a:r>
            <a:r>
              <a:rPr lang="en-US" sz="1100" dirty="0" err="1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inferSchema</a:t>
            </a:r>
            <a:r>
              <a:rPr lang="en-US" sz="1100" dirty="0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=True)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 err="1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</a:t>
            </a:r>
            <a:r>
              <a:rPr lang="en-US" sz="1100" dirty="0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100" dirty="0" err="1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df.dropna</a:t>
            </a:r>
            <a:r>
              <a:rPr lang="en-US" sz="1100" dirty="0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(subset=["</a:t>
            </a:r>
            <a:r>
              <a:rPr lang="en-US" sz="1100" dirty="0" err="1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Precio</a:t>
            </a:r>
            <a:r>
              <a:rPr lang="en-US" sz="1100" dirty="0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","</a:t>
            </a:r>
            <a:r>
              <a:rPr lang="en-US" sz="1100" dirty="0" err="1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habitaciones</a:t>
            </a:r>
            <a:r>
              <a:rPr lang="en-US" sz="1100" dirty="0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","</a:t>
            </a:r>
            <a:r>
              <a:rPr lang="en-US" sz="1100" dirty="0" err="1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AreaCons</a:t>
            </a:r>
            <a:r>
              <a:rPr lang="en-US" sz="1100" dirty="0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","Distancia"])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indexer = </a:t>
            </a:r>
            <a:r>
              <a:rPr lang="en-US" sz="1100" dirty="0" err="1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StringIndexer</a:t>
            </a:r>
            <a:r>
              <a:rPr lang="en-US" sz="1100" dirty="0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dirty="0" err="1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inputCol</a:t>
            </a:r>
            <a:r>
              <a:rPr lang="en-US" sz="1100" dirty="0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="Region", </a:t>
            </a:r>
            <a:r>
              <a:rPr lang="en-US" sz="1100" dirty="0" err="1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outputCol</a:t>
            </a:r>
            <a:r>
              <a:rPr lang="en-US" sz="1100" dirty="0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</a:t>
            </a:r>
            <a:r>
              <a:rPr lang="en-US" sz="1100" dirty="0" err="1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RegionIdx</a:t>
            </a:r>
            <a:r>
              <a:rPr lang="en-US" sz="1100" dirty="0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 </a:t>
            </a:r>
            <a:r>
              <a:rPr lang="en-US" sz="1100" dirty="0" err="1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handleInvalid</a:t>
            </a:r>
            <a:r>
              <a:rPr lang="en-US" sz="1100" dirty="0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="keep")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cols = ["habitaciones","Banos","Carros","AreaCons","Distancia","RegionIdx"]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assembler = </a:t>
            </a:r>
            <a:r>
              <a:rPr lang="en-US" sz="1100" dirty="0" err="1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VectorAssembler</a:t>
            </a:r>
            <a:r>
              <a:rPr lang="en-US" sz="1100" dirty="0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dirty="0" err="1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inputCols</a:t>
            </a:r>
            <a:r>
              <a:rPr lang="en-US" sz="1100" dirty="0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=cols, </a:t>
            </a:r>
            <a:r>
              <a:rPr lang="en-US" sz="1100" dirty="0" err="1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outputCol</a:t>
            </a:r>
            <a:r>
              <a:rPr lang="en-US" sz="1100" dirty="0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="features")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train, test = </a:t>
            </a:r>
            <a:r>
              <a:rPr lang="en-US" sz="1100" dirty="0" err="1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df.randomSplit</a:t>
            </a:r>
            <a:r>
              <a:rPr lang="en-US" sz="1100" dirty="0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([0.8, 0.2], seed=42)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 = </a:t>
            </a:r>
            <a:r>
              <a:rPr lang="en-US" sz="1100" dirty="0" err="1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RandomForestRegressor</a:t>
            </a:r>
            <a:r>
              <a:rPr lang="en-US" sz="1100" dirty="0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dirty="0" err="1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featuresCol</a:t>
            </a:r>
            <a:r>
              <a:rPr lang="en-US" sz="1100" dirty="0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="features", </a:t>
            </a:r>
            <a:r>
              <a:rPr lang="en-US" sz="1100" dirty="0" err="1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labelCol</a:t>
            </a:r>
            <a:r>
              <a:rPr lang="en-US" sz="1100" dirty="0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</a:t>
            </a:r>
            <a:r>
              <a:rPr lang="en-US" sz="1100" dirty="0" err="1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Precio</a:t>
            </a:r>
            <a:r>
              <a:rPr lang="en-US" sz="1100" dirty="0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 </a:t>
            </a:r>
            <a:r>
              <a:rPr lang="en-US" sz="1100" dirty="0" err="1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numTrees</a:t>
            </a:r>
            <a:r>
              <a:rPr lang="en-US" sz="1100" dirty="0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=100)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 = Pipeline(stages=[indexer, assembler, rf])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</a:t>
            </a:r>
            <a:r>
              <a:rPr lang="en-US" sz="1100" dirty="0" err="1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pipeline.fit</a:t>
            </a:r>
            <a:r>
              <a:rPr lang="en-US" sz="1100" dirty="0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(train)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predictions = </a:t>
            </a:r>
            <a:r>
              <a:rPr lang="en-US" sz="1100" dirty="0" err="1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model.transform</a:t>
            </a:r>
            <a:r>
              <a:rPr lang="en-US" sz="1100" dirty="0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(test)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evaluator = </a:t>
            </a:r>
            <a:r>
              <a:rPr lang="en-US" sz="1100" dirty="0" err="1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RegressionEvaluator</a:t>
            </a:r>
            <a:r>
              <a:rPr lang="en-US" sz="1100" dirty="0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dirty="0" err="1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labelCol</a:t>
            </a:r>
            <a:r>
              <a:rPr lang="en-US" sz="1100" dirty="0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</a:t>
            </a:r>
            <a:r>
              <a:rPr lang="en-US" sz="1100" dirty="0" err="1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Precio</a:t>
            </a:r>
            <a:r>
              <a:rPr lang="en-US" sz="1100" dirty="0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 </a:t>
            </a:r>
            <a:r>
              <a:rPr lang="en-US" sz="1100" dirty="0" err="1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predictionCol</a:t>
            </a:r>
            <a:r>
              <a:rPr lang="en-US" sz="1100" dirty="0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="prediction", </a:t>
            </a:r>
            <a:r>
              <a:rPr lang="en-US" sz="1100" dirty="0" err="1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metricName</a:t>
            </a:r>
            <a:r>
              <a:rPr lang="en-US" sz="1100" dirty="0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</a:t>
            </a:r>
            <a:r>
              <a:rPr lang="en-US" sz="1100" dirty="0" err="1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rmse</a:t>
            </a:r>
            <a:r>
              <a:rPr lang="en-US" sz="1100" dirty="0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")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print("RMSE:", </a:t>
            </a:r>
            <a:r>
              <a:rPr lang="en-US" sz="1100" dirty="0" err="1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evaluator.evaluate</a:t>
            </a:r>
            <a:r>
              <a:rPr lang="en-US" sz="1100" dirty="0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(predictions))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1310" y="6612779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en AWS · EMR + PySpark ML</a:t>
            </a:r>
            <a:endParaRPr lang="en-US" sz="900"/>
          </a:p>
        </p:txBody>
      </p:sp>
      <p:sp>
        <p:nvSpPr>
          <p:cNvPr id="8" name="Text 6"/>
          <p:cNvSpPr/>
          <p:nvPr/>
        </p:nvSpPr>
        <p:spPr>
          <a:xfrm>
            <a:off x="7955280" y="660501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UNAB · Ingeniería de Sistemas</a:t>
            </a:r>
            <a:endParaRPr lang="en-US" sz="900"/>
          </a:p>
        </p:txBody>
      </p:sp>
      <p:sp>
        <p:nvSpPr>
          <p:cNvPr id="9" name="Text 7"/>
          <p:cNvSpPr/>
          <p:nvPr/>
        </p:nvSpPr>
        <p:spPr>
          <a:xfrm>
            <a:off x="1161288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D9EEE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0A5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OBSERVABILIDAD</a:t>
            </a:r>
            <a:endParaRPr lang="en-US" sz="110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ver el trabajo distribuido en acción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9AA7BD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822960" y="2057400"/>
            <a:ext cx="384048" cy="384048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822960" y="2057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1371600" y="18745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UI</a:t>
            </a:r>
            <a:endParaRPr lang="en-US" sz="1350"/>
          </a:p>
        </p:txBody>
      </p:sp>
      <p:sp>
        <p:nvSpPr>
          <p:cNvPr id="9" name="Text 7"/>
          <p:cNvSpPr/>
          <p:nvPr/>
        </p:nvSpPr>
        <p:spPr>
          <a:xfrm>
            <a:off x="1371600" y="21945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>
                <a:solidFill>
                  <a:srgbClr val="0A5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 4040 (o vía History Server 18080)</a:t>
            </a:r>
            <a:endParaRPr lang="en-US" sz="1050"/>
          </a:p>
        </p:txBody>
      </p:sp>
      <p:sp>
        <p:nvSpPr>
          <p:cNvPr id="10" name="Text 8"/>
          <p:cNvSpPr/>
          <p:nvPr/>
        </p:nvSpPr>
        <p:spPr>
          <a:xfrm>
            <a:off x="3840480" y="1892808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los jobs, stages y tasks de tu aplicación PySpark: cuántas particiones se procesaron, en qué executor y cuánto tardó cada una.</a:t>
            </a:r>
            <a:endParaRPr lang="en-US" sz="1150"/>
          </a:p>
        </p:txBody>
      </p:sp>
      <p:sp>
        <p:nvSpPr>
          <p:cNvPr id="11" name="Shape 9"/>
          <p:cNvSpPr/>
          <p:nvPr/>
        </p:nvSpPr>
        <p:spPr>
          <a:xfrm>
            <a:off x="548640" y="28346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9AA7BD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822960" y="310896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822960" y="3108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/>
          </a:p>
        </p:txBody>
      </p:sp>
      <p:sp>
        <p:nvSpPr>
          <p:cNvPr id="14" name="Text 12"/>
          <p:cNvSpPr/>
          <p:nvPr/>
        </p:nvSpPr>
        <p:spPr>
          <a:xfrm>
            <a:off x="1371600" y="29260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YARN ResourceManager UI</a:t>
            </a:r>
            <a:endParaRPr lang="en-US" sz="1350"/>
          </a:p>
        </p:txBody>
      </p:sp>
      <p:sp>
        <p:nvSpPr>
          <p:cNvPr id="15" name="Text 13"/>
          <p:cNvSpPr/>
          <p:nvPr/>
        </p:nvSpPr>
        <p:spPr>
          <a:xfrm>
            <a:off x="1371600" y="32461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>
                <a:solidFill>
                  <a:srgbClr val="0A5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 8088</a:t>
            </a:r>
            <a:endParaRPr lang="en-US" sz="1050"/>
          </a:p>
        </p:txBody>
      </p:sp>
      <p:sp>
        <p:nvSpPr>
          <p:cNvPr id="16" name="Text 14"/>
          <p:cNvSpPr/>
          <p:nvPr/>
        </p:nvSpPr>
        <p:spPr>
          <a:xfrm>
            <a:off x="3840480" y="2944368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de todas las aplicaciones en el clúster, memoria y CPU asignados por nodo, y el estado de cada NodeManager.</a:t>
            </a:r>
            <a:endParaRPr lang="en-US" sz="1150"/>
          </a:p>
        </p:txBody>
      </p:sp>
      <p:sp>
        <p:nvSpPr>
          <p:cNvPr id="17" name="Shape 15"/>
          <p:cNvSpPr/>
          <p:nvPr/>
        </p:nvSpPr>
        <p:spPr>
          <a:xfrm>
            <a:off x="548640" y="388620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9AA7BD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822960" y="4160520"/>
            <a:ext cx="384048" cy="384048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822960" y="4160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/>
          </a:p>
        </p:txBody>
      </p:sp>
      <p:sp>
        <p:nvSpPr>
          <p:cNvPr id="20" name="Text 18"/>
          <p:cNvSpPr/>
          <p:nvPr/>
        </p:nvSpPr>
        <p:spPr>
          <a:xfrm>
            <a:off x="1371600" y="39776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Ganglia / CloudWatch</a:t>
            </a:r>
            <a:endParaRPr lang="en-US" sz="1350"/>
          </a:p>
        </p:txBody>
      </p:sp>
      <p:sp>
        <p:nvSpPr>
          <p:cNvPr id="21" name="Text 19"/>
          <p:cNvSpPr/>
          <p:nvPr/>
        </p:nvSpPr>
        <p:spPr>
          <a:xfrm>
            <a:off x="1371600" y="42976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>
                <a:solidFill>
                  <a:srgbClr val="0A5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 EMR</a:t>
            </a:r>
            <a:endParaRPr lang="en-US" sz="1050"/>
          </a:p>
        </p:txBody>
      </p:sp>
      <p:sp>
        <p:nvSpPr>
          <p:cNvPr id="22" name="Text 20"/>
          <p:cNvSpPr/>
          <p:nvPr/>
        </p:nvSpPr>
        <p:spPr>
          <a:xfrm>
            <a:off x="3840480" y="3995928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 CPU, memoria, red y disco de cada nodo del clúster en tiempo real — útil para detectar cuellos de botella.</a:t>
            </a:r>
            <a:endParaRPr lang="en-US" sz="1150"/>
          </a:p>
        </p:txBody>
      </p:sp>
      <p:sp>
        <p:nvSpPr>
          <p:cNvPr id="23" name="Shape 21"/>
          <p:cNvSpPr/>
          <p:nvPr/>
        </p:nvSpPr>
        <p:spPr>
          <a:xfrm>
            <a:off x="548640" y="493776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9AA7BD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4" name="Shape 22"/>
          <p:cNvSpPr/>
          <p:nvPr/>
        </p:nvSpPr>
        <p:spPr>
          <a:xfrm>
            <a:off x="822960" y="521208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822960" y="5212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/>
          </a:p>
        </p:txBody>
      </p:sp>
      <p:sp>
        <p:nvSpPr>
          <p:cNvPr id="26" name="Text 24"/>
          <p:cNvSpPr/>
          <p:nvPr/>
        </p:nvSpPr>
        <p:spPr>
          <a:xfrm>
            <a:off x="1371600" y="50292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 NameNode UI</a:t>
            </a:r>
            <a:endParaRPr lang="en-US" sz="1350"/>
          </a:p>
        </p:txBody>
      </p:sp>
      <p:sp>
        <p:nvSpPr>
          <p:cNvPr id="27" name="Text 25"/>
          <p:cNvSpPr/>
          <p:nvPr/>
        </p:nvSpPr>
        <p:spPr>
          <a:xfrm>
            <a:off x="1371600" y="53492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>
                <a:solidFill>
                  <a:srgbClr val="0A5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 9870</a:t>
            </a:r>
            <a:endParaRPr lang="en-US" sz="1050"/>
          </a:p>
        </p:txBody>
      </p:sp>
      <p:sp>
        <p:nvSpPr>
          <p:cNvPr id="28" name="Text 26"/>
          <p:cNvSpPr/>
          <p:nvPr/>
        </p:nvSpPr>
        <p:spPr>
          <a:xfrm>
            <a:off x="3840480" y="5047488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 los bloques replicados, espacio usado y salud de cada DataNode.</a:t>
            </a:r>
            <a:endParaRPr lang="en-US" sz="1150"/>
          </a:p>
        </p:txBody>
      </p:sp>
      <p:sp>
        <p:nvSpPr>
          <p:cNvPr id="29" name="Text 27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en AWS · EMR + PySpark ML</a:t>
            </a:r>
            <a:endParaRPr lang="en-US" sz="900"/>
          </a:p>
        </p:txBody>
      </p:sp>
      <p:sp>
        <p:nvSpPr>
          <p:cNvPr id="30" name="Text 28"/>
          <p:cNvSpPr/>
          <p:nvPr/>
        </p:nvSpPr>
        <p:spPr>
          <a:xfrm>
            <a:off x="7955280" y="652881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UNAB · Ingeniería de Sistemas</a:t>
            </a:r>
            <a:endParaRPr lang="en-US" sz="900"/>
          </a:p>
        </p:txBody>
      </p:sp>
      <p:sp>
        <p:nvSpPr>
          <p:cNvPr id="31" name="Text 29"/>
          <p:cNvSpPr/>
          <p:nvPr/>
        </p:nvSpPr>
        <p:spPr>
          <a:xfrm>
            <a:off x="1161288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/>
          </a:p>
        </p:txBody>
      </p:sp>
      <p:sp>
        <p:nvSpPr>
          <p:cNvPr id="32" name="Marcador de texto 31">
            <a:extLst>
              <a:ext uri="{FF2B5EF4-FFF2-40B4-BE49-F238E27FC236}">
                <a16:creationId xmlns:a16="http://schemas.microsoft.com/office/drawing/2014/main" id="{4E6899E0-ABB1-CDB2-946A-42644AD46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D9EEE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0A5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</a:t>
            </a:r>
            <a:endParaRPr lang="en-US" sz="110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indent="-228600">
              <a:buClr>
                <a:srgbClr val="000000"/>
              </a:buClr>
              <a:buSzPts val="4400"/>
            </a:pPr>
            <a:r>
              <a:rPr lang="en-US" sz="3200" b="1" dirty="0">
                <a:solidFill>
                  <a:srgbClr val="9200EE"/>
                </a:solidFill>
                <a:latin typeface="Montserrat Black"/>
                <a:sym typeface="Montserrat Black"/>
              </a:rPr>
              <a:t>Costos, </a:t>
            </a:r>
            <a:r>
              <a:rPr lang="en-US" sz="3200" b="1" dirty="0" err="1">
                <a:solidFill>
                  <a:srgbClr val="9200EE"/>
                </a:solidFill>
                <a:latin typeface="Montserrat Black"/>
                <a:sym typeface="Montserrat Black"/>
              </a:rPr>
              <a:t>seguridad</a:t>
            </a:r>
            <a:r>
              <a:rPr lang="en-US" sz="3200" b="1" dirty="0">
                <a:solidFill>
                  <a:srgbClr val="9200EE"/>
                </a:solidFill>
                <a:latin typeface="Montserrat Black"/>
                <a:sym typeface="Montserrat Black"/>
              </a:rPr>
              <a:t> y </a:t>
            </a:r>
            <a:r>
              <a:rPr lang="en-US" sz="3200" b="1" dirty="0" err="1">
                <a:solidFill>
                  <a:srgbClr val="9200EE"/>
                </a:solidFill>
                <a:latin typeface="Montserrat Black"/>
                <a:sym typeface="Montserrat Black"/>
              </a:rPr>
              <a:t>buenas</a:t>
            </a:r>
            <a:r>
              <a:rPr lang="en-US" sz="3200" b="1" dirty="0">
                <a:solidFill>
                  <a:srgbClr val="9200EE"/>
                </a:solidFill>
                <a:latin typeface="Montserrat Black"/>
                <a:sym typeface="Montserrat Black"/>
              </a:rPr>
              <a:t> </a:t>
            </a:r>
          </a:p>
          <a:p>
            <a:pPr marL="457200" indent="-228600">
              <a:buClr>
                <a:srgbClr val="000000"/>
              </a:buClr>
              <a:buSzPts val="4400"/>
            </a:pPr>
            <a:r>
              <a:rPr lang="en-US" sz="3200" b="1" dirty="0" err="1">
                <a:solidFill>
                  <a:srgbClr val="9200EE"/>
                </a:solidFill>
                <a:latin typeface="Montserrat Black"/>
                <a:sym typeface="Montserrat Black"/>
              </a:rPr>
              <a:t>prácticas</a:t>
            </a:r>
            <a:r>
              <a:rPr lang="en-US" sz="3200" b="1" dirty="0">
                <a:solidFill>
                  <a:srgbClr val="9200EE"/>
                </a:solidFill>
                <a:latin typeface="Montserrat Black"/>
                <a:sym typeface="Montserrat Black"/>
              </a:rPr>
              <a:t> con EMR</a:t>
            </a:r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9AA7BD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777240" y="20116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77724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 los costos</a:t>
            </a:r>
            <a:endParaRPr lang="en-US" sz="1450"/>
          </a:p>
        </p:txBody>
      </p:sp>
      <p:sp>
        <p:nvSpPr>
          <p:cNvPr id="9" name="Text 7"/>
          <p:cNvSpPr/>
          <p:nvPr/>
        </p:nvSpPr>
        <p:spPr>
          <a:xfrm>
            <a:off x="822960" y="3154680"/>
            <a:ext cx="30175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10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 auto-termination cuando el clúster queda inactivo</a:t>
            </a:r>
            <a:endParaRPr lang="en-US" sz="110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10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instancias Spot para nodos task (hasta 70-90% más baratas)</a:t>
            </a:r>
            <a:endParaRPr lang="en-US" sz="110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10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Apaga (termina) el clúster apenas termine la sesión de entrenamiento</a:t>
            </a:r>
            <a:endParaRPr lang="en-US" sz="110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10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S3 para persistir datos y resultados, no HDFS efímero</a:t>
            </a:r>
            <a:endParaRPr lang="en-US" sz="1100"/>
          </a:p>
        </p:txBody>
      </p:sp>
      <p:sp>
        <p:nvSpPr>
          <p:cNvPr id="10" name="Shape 8"/>
          <p:cNvSpPr/>
          <p:nvPr/>
        </p:nvSpPr>
        <p:spPr>
          <a:xfrm>
            <a:off x="4343400" y="178308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1B2A4A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9AA7BD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4572000" y="20116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457200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/>
          </a:p>
        </p:txBody>
      </p:sp>
      <p:sp>
        <p:nvSpPr>
          <p:cNvPr id="13" name="Text 11"/>
          <p:cNvSpPr/>
          <p:nvPr/>
        </p:nvSpPr>
        <p:spPr>
          <a:xfrm>
            <a:off x="4572000" y="26060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Refuerza la seguridad</a:t>
            </a:r>
            <a:endParaRPr lang="en-US" sz="1450"/>
          </a:p>
        </p:txBody>
      </p:sp>
      <p:sp>
        <p:nvSpPr>
          <p:cNvPr id="14" name="Text 12"/>
          <p:cNvSpPr/>
          <p:nvPr/>
        </p:nvSpPr>
        <p:spPr>
          <a:xfrm>
            <a:off x="4617720" y="3154680"/>
            <a:ext cx="30175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Restringe el Security Group del master a tu IP, no a 0.0.0.0/0</a:t>
            </a:r>
            <a:endParaRPr lang="en-US" sz="110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roles IAM con permisos mínimos necesarios</a:t>
            </a:r>
            <a:endParaRPr lang="en-US" sz="110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o protege bien tu llave .pem</a:t>
            </a:r>
            <a:endParaRPr lang="en-US" sz="110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 datos en tránsito y en reposo (S3 + EMR security config)</a:t>
            </a:r>
            <a:endParaRPr lang="en-US" sz="1100"/>
          </a:p>
        </p:txBody>
      </p:sp>
      <p:sp>
        <p:nvSpPr>
          <p:cNvPr id="15" name="Shape 13"/>
          <p:cNvSpPr/>
          <p:nvPr/>
        </p:nvSpPr>
        <p:spPr>
          <a:xfrm>
            <a:off x="8138160" y="178308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9AA7BD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8366760" y="20116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836676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/>
          </a:p>
        </p:txBody>
      </p:sp>
      <p:sp>
        <p:nvSpPr>
          <p:cNvPr id="18" name="Text 16"/>
          <p:cNvSpPr/>
          <p:nvPr/>
        </p:nvSpPr>
        <p:spPr>
          <a:xfrm>
            <a:off x="8366760" y="26060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 de forma reproducible</a:t>
            </a:r>
            <a:endParaRPr lang="en-US" sz="1450"/>
          </a:p>
        </p:txBody>
      </p:sp>
      <p:sp>
        <p:nvSpPr>
          <p:cNvPr id="19" name="Text 17"/>
          <p:cNvSpPr/>
          <p:nvPr/>
        </p:nvSpPr>
        <p:spPr>
          <a:xfrm>
            <a:off x="8412480" y="3154680"/>
            <a:ext cx="30175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10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tus notebooks y scripts en un repositorio (Git)</a:t>
            </a:r>
            <a:endParaRPr lang="en-US" sz="110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10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Versiona el bootstrap action que instala tus librerías</a:t>
            </a:r>
            <a:endParaRPr lang="en-US" sz="110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10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 el tipo de instancia y la versión de EMR usada</a:t>
            </a:r>
            <a:endParaRPr lang="en-US" sz="110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10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 la creación del clúster con Terraform o CLI de AWS</a:t>
            </a:r>
            <a:endParaRPr lang="en-US" sz="1100"/>
          </a:p>
        </p:txBody>
      </p:sp>
      <p:sp>
        <p:nvSpPr>
          <p:cNvPr id="20" name="Text 18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en AWS · EMR + PySpark ML</a:t>
            </a:r>
            <a:endParaRPr lang="en-US" sz="900"/>
          </a:p>
        </p:txBody>
      </p:sp>
      <p:sp>
        <p:nvSpPr>
          <p:cNvPr id="21" name="Text 19"/>
          <p:cNvSpPr/>
          <p:nvPr/>
        </p:nvSpPr>
        <p:spPr>
          <a:xfrm>
            <a:off x="7955280" y="652881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UNAB · Ingeniería de Sistemas</a:t>
            </a:r>
            <a:endParaRPr lang="en-US" sz="900"/>
          </a:p>
        </p:txBody>
      </p:sp>
      <p:sp>
        <p:nvSpPr>
          <p:cNvPr id="22" name="Text 20"/>
          <p:cNvSpPr/>
          <p:nvPr/>
        </p:nvSpPr>
        <p:spPr>
          <a:xfrm>
            <a:off x="1161288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3840480" cy="384048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10241280" y="4480560"/>
            <a:ext cx="4023360" cy="402336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534868" y="74980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9200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</a:t>
            </a:r>
            <a:r>
              <a:rPr lang="en-US" sz="3600" b="1" dirty="0" err="1">
                <a:solidFill>
                  <a:srgbClr val="9200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</a:t>
            </a:r>
            <a:r>
              <a:rPr lang="en-US" sz="3600" b="1" dirty="0">
                <a:solidFill>
                  <a:srgbClr val="9200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600" b="1" dirty="0" err="1">
                <a:solidFill>
                  <a:srgbClr val="9200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</a:t>
            </a:r>
            <a:r>
              <a:rPr lang="en-US" sz="3600" b="1" dirty="0">
                <a:solidFill>
                  <a:srgbClr val="9200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600" b="1" dirty="0" err="1">
                <a:solidFill>
                  <a:srgbClr val="9200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llevas</a:t>
            </a:r>
            <a:r>
              <a:rPr lang="en-US" sz="3600" b="1" dirty="0">
                <a:solidFill>
                  <a:srgbClr val="9200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 </a:t>
            </a:r>
            <a:r>
              <a:rPr lang="en-US" sz="3600" b="1" dirty="0" err="1">
                <a:solidFill>
                  <a:srgbClr val="9200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</a:t>
            </a:r>
            <a:r>
              <a:rPr lang="en-US" sz="3600" b="1" dirty="0">
                <a:solidFill>
                  <a:srgbClr val="9200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600" b="1" dirty="0" err="1">
                <a:solidFill>
                  <a:srgbClr val="9200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sesión</a:t>
            </a:r>
            <a:r>
              <a:rPr lang="en-US" sz="3600" b="1" dirty="0">
                <a:solidFill>
                  <a:srgbClr val="9200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3600" dirty="0">
              <a:solidFill>
                <a:srgbClr val="9200EE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1153212" y="1833372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1153212" y="18333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1676400" y="1797032"/>
            <a:ext cx="9875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Por </a:t>
            </a:r>
            <a:r>
              <a:rPr lang="en-US" sz="15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qué</a:t>
            </a:r>
            <a:r>
              <a:rPr lang="en-US" sz="15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el Big Data </a:t>
            </a:r>
            <a:r>
              <a:rPr lang="en-US" sz="15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exige</a:t>
            </a:r>
            <a:r>
              <a:rPr lang="en-US" sz="15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procesamiento</a:t>
            </a:r>
            <a:r>
              <a:rPr lang="en-US" sz="15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distribuido</a:t>
            </a:r>
            <a:r>
              <a:rPr lang="en-US" sz="15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(Hadoop + Spark)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1153212" y="2491740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1153212" y="24917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/>
          </a:p>
        </p:txBody>
      </p:sp>
      <p:sp>
        <p:nvSpPr>
          <p:cNvPr id="10" name="Text 8"/>
          <p:cNvSpPr/>
          <p:nvPr/>
        </p:nvSpPr>
        <p:spPr>
          <a:xfrm>
            <a:off x="1676400" y="2439280"/>
            <a:ext cx="9875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Cómo</a:t>
            </a:r>
            <a:r>
              <a:rPr lang="en-US" sz="15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se </a:t>
            </a:r>
            <a:r>
              <a:rPr lang="en-US" sz="15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organiza</a:t>
            </a:r>
            <a:r>
              <a:rPr lang="en-US" sz="15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un </a:t>
            </a:r>
            <a:r>
              <a:rPr lang="en-US" sz="15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clúster</a:t>
            </a:r>
            <a:r>
              <a:rPr lang="en-US" sz="15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EMR: master, core y task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1153212" y="3150108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1153212" y="31501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/>
          </a:p>
        </p:txBody>
      </p:sp>
      <p:sp>
        <p:nvSpPr>
          <p:cNvPr id="13" name="Text 11"/>
          <p:cNvSpPr/>
          <p:nvPr/>
        </p:nvSpPr>
        <p:spPr>
          <a:xfrm>
            <a:off x="1810889" y="3081528"/>
            <a:ext cx="9875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Cómo</a:t>
            </a:r>
            <a:r>
              <a:rPr lang="en-US" sz="15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crear</a:t>
            </a:r>
            <a:r>
              <a:rPr lang="en-US" sz="15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5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asegurar</a:t>
            </a:r>
            <a:r>
              <a:rPr lang="en-US" sz="15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5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conectarte</a:t>
            </a:r>
            <a:r>
              <a:rPr lang="en-US" sz="15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a un </a:t>
            </a:r>
            <a:r>
              <a:rPr lang="en-US" sz="15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clúster</a:t>
            </a:r>
            <a:r>
              <a:rPr lang="en-US" sz="15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desde</a:t>
            </a:r>
            <a:r>
              <a:rPr lang="en-US" sz="15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tu</a:t>
            </a:r>
            <a:r>
              <a:rPr lang="en-US" sz="15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propio</a:t>
            </a:r>
            <a:r>
              <a:rPr lang="en-US" sz="15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PC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1153212" y="3808476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1153212" y="38084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1676400" y="3739896"/>
            <a:ext cx="9875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Cómo</a:t>
            </a:r>
            <a:r>
              <a:rPr lang="en-US" sz="15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entrenar</a:t>
            </a:r>
            <a:r>
              <a:rPr lang="en-US" sz="15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5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evaluar</a:t>
            </a:r>
            <a:r>
              <a:rPr lang="en-US" sz="15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un </a:t>
            </a:r>
            <a:r>
              <a:rPr lang="en-US" sz="15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r>
              <a:rPr lang="en-US" sz="15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de ML con </a:t>
            </a:r>
            <a:r>
              <a:rPr lang="en-US" sz="15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PySpark</a:t>
            </a:r>
            <a:r>
              <a:rPr lang="en-US" sz="15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sobre</a:t>
            </a:r>
            <a:r>
              <a:rPr lang="en-US" sz="15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r>
              <a:rPr lang="en-US" sz="15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reales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40080" y="489204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Próximo</a:t>
            </a:r>
            <a:r>
              <a:rPr lang="en-US" sz="1400" i="1">
                <a:latin typeface="Calibri" pitchFamily="34" charset="0"/>
                <a:ea typeface="Calibri" pitchFamily="34" charset="-122"/>
                <a:cs typeface="Calibri" pitchFamily="34" charset="-120"/>
              </a:rPr>
              <a:t> paso: </a:t>
            </a:r>
            <a:r>
              <a:rPr lang="en-US" sz="14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cada</a:t>
            </a:r>
            <a:r>
              <a:rPr lang="en-US" sz="14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estudiante</a:t>
            </a:r>
            <a:r>
              <a:rPr lang="en-US" sz="14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crea</a:t>
            </a:r>
            <a:r>
              <a:rPr lang="en-US" sz="14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su</a:t>
            </a:r>
            <a:r>
              <a:rPr lang="en-US" sz="14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propio</a:t>
            </a:r>
            <a:r>
              <a:rPr lang="en-US" sz="14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clúster</a:t>
            </a:r>
            <a:r>
              <a:rPr lang="en-US" sz="14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EMR, </a:t>
            </a:r>
            <a:r>
              <a:rPr lang="en-US" sz="14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ejecuta</a:t>
            </a:r>
            <a:r>
              <a:rPr lang="en-US" sz="14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el pipeline </a:t>
            </a:r>
            <a:r>
              <a:rPr lang="en-US" sz="14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completo</a:t>
            </a:r>
            <a:r>
              <a:rPr lang="en-US" sz="14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con Peritazgo.csv y </a:t>
            </a:r>
            <a:r>
              <a:rPr lang="en-US" sz="14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comparte</a:t>
            </a:r>
            <a:r>
              <a:rPr lang="en-US" sz="14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su</a:t>
            </a:r>
            <a:r>
              <a:rPr lang="en-US" sz="14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RMSE </a:t>
            </a:r>
            <a:r>
              <a:rPr lang="en-US" sz="14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4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el </a:t>
            </a:r>
            <a:r>
              <a:rPr lang="en-US" sz="14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foro</a:t>
            </a:r>
            <a:r>
              <a:rPr lang="en-US" sz="14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del </a:t>
            </a:r>
            <a:r>
              <a:rPr lang="en-US" sz="14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curso</a:t>
            </a:r>
            <a:r>
              <a:rPr lang="en-US" sz="14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62636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latin typeface="Calibri" pitchFamily="34" charset="0"/>
                <a:ea typeface="Calibri" pitchFamily="34" charset="-122"/>
                <a:cs typeface="Calibri" pitchFamily="34" charset="-120"/>
              </a:rPr>
              <a:t>Prof. Alfredo  ·  Centro de Competencias Digitales (CCD)  ·  UNAB</a:t>
            </a:r>
            <a:endParaRPr lang="en-US" sz="11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6674F7C3BD7DB45992812A7B122157E" ma:contentTypeVersion="3" ma:contentTypeDescription="Crear nuevo documento." ma:contentTypeScope="" ma:versionID="4d936c347f6fa34a956285fbaf4ffa35">
  <xsd:schema xmlns:xsd="http://www.w3.org/2001/XMLSchema" xmlns:xs="http://www.w3.org/2001/XMLSchema" xmlns:p="http://schemas.microsoft.com/office/2006/metadata/properties" xmlns:ns2="528e6c0f-52a4-4306-8d3c-f14fb234bb95" targetNamespace="http://schemas.microsoft.com/office/2006/metadata/properties" ma:root="true" ma:fieldsID="51c0ac53106310358c30f2d0a0dcddff" ns2:_="">
    <xsd:import namespace="528e6c0f-52a4-4306-8d3c-f14fb234bb9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8e6c0f-52a4-4306-8d3c-f14fb234bb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34B70B6-8916-4B1F-9FD0-1C2A0B020FB4}">
  <ds:schemaRefs>
    <ds:schemaRef ds:uri="528e6c0f-52a4-4306-8d3c-f14fb234bb9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E3C4597F-8947-410E-978F-E3FC79A6C976}">
  <ds:schemaRefs>
    <ds:schemaRef ds:uri="http://schemas.microsoft.com/office/2006/documentManagement/types"/>
    <ds:schemaRef ds:uri="http://purl.org/dc/dcmitype/"/>
    <ds:schemaRef ds:uri="528e6c0f-52a4-4306-8d3c-f14fb234bb95"/>
    <ds:schemaRef ds:uri="http://schemas.openxmlformats.org/package/2006/metadata/core-properties"/>
    <ds:schemaRef ds:uri="http://purl.org/dc/elements/1.1/"/>
    <ds:schemaRef ds:uri="http://www.w3.org/XML/1998/namespace"/>
    <ds:schemaRef ds:uri="http://schemas.microsoft.com/office/infopath/2007/PartnerControls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51AA6BED-90DD-4CFB-8165-69454F9C6DF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1163</TotalTime>
  <Words>4588</Words>
  <Application>Microsoft Office PowerPoint</Application>
  <PresentationFormat>Panorámica</PresentationFormat>
  <Paragraphs>582</Paragraphs>
  <Slides>36</Slides>
  <Notes>27</Notes>
  <HiddenSlides>0</HiddenSlides>
  <MMClips>0</MMClips>
  <ScaleCrop>false</ScaleCrop>
  <HeadingPairs>
    <vt:vector size="6" baseType="variant">
      <vt:variant>
        <vt:lpstr>Fuentes usadas</vt:lpstr>
      </vt:variant>
      <vt:variant>
        <vt:i4>11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36</vt:i4>
      </vt:variant>
    </vt:vector>
  </HeadingPairs>
  <TitlesOfParts>
    <vt:vector size="48" baseType="lpstr">
      <vt:lpstr>Arial</vt:lpstr>
      <vt:lpstr>Calibri</vt:lpstr>
      <vt:lpstr>Cambria</vt:lpstr>
      <vt:lpstr>Cambria Math</vt:lpstr>
      <vt:lpstr>Consolas</vt:lpstr>
      <vt:lpstr>Courier New</vt:lpstr>
      <vt:lpstr>Fira Code</vt:lpstr>
      <vt:lpstr>Google Sans Text</vt:lpstr>
      <vt:lpstr>Montserrat Black</vt:lpstr>
      <vt:lpstr>Open Sans</vt:lpstr>
      <vt:lpstr>Plus Jakarta Sans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Alfredo Antonio Diaz Claros</cp:lastModifiedBy>
  <cp:revision>10</cp:revision>
  <dcterms:created xsi:type="dcterms:W3CDTF">2026-08-12T18:18:54Z</dcterms:created>
  <dcterms:modified xsi:type="dcterms:W3CDTF">2026-08-20T18:09:02Z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0x01010016674F7C3BD7DB45992812A7B122157E</vt:lpwstr>
  </property>
</Properties>
</file>